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e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e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e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image" Target="../media/image-46-6.png"/><Relationship Id="rId7" Type="http://schemas.openxmlformats.org/officeDocument/2006/relationships/image" Target="../media/image-46-7.png"/><Relationship Id="rId8" Type="http://schemas.openxmlformats.org/officeDocument/2006/relationships/image" Target="../media/image-46-8.png"/><Relationship Id="rId9" Type="http://schemas.openxmlformats.org/officeDocument/2006/relationships/image" Target="../media/image-4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e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e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image" Target="../media/image-52-5.png"/><Relationship Id="rId6" Type="http://schemas.openxmlformats.org/officeDocument/2006/relationships/image" Target="../media/image-5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e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image" Target="../media/image-53-5.png"/><Relationship Id="rId6" Type="http://schemas.openxmlformats.org/officeDocument/2006/relationships/image" Target="../media/image-53-6.png"/><Relationship Id="rId7" Type="http://schemas.openxmlformats.org/officeDocument/2006/relationships/image" Target="../media/image-53-7.png"/><Relationship Id="rId8" Type="http://schemas.openxmlformats.org/officeDocument/2006/relationships/image" Target="../media/image-53-8.png"/><Relationship Id="rId9" Type="http://schemas.openxmlformats.org/officeDocument/2006/relationships/image" Target="../media/image-53-9.png"/><Relationship Id="rId10" Type="http://schemas.openxmlformats.org/officeDocument/2006/relationships/image" Target="../media/image-53-10.png"/><Relationship Id="rId11" Type="http://schemas.openxmlformats.org/officeDocument/2006/relationships/image" Target="../media/image-53-11.png"/><Relationship Id="rId12" Type="http://schemas.openxmlformats.org/officeDocument/2006/relationships/image" Target="../media/image-53-12.png"/><Relationship Id="rId13" Type="http://schemas.openxmlformats.org/officeDocument/2006/relationships/image" Target="../media/image-53-13.png"/><Relationship Id="rId14" Type="http://schemas.openxmlformats.org/officeDocument/2006/relationships/image" Target="../media/image-53-14.png"/><Relationship Id="rId15" Type="http://schemas.openxmlformats.org/officeDocument/2006/relationships/image" Target="../media/image-53-15.png"/><Relationship Id="rId16" Type="http://schemas.openxmlformats.org/officeDocument/2006/relationships/image" Target="../media/image-53-16.png"/><Relationship Id="rId17" Type="http://schemas.openxmlformats.org/officeDocument/2006/relationships/image" Target="../media/image-53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003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1234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4974" b="1" spc="-2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DYNAMIC</a:t>
            </a:r>
            <a:pPr algn="l" indent="0" marL="0">
              <a:lnSpc>
                <a:spcPts val="4900"/>
              </a:lnSpc>
              <a:buNone/>
            </a:pPr>
            <a:r>
              <a:rPr lang="en-US" sz="4974" b="1" spc="-2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4900"/>
              </a:lnSpc>
              <a:buNone/>
            </a:pPr>
            <a:r>
              <a:rPr lang="en-US" sz="4974" b="1" spc="-2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PROGRAMMING</a:t>
            </a:r>
            <a:endParaRPr lang="en-US" sz="4974" dirty="0"/>
          </a:p>
        </p:txBody>
      </p:sp>
      <p:sp>
        <p:nvSpPr>
          <p:cNvPr id="4" name="Text 1"/>
          <p:cNvSpPr/>
          <p:nvPr/>
        </p:nvSpPr>
        <p:spPr>
          <a:xfrm>
            <a:off x="571500" y="2020230"/>
            <a:ext cx="8001000" cy="764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6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Recursion to Optimization</a:t>
            </a:r>
            <a:pPr algn="l" indent="0" marL="0">
              <a:lnSpc>
                <a:spcPts val="2800"/>
              </a:lnSpc>
              <a:buNone/>
            </a:pPr>
            <a:r>
              <a:rPr lang="en-US" sz="2256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2800"/>
              </a:lnSpc>
              <a:buNone/>
            </a:pPr>
            <a:r>
              <a:rPr lang="en-US" sz="2256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Murat Balci, Ph.D. + Manus</a:t>
            </a:r>
            <a:endParaRPr lang="en-US" sz="2256" dirty="0"/>
          </a:p>
        </p:txBody>
      </p:sp>
      <p:sp>
        <p:nvSpPr>
          <p:cNvPr id="5" name="Text 2"/>
          <p:cNvSpPr/>
          <p:nvPr/>
        </p:nvSpPr>
        <p:spPr>
          <a:xfrm>
            <a:off x="571500" y="3627574"/>
            <a:ext cx="5715000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step-by-step journey from naive recursion to efficient problem solving.</a:t>
            </a:r>
            <a:endParaRPr lang="en-US" sz="1486" dirty="0"/>
          </a:p>
        </p:txBody>
      </p:sp>
      <p:sp>
        <p:nvSpPr>
          <p:cNvPr id="6" name="Text 3"/>
          <p:cNvSpPr/>
          <p:nvPr/>
        </p:nvSpPr>
        <p:spPr>
          <a:xfrm>
            <a:off x="571500" y="4701983"/>
            <a:ext cx="6572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DURATION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571500" y="4864503"/>
            <a:ext cx="6572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~2.5 Hours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1514475" y="4701983"/>
            <a:ext cx="70580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TOPICS COVERED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1514475" y="4864503"/>
            <a:ext cx="70580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Recursion Pitfalls • Memoization • Tabulation • Classic DP Problems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8757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816173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87573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 Will Cover Today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35781" y="1136024"/>
            <a:ext cx="4286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964406" y="1066205"/>
            <a:ext cx="700623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 with Recursion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964406" y="1312664"/>
            <a:ext cx="700623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naive recursion fails and the cost of redundant computation.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7970639" y="1157455"/>
            <a:ext cx="637580" cy="21252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7"/>
          <p:cNvSpPr/>
          <p:nvPr/>
        </p:nvSpPr>
        <p:spPr>
          <a:xfrm>
            <a:off x="7970639" y="1157455"/>
            <a:ext cx="637580" cy="212527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~20 min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35781" y="1766794"/>
            <a:ext cx="4286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964406" y="1696975"/>
            <a:ext cx="700623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DP Concepts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964406" y="1943435"/>
            <a:ext cx="700623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Overlapping subproblems, optimal substructure, memoization, and tabulation.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7970639" y="1788226"/>
            <a:ext cx="637580" cy="21252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7970639" y="1788226"/>
            <a:ext cx="637580" cy="212527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~20 min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535781" y="2397565"/>
            <a:ext cx="4286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397" dirty="0"/>
          </a:p>
        </p:txBody>
      </p:sp>
      <p:sp>
        <p:nvSpPr>
          <p:cNvPr id="17" name="Text 14"/>
          <p:cNvSpPr/>
          <p:nvPr/>
        </p:nvSpPr>
        <p:spPr>
          <a:xfrm>
            <a:off x="964406" y="2327746"/>
            <a:ext cx="700444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Classic DP Problems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964406" y="2574206"/>
            <a:ext cx="7004447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Fibonacci, Climbing Stairs, Coin Change, 0/1 Knapsack, LCS, LIS, Edit Distance.</a:t>
            </a:r>
            <a:endParaRPr lang="en-US" sz="834" dirty="0"/>
          </a:p>
        </p:txBody>
      </p:sp>
      <p:sp>
        <p:nvSpPr>
          <p:cNvPr id="19" name="Shape 16"/>
          <p:cNvSpPr/>
          <p:nvPr/>
        </p:nvSpPr>
        <p:spPr>
          <a:xfrm>
            <a:off x="7968853" y="2418997"/>
            <a:ext cx="639366" cy="21252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7"/>
          <p:cNvSpPr/>
          <p:nvPr/>
        </p:nvSpPr>
        <p:spPr>
          <a:xfrm>
            <a:off x="7968853" y="2418997"/>
            <a:ext cx="639366" cy="212527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~60 min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535781" y="3028336"/>
            <a:ext cx="4286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397" dirty="0"/>
          </a:p>
        </p:txBody>
      </p:sp>
      <p:sp>
        <p:nvSpPr>
          <p:cNvPr id="22" name="Text 19"/>
          <p:cNvSpPr/>
          <p:nvPr/>
        </p:nvSpPr>
        <p:spPr>
          <a:xfrm>
            <a:off x="964406" y="2958517"/>
            <a:ext cx="700623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Advanced Techniques &amp; Patterns</a:t>
            </a:r>
            <a:endParaRPr lang="en-US" sz="1193" dirty="0"/>
          </a:p>
        </p:txBody>
      </p:sp>
      <p:sp>
        <p:nvSpPr>
          <p:cNvPr id="23" name="Text 20"/>
          <p:cNvSpPr/>
          <p:nvPr/>
        </p:nvSpPr>
        <p:spPr>
          <a:xfrm>
            <a:off x="964406" y="3204976"/>
            <a:ext cx="700623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Space optimization, DP on grids, Matrix Chain Multiplication.</a:t>
            </a:r>
            <a:endParaRPr lang="en-US" sz="834" dirty="0"/>
          </a:p>
        </p:txBody>
      </p:sp>
      <p:sp>
        <p:nvSpPr>
          <p:cNvPr id="24" name="Shape 21"/>
          <p:cNvSpPr/>
          <p:nvPr/>
        </p:nvSpPr>
        <p:spPr>
          <a:xfrm>
            <a:off x="7970639" y="3049767"/>
            <a:ext cx="637580" cy="21252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2"/>
          <p:cNvSpPr/>
          <p:nvPr/>
        </p:nvSpPr>
        <p:spPr>
          <a:xfrm>
            <a:off x="7970639" y="3049767"/>
            <a:ext cx="637580" cy="212527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~20 min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535781" y="3659107"/>
            <a:ext cx="4286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397" dirty="0"/>
          </a:p>
        </p:txBody>
      </p:sp>
      <p:sp>
        <p:nvSpPr>
          <p:cNvPr id="27" name="Text 24"/>
          <p:cNvSpPr/>
          <p:nvPr/>
        </p:nvSpPr>
        <p:spPr>
          <a:xfrm>
            <a:off x="964406" y="3589288"/>
            <a:ext cx="702587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Problem-Solving Framework &amp; Practice</a:t>
            </a:r>
            <a:endParaRPr lang="en-US" sz="1193" dirty="0"/>
          </a:p>
        </p:txBody>
      </p:sp>
      <p:sp>
        <p:nvSpPr>
          <p:cNvPr id="28" name="Text 25"/>
          <p:cNvSpPr/>
          <p:nvPr/>
        </p:nvSpPr>
        <p:spPr>
          <a:xfrm>
            <a:off x="964406" y="3835747"/>
            <a:ext cx="702587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systematic approach to recognizing and solving DP problems.</a:t>
            </a:r>
            <a:endParaRPr lang="en-US" sz="834" dirty="0"/>
          </a:p>
        </p:txBody>
      </p:sp>
      <p:sp>
        <p:nvSpPr>
          <p:cNvPr id="29" name="Shape 26"/>
          <p:cNvSpPr/>
          <p:nvPr/>
        </p:nvSpPr>
        <p:spPr>
          <a:xfrm>
            <a:off x="7990284" y="3680538"/>
            <a:ext cx="617934" cy="21252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Text 27"/>
          <p:cNvSpPr/>
          <p:nvPr/>
        </p:nvSpPr>
        <p:spPr>
          <a:xfrm>
            <a:off x="7990284" y="3680538"/>
            <a:ext cx="617934" cy="212527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~10 min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8757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816173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87573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Let's Start with a Simple Question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35781" y="1030486"/>
            <a:ext cx="382190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Consider computing the </a:t>
            </a:r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n-th Fibonacci number</a:t>
            </a:r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</a:t>
            </a:r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defined as:</a:t>
            </a:r>
            <a:endParaRPr lang="en-US" sz="1159" dirty="0"/>
          </a:p>
        </p:txBody>
      </p:sp>
      <p:sp>
        <p:nvSpPr>
          <p:cNvPr id="7" name="Shape 4"/>
          <p:cNvSpPr/>
          <p:nvPr/>
        </p:nvSpPr>
        <p:spPr>
          <a:xfrm>
            <a:off x="535781" y="1609130"/>
            <a:ext cx="3821906" cy="685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535781" y="1609130"/>
            <a:ext cx="28575" cy="68580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9" name="Text 6"/>
          <p:cNvSpPr/>
          <p:nvPr/>
        </p:nvSpPr>
        <p:spPr>
          <a:xfrm>
            <a:off x="535781" y="1609130"/>
            <a:ext cx="3821906" cy="685800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F(0) = 0, F(1) = 1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F(n) = F(n-1) + F(n-2) for n ≥ 2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35781" y="2437805"/>
            <a:ext cx="38219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sequence:</a:t>
            </a:r>
            <a:endParaRPr lang="en-US" sz="1159" dirty="0"/>
          </a:p>
        </p:txBody>
      </p:sp>
      <p:sp>
        <p:nvSpPr>
          <p:cNvPr id="11" name="Text 8"/>
          <p:cNvSpPr/>
          <p:nvPr/>
        </p:nvSpPr>
        <p:spPr>
          <a:xfrm>
            <a:off x="535781" y="2730698"/>
            <a:ext cx="382190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i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0, 1, 1, 2, 3, 5, 8, 13, 21, 34, 55, 89, ...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35781" y="3102173"/>
            <a:ext cx="3821906" cy="67865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Simple, clean, and mathematically correct.</a:t>
            </a:r>
            <a:pPr algn="l" indent="0" marL="0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But is it efficient?</a:t>
            </a:r>
            <a:endParaRPr lang="en-US" sz="1295" dirty="0"/>
          </a:p>
        </p:txBody>
      </p:sp>
      <p:sp>
        <p:nvSpPr>
          <p:cNvPr id="13" name="Text 10"/>
          <p:cNvSpPr/>
          <p:nvPr/>
        </p:nvSpPr>
        <p:spPr>
          <a:xfrm>
            <a:off x="4786313" y="1030486"/>
            <a:ext cx="38219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direct recursive implementation seems natural: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4786313" y="1280517"/>
            <a:ext cx="3821906" cy="6858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Text 12"/>
          <p:cNvSpPr/>
          <p:nvPr/>
        </p:nvSpPr>
        <p:spPr>
          <a:xfrm>
            <a:off x="4786313" y="1280517"/>
            <a:ext cx="3821906" cy="685800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 &lt;=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n;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(n-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(n-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57238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Hidden Cost — Visualizing the Recursion Tree</a:t>
            </a:r>
            <a:endParaRPr lang="en-US" sz="2226" dirty="0"/>
          </a:p>
        </p:txBody>
      </p:sp>
      <p:sp>
        <p:nvSpPr>
          <p:cNvPr id="6" name="Shape 3"/>
          <p:cNvSpPr/>
          <p:nvPr/>
        </p:nvSpPr>
        <p:spPr>
          <a:xfrm>
            <a:off x="3313807" y="1035844"/>
            <a:ext cx="419695" cy="232172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313807" y="1035844"/>
            <a:ext cx="419695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fib(5)</a:t>
            </a:r>
            <a:endParaRPr lang="en-US" sz="634" dirty="0"/>
          </a:p>
        </p:txBody>
      </p:sp>
      <p:sp>
        <p:nvSpPr>
          <p:cNvPr id="8" name="Shape 5"/>
          <p:cNvSpPr/>
          <p:nvPr/>
        </p:nvSpPr>
        <p:spPr>
          <a:xfrm>
            <a:off x="2522637" y="1439466"/>
            <a:ext cx="419695" cy="232172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22637" y="1439466"/>
            <a:ext cx="419695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fib(4)</a:t>
            </a:r>
            <a:endParaRPr lang="en-US" sz="634" dirty="0"/>
          </a:p>
        </p:txBody>
      </p:sp>
      <p:sp>
        <p:nvSpPr>
          <p:cNvPr id="10" name="Shape 7"/>
          <p:cNvSpPr/>
          <p:nvPr/>
        </p:nvSpPr>
        <p:spPr>
          <a:xfrm>
            <a:off x="2002929" y="1843088"/>
            <a:ext cx="421481" cy="232172"/>
          </a:xfrm>
          <a:prstGeom prst="rect">
            <a:avLst/>
          </a:prstGeom>
          <a:solidFill>
            <a:srgbClr val="FF4500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02929" y="1843088"/>
            <a:ext cx="421481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fib(3)</a:t>
            </a:r>
            <a:endParaRPr lang="en-US" sz="634" dirty="0"/>
          </a:p>
        </p:txBody>
      </p:sp>
      <p:sp>
        <p:nvSpPr>
          <p:cNvPr id="12" name="Shape 9"/>
          <p:cNvSpPr/>
          <p:nvPr/>
        </p:nvSpPr>
        <p:spPr>
          <a:xfrm>
            <a:off x="1767185" y="2246709"/>
            <a:ext cx="419695" cy="232172"/>
          </a:xfrm>
          <a:prstGeom prst="rect">
            <a:avLst/>
          </a:prstGeom>
          <a:solidFill>
            <a:srgbClr val="333333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67185" y="2246709"/>
            <a:ext cx="419695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fib(2)</a:t>
            </a:r>
            <a:endParaRPr lang="en-US" sz="634" dirty="0"/>
          </a:p>
        </p:txBody>
      </p:sp>
      <p:sp>
        <p:nvSpPr>
          <p:cNvPr id="14" name="Shape 11"/>
          <p:cNvSpPr/>
          <p:nvPr/>
        </p:nvSpPr>
        <p:spPr>
          <a:xfrm>
            <a:off x="2244030" y="2246709"/>
            <a:ext cx="401836" cy="232172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44030" y="2246709"/>
            <a:ext cx="401836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fib(1)</a:t>
            </a:r>
            <a:endParaRPr lang="en-US" sz="634" dirty="0"/>
          </a:p>
        </p:txBody>
      </p:sp>
      <p:sp>
        <p:nvSpPr>
          <p:cNvPr id="16" name="Shape 13"/>
          <p:cNvSpPr/>
          <p:nvPr/>
        </p:nvSpPr>
        <p:spPr>
          <a:xfrm>
            <a:off x="3011984" y="1843088"/>
            <a:ext cx="419695" cy="232172"/>
          </a:xfrm>
          <a:prstGeom prst="rect">
            <a:avLst/>
          </a:prstGeom>
          <a:solidFill>
            <a:srgbClr val="333333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11984" y="1843088"/>
            <a:ext cx="419695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fib(2)</a:t>
            </a:r>
            <a:endParaRPr lang="en-US" sz="634" dirty="0"/>
          </a:p>
        </p:txBody>
      </p:sp>
      <p:sp>
        <p:nvSpPr>
          <p:cNvPr id="18" name="Shape 15"/>
          <p:cNvSpPr/>
          <p:nvPr/>
        </p:nvSpPr>
        <p:spPr>
          <a:xfrm>
            <a:off x="2774454" y="2246709"/>
            <a:ext cx="401836" cy="232172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74454" y="2246709"/>
            <a:ext cx="401836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fib(1)</a:t>
            </a:r>
            <a:endParaRPr lang="en-US" sz="634" dirty="0"/>
          </a:p>
        </p:txBody>
      </p:sp>
      <p:sp>
        <p:nvSpPr>
          <p:cNvPr id="20" name="Shape 17"/>
          <p:cNvSpPr/>
          <p:nvPr/>
        </p:nvSpPr>
        <p:spPr>
          <a:xfrm>
            <a:off x="3233440" y="2246709"/>
            <a:ext cx="421481" cy="232172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33440" y="2246709"/>
            <a:ext cx="421481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fib(0)</a:t>
            </a:r>
            <a:endParaRPr lang="en-US" sz="634" dirty="0"/>
          </a:p>
        </p:txBody>
      </p:sp>
      <p:sp>
        <p:nvSpPr>
          <p:cNvPr id="22" name="Shape 19"/>
          <p:cNvSpPr/>
          <p:nvPr/>
        </p:nvSpPr>
        <p:spPr>
          <a:xfrm>
            <a:off x="4328220" y="1439466"/>
            <a:ext cx="421481" cy="232172"/>
          </a:xfrm>
          <a:prstGeom prst="rect">
            <a:avLst/>
          </a:prstGeom>
          <a:solidFill>
            <a:srgbClr val="FF4500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28220" y="1439466"/>
            <a:ext cx="421481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fib(3)</a:t>
            </a:r>
            <a:endParaRPr lang="en-US" sz="634" dirty="0"/>
          </a:p>
        </p:txBody>
      </p:sp>
      <p:sp>
        <p:nvSpPr>
          <p:cNvPr id="24" name="Shape 21"/>
          <p:cNvSpPr/>
          <p:nvPr/>
        </p:nvSpPr>
        <p:spPr>
          <a:xfrm>
            <a:off x="4092476" y="1843088"/>
            <a:ext cx="419695" cy="232172"/>
          </a:xfrm>
          <a:prstGeom prst="rect">
            <a:avLst/>
          </a:prstGeom>
          <a:solidFill>
            <a:srgbClr val="333333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92476" y="1843088"/>
            <a:ext cx="419695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fib(2)</a:t>
            </a:r>
            <a:endParaRPr lang="en-US" sz="634" dirty="0"/>
          </a:p>
        </p:txBody>
      </p:sp>
      <p:sp>
        <p:nvSpPr>
          <p:cNvPr id="26" name="Shape 23"/>
          <p:cNvSpPr/>
          <p:nvPr/>
        </p:nvSpPr>
        <p:spPr>
          <a:xfrm>
            <a:off x="3854946" y="2246709"/>
            <a:ext cx="401836" cy="232172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54946" y="2246709"/>
            <a:ext cx="401836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fib(1)</a:t>
            </a:r>
            <a:endParaRPr lang="en-US" sz="634" dirty="0"/>
          </a:p>
        </p:txBody>
      </p:sp>
      <p:sp>
        <p:nvSpPr>
          <p:cNvPr id="28" name="Shape 25"/>
          <p:cNvSpPr/>
          <p:nvPr/>
        </p:nvSpPr>
        <p:spPr>
          <a:xfrm>
            <a:off x="4313932" y="2246709"/>
            <a:ext cx="421481" cy="232172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13932" y="2246709"/>
            <a:ext cx="421481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fib(0)</a:t>
            </a:r>
            <a:endParaRPr lang="en-US" sz="634" dirty="0"/>
          </a:p>
        </p:txBody>
      </p:sp>
      <p:sp>
        <p:nvSpPr>
          <p:cNvPr id="30" name="Shape 27"/>
          <p:cNvSpPr/>
          <p:nvPr/>
        </p:nvSpPr>
        <p:spPr>
          <a:xfrm>
            <a:off x="4828282" y="1843088"/>
            <a:ext cx="401836" cy="232172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28282" y="1843088"/>
            <a:ext cx="401836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fib(1)</a:t>
            </a:r>
            <a:endParaRPr lang="en-US" sz="634" dirty="0"/>
          </a:p>
        </p:txBody>
      </p:sp>
      <p:sp>
        <p:nvSpPr>
          <p:cNvPr id="32" name="Shape 29"/>
          <p:cNvSpPr/>
          <p:nvPr/>
        </p:nvSpPr>
        <p:spPr>
          <a:xfrm>
            <a:off x="6797278" y="864394"/>
            <a:ext cx="1810941" cy="2321719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3" name="Shape 30"/>
          <p:cNvSpPr/>
          <p:nvPr/>
        </p:nvSpPr>
        <p:spPr>
          <a:xfrm>
            <a:off x="6797278" y="864394"/>
            <a:ext cx="14288" cy="232171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Text 31"/>
          <p:cNvSpPr/>
          <p:nvPr/>
        </p:nvSpPr>
        <p:spPr>
          <a:xfrm>
            <a:off x="6990159" y="1042988"/>
            <a:ext cx="143946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</a:t>
            </a:r>
            <a:endParaRPr lang="en-US" sz="1808" dirty="0"/>
          </a:p>
        </p:txBody>
      </p:sp>
      <p:sp>
        <p:nvSpPr>
          <p:cNvPr id="35" name="Text 32"/>
          <p:cNvSpPr/>
          <p:nvPr/>
        </p:nvSpPr>
        <p:spPr>
          <a:xfrm>
            <a:off x="6990159" y="1328738"/>
            <a:ext cx="143946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Function Calls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6990159" y="1582341"/>
            <a:ext cx="143946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808" dirty="0"/>
          </a:p>
        </p:txBody>
      </p:sp>
      <p:sp>
        <p:nvSpPr>
          <p:cNvPr id="37" name="Text 34"/>
          <p:cNvSpPr/>
          <p:nvPr/>
        </p:nvSpPr>
        <p:spPr>
          <a:xfrm>
            <a:off x="6990159" y="1868091"/>
            <a:ext cx="143946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Unique Values Needed</a:t>
            </a:r>
            <a:endParaRPr lang="en-US" sz="784" dirty="0"/>
          </a:p>
        </p:txBody>
      </p:sp>
      <p:sp>
        <p:nvSpPr>
          <p:cNvPr id="38" name="Text 35"/>
          <p:cNvSpPr/>
          <p:nvPr/>
        </p:nvSpPr>
        <p:spPr>
          <a:xfrm>
            <a:off x="6990159" y="2355652"/>
            <a:ext cx="136445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Redundant Computations:</a:t>
            </a:r>
            <a:endParaRPr lang="en-US" sz="734" dirty="0"/>
          </a:p>
        </p:txBody>
      </p:sp>
      <p:sp>
        <p:nvSpPr>
          <p:cNvPr id="39" name="Text 36"/>
          <p:cNvSpPr/>
          <p:nvPr/>
        </p:nvSpPr>
        <p:spPr>
          <a:xfrm>
            <a:off x="7133034" y="2562820"/>
            <a:ext cx="28753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fib(3)</a:t>
            </a:r>
            <a:endParaRPr lang="en-US" sz="734" dirty="0"/>
          </a:p>
        </p:txBody>
      </p:sp>
      <p:sp>
        <p:nvSpPr>
          <p:cNvPr id="40" name="Text 37"/>
          <p:cNvSpPr/>
          <p:nvPr/>
        </p:nvSpPr>
        <p:spPr>
          <a:xfrm>
            <a:off x="7420570" y="2562820"/>
            <a:ext cx="100905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 Computed 2 times</a:t>
            </a:r>
            <a:endParaRPr lang="en-US" sz="780" dirty="0"/>
          </a:p>
        </p:txBody>
      </p:sp>
      <p:sp>
        <p:nvSpPr>
          <p:cNvPr id="41" name="Text 38"/>
          <p:cNvSpPr/>
          <p:nvPr/>
        </p:nvSpPr>
        <p:spPr>
          <a:xfrm>
            <a:off x="7133034" y="2712839"/>
            <a:ext cx="28753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fib(2)</a:t>
            </a:r>
            <a:endParaRPr lang="en-US" sz="734" dirty="0"/>
          </a:p>
        </p:txBody>
      </p:sp>
      <p:sp>
        <p:nvSpPr>
          <p:cNvPr id="42" name="Text 39"/>
          <p:cNvSpPr/>
          <p:nvPr/>
        </p:nvSpPr>
        <p:spPr>
          <a:xfrm>
            <a:off x="7420570" y="2712839"/>
            <a:ext cx="100905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 Computed 3 times</a:t>
            </a:r>
            <a:endParaRPr lang="en-US" sz="780" dirty="0"/>
          </a:p>
        </p:txBody>
      </p:sp>
      <p:sp>
        <p:nvSpPr>
          <p:cNvPr id="43" name="Text 40"/>
          <p:cNvSpPr/>
          <p:nvPr/>
        </p:nvSpPr>
        <p:spPr>
          <a:xfrm>
            <a:off x="7133034" y="2857500"/>
            <a:ext cx="12965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fib(1): Computed 5 times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661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94742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66142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Explosion — How Bad Does It Get?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35781" y="937617"/>
            <a:ext cx="4500535" cy="2696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35781" y="937617"/>
            <a:ext cx="495905" cy="2696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535781" y="937617"/>
            <a:ext cx="495905" cy="26967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1031686" y="937617"/>
            <a:ext cx="1863654" cy="2696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1031686" y="937617"/>
            <a:ext cx="1863654" cy="26967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FUNCTION CALLS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2895340" y="937617"/>
            <a:ext cx="2140976" cy="2696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2895340" y="937617"/>
            <a:ext cx="2140976" cy="26967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UNIQUE VALUES NEEDED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535781" y="1207294"/>
            <a:ext cx="4500535" cy="3071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35781" y="1207294"/>
            <a:ext cx="495905" cy="30718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1031686" y="1207294"/>
            <a:ext cx="1863654" cy="30718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2895340" y="1207294"/>
            <a:ext cx="2140976" cy="30718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535781" y="1514475"/>
            <a:ext cx="4500535" cy="30718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5"/>
          <p:cNvSpPr/>
          <p:nvPr/>
        </p:nvSpPr>
        <p:spPr>
          <a:xfrm>
            <a:off x="535781" y="1514475"/>
            <a:ext cx="495905" cy="30718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1031686" y="1514475"/>
            <a:ext cx="1863654" cy="30718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177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2895340" y="1514475"/>
            <a:ext cx="2140976" cy="30718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535781" y="1821656"/>
            <a:ext cx="4500535" cy="3071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535781" y="1821656"/>
            <a:ext cx="495905" cy="30718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1031686" y="1821656"/>
            <a:ext cx="1863654" cy="30718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21,891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2895340" y="1821656"/>
            <a:ext cx="2140976" cy="30718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</a:t>
            </a:r>
            <a:endParaRPr lang="en-US" sz="942" dirty="0"/>
          </a:p>
        </p:txBody>
      </p:sp>
      <p:sp>
        <p:nvSpPr>
          <p:cNvPr id="25" name="Shape 22"/>
          <p:cNvSpPr/>
          <p:nvPr/>
        </p:nvSpPr>
        <p:spPr>
          <a:xfrm>
            <a:off x="535781" y="2128838"/>
            <a:ext cx="4500535" cy="30718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3"/>
          <p:cNvSpPr/>
          <p:nvPr/>
        </p:nvSpPr>
        <p:spPr>
          <a:xfrm>
            <a:off x="535781" y="2128838"/>
            <a:ext cx="495905" cy="30718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30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1031686" y="2128838"/>
            <a:ext cx="1863654" cy="30718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2,692,537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2895340" y="2128838"/>
            <a:ext cx="2140976" cy="30718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31</a:t>
            </a:r>
            <a:endParaRPr lang="en-US" sz="942" dirty="0"/>
          </a:p>
        </p:txBody>
      </p:sp>
      <p:sp>
        <p:nvSpPr>
          <p:cNvPr id="29" name="Shape 26"/>
          <p:cNvSpPr/>
          <p:nvPr/>
        </p:nvSpPr>
        <p:spPr>
          <a:xfrm>
            <a:off x="535781" y="2436019"/>
            <a:ext cx="4500535" cy="3071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535781" y="2436019"/>
            <a:ext cx="495905" cy="30718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40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1031686" y="2436019"/>
            <a:ext cx="1863654" cy="30718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331,160,281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2895340" y="2436019"/>
            <a:ext cx="2140976" cy="30718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41</a:t>
            </a:r>
            <a:endParaRPr lang="en-US" sz="942" dirty="0"/>
          </a:p>
        </p:txBody>
      </p:sp>
      <p:sp>
        <p:nvSpPr>
          <p:cNvPr id="33" name="Shape 30"/>
          <p:cNvSpPr/>
          <p:nvPr/>
        </p:nvSpPr>
        <p:spPr>
          <a:xfrm>
            <a:off x="535781" y="2743200"/>
            <a:ext cx="4500535" cy="30718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4" name="Text 31"/>
          <p:cNvSpPr/>
          <p:nvPr/>
        </p:nvSpPr>
        <p:spPr>
          <a:xfrm>
            <a:off x="535781" y="2743200"/>
            <a:ext cx="495905" cy="30718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</a:t>
            </a:r>
            <a:endParaRPr lang="en-US" sz="942" dirty="0"/>
          </a:p>
        </p:txBody>
      </p:sp>
      <p:sp>
        <p:nvSpPr>
          <p:cNvPr id="35" name="Text 32"/>
          <p:cNvSpPr/>
          <p:nvPr/>
        </p:nvSpPr>
        <p:spPr>
          <a:xfrm>
            <a:off x="1031686" y="2743200"/>
            <a:ext cx="1863654" cy="30718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~40,000,000,000</a:t>
            </a:r>
            <a:endParaRPr lang="en-US" sz="885" dirty="0"/>
          </a:p>
        </p:txBody>
      </p:sp>
      <p:sp>
        <p:nvSpPr>
          <p:cNvPr id="36" name="Text 33"/>
          <p:cNvSpPr/>
          <p:nvPr/>
        </p:nvSpPr>
        <p:spPr>
          <a:xfrm>
            <a:off x="2895340" y="2743200"/>
            <a:ext cx="2140976" cy="30718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51</a:t>
            </a:r>
            <a:endParaRPr lang="en-US" sz="942" dirty="0"/>
          </a:p>
        </p:txBody>
      </p:sp>
      <p:sp>
        <p:nvSpPr>
          <p:cNvPr id="37" name="Shape 34"/>
          <p:cNvSpPr/>
          <p:nvPr/>
        </p:nvSpPr>
        <p:spPr>
          <a:xfrm>
            <a:off x="5393503" y="937617"/>
            <a:ext cx="3214688" cy="292804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8" name="Shape 35"/>
          <p:cNvSpPr/>
          <p:nvPr/>
        </p:nvSpPr>
        <p:spPr>
          <a:xfrm>
            <a:off x="5393503" y="937617"/>
            <a:ext cx="42863" cy="292804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9" name="Text 36"/>
          <p:cNvSpPr/>
          <p:nvPr/>
        </p:nvSpPr>
        <p:spPr>
          <a:xfrm>
            <a:off x="5572097" y="1116211"/>
            <a:ext cx="2857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 COMPLEXITY</a:t>
            </a:r>
            <a:endParaRPr lang="en-US" sz="734" dirty="0"/>
          </a:p>
        </p:txBody>
      </p:sp>
      <p:sp>
        <p:nvSpPr>
          <p:cNvPr id="40" name="Text 37"/>
          <p:cNvSpPr/>
          <p:nvPr/>
        </p:nvSpPr>
        <p:spPr>
          <a:xfrm>
            <a:off x="5572097" y="1310878"/>
            <a:ext cx="426839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O(2</a:t>
            </a:r>
            <a:endParaRPr lang="en-US" sz="1808" dirty="0"/>
          </a:p>
        </p:txBody>
      </p:sp>
      <p:sp>
        <p:nvSpPr>
          <p:cNvPr id="41" name="Text 38"/>
          <p:cNvSpPr/>
          <p:nvPr/>
        </p:nvSpPr>
        <p:spPr>
          <a:xfrm>
            <a:off x="5998936" y="1266230"/>
            <a:ext cx="13215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99" b="1" baseline="3000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</a:t>
            </a:r>
            <a:endParaRPr lang="en-US" sz="1499" dirty="0"/>
          </a:p>
        </p:txBody>
      </p:sp>
      <p:sp>
        <p:nvSpPr>
          <p:cNvPr id="42" name="Text 39"/>
          <p:cNvSpPr/>
          <p:nvPr/>
        </p:nvSpPr>
        <p:spPr>
          <a:xfrm>
            <a:off x="6131096" y="1310878"/>
            <a:ext cx="10001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</a:t>
            </a:r>
            <a:endParaRPr lang="en-US" sz="1808" dirty="0"/>
          </a:p>
        </p:txBody>
      </p:sp>
      <p:sp>
        <p:nvSpPr>
          <p:cNvPr id="43" name="Text 40"/>
          <p:cNvSpPr/>
          <p:nvPr/>
        </p:nvSpPr>
        <p:spPr>
          <a:xfrm>
            <a:off x="5572097" y="1646634"/>
            <a:ext cx="28575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number of operations roughly doubles with each increment of n.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5572097" y="2186657"/>
            <a:ext cx="2857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 WORLD IMPACT</a:t>
            </a:r>
            <a:endParaRPr lang="en-US" sz="734" dirty="0"/>
          </a:p>
        </p:txBody>
      </p:sp>
      <p:sp>
        <p:nvSpPr>
          <p:cNvPr id="45" name="Text 42"/>
          <p:cNvSpPr/>
          <p:nvPr/>
        </p:nvSpPr>
        <p:spPr>
          <a:xfrm>
            <a:off x="5572097" y="2367037"/>
            <a:ext cx="2857500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Computing </a:t>
            </a:r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fib(50)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would take minutes to hours.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Computing </a:t>
            </a:r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fib(100)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is practically impossible 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this approach.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5572097" y="3289920"/>
            <a:ext cx="28575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Meanwhile, we only need n+1 unique values. The waste is staggering.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4344" y="214313"/>
            <a:ext cx="8215313" cy="4143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64344" y="585788"/>
            <a:ext cx="8215313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464344" y="214313"/>
            <a:ext cx="8215313" cy="414338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Let's Measure It — Timing the Naive Approach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64344" y="642938"/>
            <a:ext cx="4021931" cy="1639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Here is a concrete experiment to see the exponential blowup:</a:t>
            </a:r>
            <a:endParaRPr lang="en-US" sz="888" dirty="0"/>
          </a:p>
        </p:txBody>
      </p:sp>
      <p:sp>
        <p:nvSpPr>
          <p:cNvPr id="7" name="Shape 4"/>
          <p:cNvSpPr/>
          <p:nvPr/>
        </p:nvSpPr>
        <p:spPr>
          <a:xfrm>
            <a:off x="464344" y="878318"/>
            <a:ext cx="4021931" cy="839391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5"/>
          <p:cNvSpPr/>
          <p:nvPr/>
        </p:nvSpPr>
        <p:spPr>
          <a:xfrm>
            <a:off x="464344" y="878318"/>
            <a:ext cx="4021931" cy="83939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&lt;stdio.h&gt;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&lt;time.h&gt;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 &lt;=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vals[] =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 {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clock_t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start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clock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 =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(vals[i]);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elapsed = (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clock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()-start)/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CLOCKS_PER_SEC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"fib(%d) = %d, Time: %.4fs\n"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vals[i], result, elapsed); }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4657725" y="642938"/>
            <a:ext cx="4021931" cy="1639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Output:</a:t>
            </a:r>
            <a:endParaRPr lang="en-US" sz="888" dirty="0"/>
          </a:p>
        </p:txBody>
      </p:sp>
      <p:sp>
        <p:nvSpPr>
          <p:cNvPr id="10" name="Shape 7"/>
          <p:cNvSpPr/>
          <p:nvPr/>
        </p:nvSpPr>
        <p:spPr>
          <a:xfrm>
            <a:off x="4657725" y="878318"/>
            <a:ext cx="4021931" cy="131299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4757738" y="978331"/>
            <a:ext cx="3821906" cy="155711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fib_test.c -o fib_test &amp;&amp; ./fib_test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4757738" y="1191192"/>
            <a:ext cx="38219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fib(10) = 55, Time: 0.0000s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4757738" y="1341211"/>
            <a:ext cx="38219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fib(20) = 6765, Time: 0.0001s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4757738" y="1491230"/>
            <a:ext cx="38219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fib(25) = 75025, Time: 0.0012s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4757738" y="1641249"/>
            <a:ext cx="38219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fib(30) = 832040, Time: 0.0130s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4757738" y="1791267"/>
            <a:ext cx="38219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fib(35) = 9227465, Time: 0.1440s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4757738" y="1941286"/>
            <a:ext cx="3821906" cy="150019"/>
          </a:xfrm>
          <a:prstGeom prst="rect">
            <a:avLst/>
          </a:prstGeom>
          <a:solidFill>
            <a:srgbClr val="FF4500">
              <a:alpha val="1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4757738" y="1941286"/>
            <a:ext cx="38219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FF4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fib(40) = 102334155, Time: 1.5800s</a:t>
            </a:r>
            <a:endParaRPr lang="en-US" sz="734" dirty="0"/>
          </a:p>
        </p:txBody>
      </p:sp>
      <p:sp>
        <p:nvSpPr>
          <p:cNvPr id="19" name="Shape 16"/>
          <p:cNvSpPr/>
          <p:nvPr/>
        </p:nvSpPr>
        <p:spPr>
          <a:xfrm>
            <a:off x="4657725" y="2262755"/>
            <a:ext cx="4021931" cy="482203"/>
          </a:xfrm>
          <a:prstGeom prst="rect">
            <a:avLst/>
          </a:prstGeom>
          <a:solidFill>
            <a:srgbClr val="FFF0E6"/>
          </a:solidFill>
          <a:ln/>
        </p:spPr>
      </p:sp>
      <p:sp>
        <p:nvSpPr>
          <p:cNvPr id="20" name="Shape 17"/>
          <p:cNvSpPr/>
          <p:nvPr/>
        </p:nvSpPr>
        <p:spPr>
          <a:xfrm>
            <a:off x="4657725" y="2262755"/>
            <a:ext cx="42863" cy="48220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1" name="Text 18"/>
          <p:cNvSpPr/>
          <p:nvPr/>
        </p:nvSpPr>
        <p:spPr>
          <a:xfrm>
            <a:off x="4757738" y="2348480"/>
            <a:ext cx="382190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OBSERVATION</a:t>
            </a:r>
            <a:endParaRPr lang="en-US" sz="734" dirty="0"/>
          </a:p>
        </p:txBody>
      </p:sp>
      <p:sp>
        <p:nvSpPr>
          <p:cNvPr id="22" name="Text 19"/>
          <p:cNvSpPr/>
          <p:nvPr/>
        </p:nvSpPr>
        <p:spPr>
          <a:xfrm>
            <a:off x="4757738" y="2514572"/>
            <a:ext cx="38219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Each +5 in n multiplies the time by roughly 10x. This is unsustainable.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57238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Does This Happen? </a:t>
            </a:r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Overlapping Subproblems</a:t>
            </a:r>
            <a:endParaRPr lang="en-US" sz="2226" dirty="0"/>
          </a:p>
        </p:txBody>
      </p:sp>
      <p:sp>
        <p:nvSpPr>
          <p:cNvPr id="6" name="Text 3"/>
          <p:cNvSpPr/>
          <p:nvPr/>
        </p:nvSpPr>
        <p:spPr>
          <a:xfrm>
            <a:off x="535781" y="900113"/>
            <a:ext cx="38576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root cause is </a:t>
            </a: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overlapping subproblems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 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same subproblems are solved repeatedly.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535781" y="1508727"/>
            <a:ext cx="385762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the recursion tree for fib(5):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707231" y="1762330"/>
            <a:ext cx="101441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fib(3) is solved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54300" y="1762330"/>
            <a:ext cx="50184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times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707231" y="2015933"/>
            <a:ext cx="101441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fib(2) is solved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152515" y="2015933"/>
            <a:ext cx="50363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times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707231" y="2269536"/>
            <a:ext cx="98226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fib(1) is solved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54300" y="2269536"/>
            <a:ext cx="50184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times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707231" y="2523139"/>
            <a:ext cx="101619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fib(0) is solved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152515" y="2523139"/>
            <a:ext cx="50363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times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535781" y="2976767"/>
            <a:ext cx="38576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just n=5, we have 15 calls for 6 unique values.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4750594" y="900113"/>
            <a:ext cx="3857625" cy="1460897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8" name="Text 15"/>
          <p:cNvSpPr/>
          <p:nvPr/>
        </p:nvSpPr>
        <p:spPr>
          <a:xfrm>
            <a:off x="4893469" y="1042988"/>
            <a:ext cx="35718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COMMON IN RECURSIVE ALGORITHMS</a:t>
            </a:r>
            <a:endParaRPr lang="en-US" sz="987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469" y="1364456"/>
            <a:ext cx="87511" cy="10001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52417" y="1332309"/>
            <a:ext cx="149125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Counting paths in a grid</a:t>
            </a:r>
            <a:endParaRPr lang="en-US" sz="942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69" y="1585913"/>
            <a:ext cx="87511" cy="10001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52417" y="1553766"/>
            <a:ext cx="162341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Making change with coins</a:t>
            </a:r>
            <a:endParaRPr lang="en-US" sz="942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469" y="1807369"/>
            <a:ext cx="87511" cy="10001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052417" y="1775222"/>
            <a:ext cx="141267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Comparing two strings</a:t>
            </a:r>
            <a:endParaRPr lang="en-US" sz="942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2028825"/>
            <a:ext cx="87511" cy="10001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052417" y="1996678"/>
            <a:ext cx="189309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Optimizing resource allocation</a:t>
            </a:r>
            <a:endParaRPr lang="en-US" sz="942" dirty="0"/>
          </a:p>
        </p:txBody>
      </p:sp>
      <p:sp>
        <p:nvSpPr>
          <p:cNvPr id="27" name="Shape 20"/>
          <p:cNvSpPr/>
          <p:nvPr/>
        </p:nvSpPr>
        <p:spPr>
          <a:xfrm>
            <a:off x="4750594" y="2361009"/>
            <a:ext cx="3857625" cy="120115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1"/>
          <p:cNvSpPr/>
          <p:nvPr/>
        </p:nvSpPr>
        <p:spPr>
          <a:xfrm>
            <a:off x="4929188" y="2539603"/>
            <a:ext cx="35004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INSIGHT</a:t>
            </a:r>
            <a:endParaRPr lang="en-US" sz="683" dirty="0"/>
          </a:p>
        </p:txBody>
      </p:sp>
      <p:sp>
        <p:nvSpPr>
          <p:cNvPr id="29" name="Text 22"/>
          <p:cNvSpPr/>
          <p:nvPr/>
        </p:nvSpPr>
        <p:spPr>
          <a:xfrm>
            <a:off x="4929188" y="2723555"/>
            <a:ext cx="3500438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If we could store and reuse previously computed results, we could eliminate all redundant work.</a:t>
            </a:r>
            <a:endParaRPr lang="en-US" sz="10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57238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Another Motivating Example — Climbing Stairs</a:t>
            </a:r>
            <a:endParaRPr lang="en-US" sz="2226" dirty="0"/>
          </a:p>
        </p:txBody>
      </p:sp>
      <p:sp>
        <p:nvSpPr>
          <p:cNvPr id="6" name="Text 3"/>
          <p:cNvSpPr/>
          <p:nvPr/>
        </p:nvSpPr>
        <p:spPr>
          <a:xfrm>
            <a:off x="535781" y="900113"/>
            <a:ext cx="3893344" cy="10287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Problem:</a:t>
            </a:r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You are climbing a staircase with </a:t>
            </a:r>
            <a:pPr algn="l" indent="0" marL="0">
              <a:lnSpc>
                <a:spcPts val="2000"/>
              </a:lnSpc>
              <a:buNone/>
            </a:pPr>
            <a:r>
              <a:rPr lang="en-US" sz="1269" i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</a:t>
            </a:r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steps. Each time you can climb 1 or 2 steps. </a:t>
            </a:r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many distinct ways can you reach the </a:t>
            </a:r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top?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35781" y="2057400"/>
            <a:ext cx="3893344" cy="5971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5"/>
          <p:cNvSpPr/>
          <p:nvPr/>
        </p:nvSpPr>
        <p:spPr>
          <a:xfrm>
            <a:off x="535781" y="2057400"/>
            <a:ext cx="3893344" cy="597173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climb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 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 &lt;= 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climb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(n-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climb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(n-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88" dirty="0"/>
          </a:p>
        </p:txBody>
      </p:sp>
      <p:sp>
        <p:nvSpPr>
          <p:cNvPr id="9" name="Shape 6"/>
          <p:cNvSpPr/>
          <p:nvPr/>
        </p:nvSpPr>
        <p:spPr>
          <a:xfrm>
            <a:off x="535781" y="2783160"/>
            <a:ext cx="3893344" cy="65008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7"/>
          <p:cNvSpPr/>
          <p:nvPr/>
        </p:nvSpPr>
        <p:spPr>
          <a:xfrm>
            <a:off x="535781" y="2783160"/>
            <a:ext cx="3893344" cy="65008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recursion tree is 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identical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 structure to 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Fibonacci! The same exponential blowup occurs.</a:t>
            </a:r>
            <a:endParaRPr lang="en-US" sz="987" dirty="0"/>
          </a:p>
        </p:txBody>
      </p:sp>
      <p:sp>
        <p:nvSpPr>
          <p:cNvPr id="11" name="Shape 8"/>
          <p:cNvSpPr/>
          <p:nvPr/>
        </p:nvSpPr>
        <p:spPr>
          <a:xfrm>
            <a:off x="4714875" y="971550"/>
            <a:ext cx="1033667" cy="28932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4714875" y="971550"/>
            <a:ext cx="1033667" cy="289322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 (STAIRS)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5748542" y="971550"/>
            <a:ext cx="1429810" cy="28932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5748542" y="971550"/>
            <a:ext cx="1429810" cy="289322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WAYS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7178353" y="971550"/>
            <a:ext cx="1429866" cy="28932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7178353" y="971550"/>
            <a:ext cx="1429866" cy="289322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NAIVE CALLS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714875" y="1260872"/>
            <a:ext cx="1033667" cy="292894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748542" y="1260872"/>
            <a:ext cx="1429810" cy="292894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7178353" y="1260872"/>
            <a:ext cx="1429866" cy="292894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4714875" y="1553766"/>
            <a:ext cx="3893344" cy="29646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1" name="Text 18"/>
          <p:cNvSpPr/>
          <p:nvPr/>
        </p:nvSpPr>
        <p:spPr>
          <a:xfrm>
            <a:off x="4714875" y="1553766"/>
            <a:ext cx="1033667" cy="29646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5748542" y="1553766"/>
            <a:ext cx="1429810" cy="29646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7178353" y="1553766"/>
            <a:ext cx="1429866" cy="29646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177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4714875" y="1850231"/>
            <a:ext cx="1033667" cy="29646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5748542" y="1850231"/>
            <a:ext cx="1429810" cy="29646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10,946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7178353" y="1850231"/>
            <a:ext cx="1429866" cy="29646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21,891</a:t>
            </a:r>
            <a:endParaRPr lang="en-US" sz="942" dirty="0"/>
          </a:p>
        </p:txBody>
      </p:sp>
      <p:sp>
        <p:nvSpPr>
          <p:cNvPr id="27" name="Shape 24"/>
          <p:cNvSpPr/>
          <p:nvPr/>
        </p:nvSpPr>
        <p:spPr>
          <a:xfrm>
            <a:off x="4714875" y="2146697"/>
            <a:ext cx="3893344" cy="29646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8" name="Text 25"/>
          <p:cNvSpPr/>
          <p:nvPr/>
        </p:nvSpPr>
        <p:spPr>
          <a:xfrm>
            <a:off x="4714875" y="2146697"/>
            <a:ext cx="1033667" cy="29646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5748542" y="2146697"/>
            <a:ext cx="1429810" cy="29646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1,346,269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7178353" y="2146697"/>
            <a:ext cx="1429866" cy="29646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2,692,537</a:t>
            </a:r>
            <a:endParaRPr lang="en-US" sz="942" dirty="0"/>
          </a:p>
        </p:txBody>
      </p:sp>
      <p:sp>
        <p:nvSpPr>
          <p:cNvPr id="31" name="Shape 28"/>
          <p:cNvSpPr/>
          <p:nvPr/>
        </p:nvSpPr>
        <p:spPr>
          <a:xfrm>
            <a:off x="4714875" y="2443163"/>
            <a:ext cx="3893344" cy="296466"/>
          </a:xfrm>
          <a:prstGeom prst="rect">
            <a:avLst/>
          </a:prstGeom>
          <a:solidFill>
            <a:srgbClr val="FFF0E6"/>
          </a:solidFill>
          <a:ln/>
        </p:spPr>
      </p:sp>
      <p:sp>
        <p:nvSpPr>
          <p:cNvPr id="32" name="Shape 29"/>
          <p:cNvSpPr/>
          <p:nvPr/>
        </p:nvSpPr>
        <p:spPr>
          <a:xfrm>
            <a:off x="4714875" y="2443163"/>
            <a:ext cx="1033667" cy="2964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714875" y="2732484"/>
            <a:ext cx="1033667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Text 31"/>
          <p:cNvSpPr/>
          <p:nvPr/>
        </p:nvSpPr>
        <p:spPr>
          <a:xfrm>
            <a:off x="4714875" y="2443163"/>
            <a:ext cx="1033667" cy="29646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885" dirty="0"/>
          </a:p>
        </p:txBody>
      </p:sp>
      <p:sp>
        <p:nvSpPr>
          <p:cNvPr id="35" name="Shape 32"/>
          <p:cNvSpPr/>
          <p:nvPr/>
        </p:nvSpPr>
        <p:spPr>
          <a:xfrm>
            <a:off x="5748542" y="2443163"/>
            <a:ext cx="1429810" cy="2964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5748542" y="2732484"/>
            <a:ext cx="142981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Text 34"/>
          <p:cNvSpPr/>
          <p:nvPr/>
        </p:nvSpPr>
        <p:spPr>
          <a:xfrm>
            <a:off x="5748542" y="2443163"/>
            <a:ext cx="1429810" cy="29646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165,580,141</a:t>
            </a:r>
            <a:endParaRPr lang="en-US" sz="885" dirty="0"/>
          </a:p>
        </p:txBody>
      </p:sp>
      <p:sp>
        <p:nvSpPr>
          <p:cNvPr id="38" name="Shape 35"/>
          <p:cNvSpPr/>
          <p:nvPr/>
        </p:nvSpPr>
        <p:spPr>
          <a:xfrm>
            <a:off x="7178353" y="2443163"/>
            <a:ext cx="1429866" cy="2964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7178353" y="2732484"/>
            <a:ext cx="1429866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Text 37"/>
          <p:cNvSpPr/>
          <p:nvPr/>
        </p:nvSpPr>
        <p:spPr>
          <a:xfrm>
            <a:off x="7178353" y="2443163"/>
            <a:ext cx="1429866" cy="29646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331,160,281</a:t>
            </a:r>
            <a:endParaRPr lang="en-US" sz="885" dirty="0"/>
          </a:p>
        </p:txBody>
      </p:sp>
      <p:sp>
        <p:nvSpPr>
          <p:cNvPr id="41" name="Text 38"/>
          <p:cNvSpPr/>
          <p:nvPr/>
        </p:nvSpPr>
        <p:spPr>
          <a:xfrm>
            <a:off x="4714875" y="2878931"/>
            <a:ext cx="3893344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problem, same waste.</a:t>
            </a:r>
            <a:pPr algn="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need a better strategy.</a:t>
            </a:r>
            <a:endParaRPr lang="en-US" sz="139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4786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07231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Yet Another Example — Counting Paths in a Grid</a:t>
            </a:r>
            <a:endParaRPr lang="en-US" sz="2016" dirty="0"/>
          </a:p>
        </p:txBody>
      </p:sp>
      <p:sp>
        <p:nvSpPr>
          <p:cNvPr id="6" name="Text 3"/>
          <p:cNvSpPr/>
          <p:nvPr/>
        </p:nvSpPr>
        <p:spPr>
          <a:xfrm>
            <a:off x="535781" y="807244"/>
            <a:ext cx="3911203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Problem: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Given an </a:t>
            </a:r>
            <a:pPr algn="l" indent="0" marL="0">
              <a:lnSpc>
                <a:spcPts val="1900"/>
              </a:lnSpc>
              <a:buNone/>
            </a:pPr>
            <a:r>
              <a:rPr lang="en-US" sz="1269" i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 × n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grid, count paths from 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top-left to bottom-right, moving only </a:t>
            </a: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right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or </a:t>
            </a: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down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35781" y="1770171"/>
            <a:ext cx="508992" cy="511950"/>
          </a:xfrm>
          <a:prstGeom prst="rect">
            <a:avLst/>
          </a:prstGeom>
          <a:solidFill>
            <a:srgbClr val="000000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5781" y="1770171"/>
            <a:ext cx="508992" cy="51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</a:t>
            </a:r>
            <a:endParaRPr lang="en-US" sz="727" dirty="0"/>
          </a:p>
        </p:txBody>
      </p:sp>
      <p:sp>
        <p:nvSpPr>
          <p:cNvPr id="9" name="Shape 6"/>
          <p:cNvSpPr/>
          <p:nvPr/>
        </p:nvSpPr>
        <p:spPr>
          <a:xfrm>
            <a:off x="1080492" y="1770171"/>
            <a:ext cx="508992" cy="511950"/>
          </a:xfrm>
          <a:prstGeom prst="rect">
            <a:avLst/>
          </a:prstGeom>
          <a:solidFill>
            <a:srgbClr val="FFD1B3"/>
          </a:solidFill>
          <a:ln w="9144">
            <a:solidFill>
              <a:srgbClr val="CCCCC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233" y="1976140"/>
            <a:ext cx="87511" cy="10001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625203" y="1770171"/>
            <a:ext cx="508992" cy="511950"/>
          </a:xfrm>
          <a:prstGeom prst="rect">
            <a:avLst/>
          </a:prstGeom>
          <a:solidFill>
            <a:srgbClr val="FFD1B3"/>
          </a:solidFill>
          <a:ln w="9144">
            <a:solidFill>
              <a:srgbClr val="CCCCC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944" y="1976140"/>
            <a:ext cx="87511" cy="100013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625203" y="2317840"/>
            <a:ext cx="508992" cy="511978"/>
          </a:xfrm>
          <a:prstGeom prst="rect">
            <a:avLst/>
          </a:prstGeom>
          <a:solidFill>
            <a:srgbClr val="FFD1B3"/>
          </a:solidFill>
          <a:ln w="9144">
            <a:solidFill>
              <a:srgbClr val="CCCCCC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195" y="2523809"/>
            <a:ext cx="75009" cy="100013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625203" y="2865537"/>
            <a:ext cx="508992" cy="511950"/>
          </a:xfrm>
          <a:prstGeom prst="rect">
            <a:avLst/>
          </a:prstGeom>
          <a:solidFill>
            <a:srgbClr val="FFD1B3"/>
          </a:solidFill>
          <a:ln w="9144">
            <a:solidFill>
              <a:srgbClr val="CCCCCC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5944" y="3071506"/>
            <a:ext cx="87511" cy="100013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2169914" y="2865537"/>
            <a:ext cx="508992" cy="511950"/>
          </a:xfrm>
          <a:prstGeom prst="rect">
            <a:avLst/>
          </a:prstGeom>
          <a:solidFill>
            <a:srgbClr val="FF4500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2169914" y="2865537"/>
            <a:ext cx="508992" cy="51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End</a:t>
            </a:r>
            <a:endParaRPr lang="en-US" sz="727" dirty="0"/>
          </a:p>
        </p:txBody>
      </p:sp>
      <p:sp>
        <p:nvSpPr>
          <p:cNvPr id="19" name="Shape 12"/>
          <p:cNvSpPr/>
          <p:nvPr/>
        </p:nvSpPr>
        <p:spPr>
          <a:xfrm>
            <a:off x="535781" y="3620402"/>
            <a:ext cx="3911203" cy="37683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3"/>
          <p:cNvSpPr/>
          <p:nvPr/>
        </p:nvSpPr>
        <p:spPr>
          <a:xfrm>
            <a:off x="535781" y="3620402"/>
            <a:ext cx="28575" cy="37683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4"/>
          <p:cNvSpPr/>
          <p:nvPr/>
        </p:nvSpPr>
        <p:spPr>
          <a:xfrm>
            <a:off x="535781" y="3620402"/>
            <a:ext cx="3911203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f(m, n) = f(m-1, n) + f(m, n-1)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4697016" y="807244"/>
            <a:ext cx="3911203" cy="73145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3" name="Text 16"/>
          <p:cNvSpPr/>
          <p:nvPr/>
        </p:nvSpPr>
        <p:spPr>
          <a:xfrm>
            <a:off x="4697016" y="807244"/>
            <a:ext cx="3911203" cy="73145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count_paths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m,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 ==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n ==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count_paths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(m-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n) +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count_paths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(m, n-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34" dirty="0"/>
          </a:p>
        </p:txBody>
      </p:sp>
      <p:sp>
        <p:nvSpPr>
          <p:cNvPr id="24" name="Shape 17"/>
          <p:cNvSpPr/>
          <p:nvPr/>
        </p:nvSpPr>
        <p:spPr>
          <a:xfrm>
            <a:off x="4697016" y="1717291"/>
            <a:ext cx="3911203" cy="700088"/>
          </a:xfrm>
          <a:prstGeom prst="rect">
            <a:avLst/>
          </a:prstGeom>
          <a:solidFill>
            <a:srgbClr val="FFF0E6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839891" y="1860166"/>
            <a:ext cx="66615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10×10 Grid:</a:t>
            </a:r>
            <a:endParaRPr lang="en-US" sz="942" dirty="0"/>
          </a:p>
        </p:txBody>
      </p:sp>
      <p:sp>
        <p:nvSpPr>
          <p:cNvPr id="26" name="Text 19"/>
          <p:cNvSpPr/>
          <p:nvPr/>
        </p:nvSpPr>
        <p:spPr>
          <a:xfrm>
            <a:off x="7622381" y="1860166"/>
            <a:ext cx="8429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92,000+ calls</a:t>
            </a:r>
            <a:endParaRPr lang="en-US" sz="885" dirty="0"/>
          </a:p>
        </p:txBody>
      </p:sp>
      <p:sp>
        <p:nvSpPr>
          <p:cNvPr id="27" name="Text 20"/>
          <p:cNvSpPr/>
          <p:nvPr/>
        </p:nvSpPr>
        <p:spPr>
          <a:xfrm>
            <a:off x="4839891" y="2095909"/>
            <a:ext cx="71258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20×20 Grid:</a:t>
            </a:r>
            <a:endParaRPr lang="en-US" sz="942" dirty="0"/>
          </a:p>
        </p:txBody>
      </p:sp>
      <p:sp>
        <p:nvSpPr>
          <p:cNvPr id="28" name="Text 21"/>
          <p:cNvSpPr/>
          <p:nvPr/>
        </p:nvSpPr>
        <p:spPr>
          <a:xfrm>
            <a:off x="7536656" y="2095909"/>
            <a:ext cx="9286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Billions of calls</a:t>
            </a:r>
            <a:endParaRPr lang="en-US" sz="885" dirty="0"/>
          </a:p>
        </p:txBody>
      </p:sp>
      <p:sp>
        <p:nvSpPr>
          <p:cNvPr id="29" name="Text 22"/>
          <p:cNvSpPr/>
          <p:nvPr/>
        </p:nvSpPr>
        <p:spPr>
          <a:xfrm>
            <a:off x="4697016" y="2581684"/>
            <a:ext cx="3911203" cy="81717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pattern is clear: whenever a problem breaks into overlapping subproblems, naive recursion wastes enormous computation.</a:t>
            </a:r>
            <a:endParaRPr lang="en-US" sz="10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57238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Enter Dynamic Programming — The Core Idea</a:t>
            </a:r>
            <a:endParaRPr lang="en-US" sz="2226" dirty="0"/>
          </a:p>
        </p:txBody>
      </p:sp>
      <p:sp>
        <p:nvSpPr>
          <p:cNvPr id="6" name="Text 3"/>
          <p:cNvSpPr/>
          <p:nvPr/>
        </p:nvSpPr>
        <p:spPr>
          <a:xfrm>
            <a:off x="535781" y="900113"/>
            <a:ext cx="8072438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Dynamic Programming (DP)</a:t>
            </a:r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is an algorithmic technique that solves complex </a:t>
            </a:r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problems by breaking them down into simpler subproblems.</a:t>
            </a:r>
            <a:endParaRPr lang="en-US" sz="1486" dirty="0"/>
          </a:p>
        </p:txBody>
      </p:sp>
      <p:sp>
        <p:nvSpPr>
          <p:cNvPr id="7" name="Text 4"/>
          <p:cNvSpPr/>
          <p:nvPr/>
        </p:nvSpPr>
        <p:spPr>
          <a:xfrm>
            <a:off x="535781" y="1724490"/>
            <a:ext cx="248423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35781" y="1924515"/>
            <a:ext cx="248423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Break into overlapping subproblems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3305770" y="1724490"/>
            <a:ext cx="231100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3305770" y="1924515"/>
            <a:ext cx="231100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Solve each subproblem only once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5902523" y="1724490"/>
            <a:ext cx="18859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902523" y="1924515"/>
            <a:ext cx="188595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Store results for future use</a:t>
            </a:r>
            <a:endParaRPr lang="en-US" sz="987" dirty="0"/>
          </a:p>
        </p:txBody>
      </p:sp>
      <p:sp>
        <p:nvSpPr>
          <p:cNvPr id="13" name="Shape 10"/>
          <p:cNvSpPr/>
          <p:nvPr/>
        </p:nvSpPr>
        <p:spPr>
          <a:xfrm>
            <a:off x="535781" y="2249556"/>
            <a:ext cx="3893344" cy="155376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1"/>
          <p:cNvSpPr/>
          <p:nvPr/>
        </p:nvSpPr>
        <p:spPr>
          <a:xfrm>
            <a:off x="535781" y="2249556"/>
            <a:ext cx="42863" cy="155376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750094" y="2463868"/>
            <a:ext cx="346471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OVERLAPPING SUBPROBLEMS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750094" y="2788909"/>
            <a:ext cx="346471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 can be broken down into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subproblems which are reused several times.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(e.g., Fibonacci, Grid Paths)</a:t>
            </a:r>
            <a:pPr algn="l" indent="0" marL="0">
              <a:lnSpc>
                <a:spcPts val="1600"/>
              </a:lnSpc>
              <a:buNone/>
            </a:pP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14875" y="2249556"/>
            <a:ext cx="3893344" cy="155376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Shape 15"/>
          <p:cNvSpPr/>
          <p:nvPr/>
        </p:nvSpPr>
        <p:spPr>
          <a:xfrm>
            <a:off x="4714875" y="2249556"/>
            <a:ext cx="42863" cy="1553766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9" name="Text 16"/>
          <p:cNvSpPr/>
          <p:nvPr/>
        </p:nvSpPr>
        <p:spPr>
          <a:xfrm>
            <a:off x="4929188" y="2463868"/>
            <a:ext cx="346471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OPTIMAL SUBSTRUCTURE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4929188" y="2788909"/>
            <a:ext cx="346471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optimal solution to the problem contains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within it optimal solutions to its subproblems.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(e.g., Shortest Path, Knapsack)</a:t>
            </a:r>
            <a:pPr algn="l" indent="0" marL="0">
              <a:lnSpc>
                <a:spcPts val="1600"/>
              </a:lnSpc>
              <a:buNone/>
            </a:pP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35781" y="4089071"/>
            <a:ext cx="8072438" cy="26074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535781" y="4089071"/>
            <a:ext cx="8072438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Text 20"/>
          <p:cNvSpPr/>
          <p:nvPr/>
        </p:nvSpPr>
        <p:spPr>
          <a:xfrm>
            <a:off x="535781" y="4196228"/>
            <a:ext cx="219134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Coined by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Richard Bellman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 the 1950s.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572000" y="4196228"/>
            <a:ext cx="403621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"Programming" refers to mathematical planning/optimization, not coding.</a:t>
            </a:r>
            <a:endParaRPr lang="en-US" sz="8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169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57238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Approaches to Dynamic Programming</a:t>
            </a:r>
            <a:endParaRPr lang="en-US" sz="2226" dirty="0"/>
          </a:p>
        </p:txBody>
      </p:sp>
      <p:sp>
        <p:nvSpPr>
          <p:cNvPr id="6" name="Shape 3"/>
          <p:cNvSpPr/>
          <p:nvPr/>
        </p:nvSpPr>
        <p:spPr>
          <a:xfrm>
            <a:off x="535781" y="976908"/>
            <a:ext cx="428625" cy="42862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27" y="1084064"/>
            <a:ext cx="160734" cy="2143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07281" y="900113"/>
            <a:ext cx="1187648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TOP-DOWN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(Memoization)</a:t>
            </a:r>
            <a:endParaRPr lang="en-US" sz="1602" dirty="0"/>
          </a:p>
        </p:txBody>
      </p:sp>
      <p:sp>
        <p:nvSpPr>
          <p:cNvPr id="9" name="Text 5"/>
          <p:cNvSpPr/>
          <p:nvPr/>
        </p:nvSpPr>
        <p:spPr>
          <a:xfrm>
            <a:off x="535781" y="1853803"/>
            <a:ext cx="3893344" cy="44001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from the original problem and recurse downward</a:t>
            </a:r>
            <a:endParaRPr lang="en-US" sz="1159" dirty="0"/>
          </a:p>
        </p:txBody>
      </p:sp>
      <p:sp>
        <p:nvSpPr>
          <p:cNvPr id="10" name="Text 6"/>
          <p:cNvSpPr/>
          <p:nvPr/>
        </p:nvSpPr>
        <p:spPr>
          <a:xfrm>
            <a:off x="535781" y="2436688"/>
            <a:ext cx="3893344" cy="44001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Cache (memoize) results of subproblems as they are computed</a:t>
            </a:r>
            <a:endParaRPr lang="en-US" sz="1159" dirty="0"/>
          </a:p>
        </p:txBody>
      </p:sp>
      <p:sp>
        <p:nvSpPr>
          <p:cNvPr id="11" name="Text 7"/>
          <p:cNvSpPr/>
          <p:nvPr/>
        </p:nvSpPr>
        <p:spPr>
          <a:xfrm>
            <a:off x="535781" y="3019574"/>
            <a:ext cx="3893344" cy="44001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Still uses recursion, but avoids redundant computation</a:t>
            </a:r>
            <a:endParaRPr lang="en-US" sz="1159" dirty="0"/>
          </a:p>
        </p:txBody>
      </p:sp>
      <p:sp>
        <p:nvSpPr>
          <p:cNvPr id="12" name="Shape 8"/>
          <p:cNvSpPr/>
          <p:nvPr/>
        </p:nvSpPr>
        <p:spPr>
          <a:xfrm>
            <a:off x="535781" y="3745334"/>
            <a:ext cx="3893344" cy="101084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9"/>
          <p:cNvSpPr/>
          <p:nvPr/>
        </p:nvSpPr>
        <p:spPr>
          <a:xfrm>
            <a:off x="535781" y="3745334"/>
            <a:ext cx="42863" cy="1010841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4" name="Text 10"/>
          <p:cNvSpPr/>
          <p:nvPr/>
        </p:nvSpPr>
        <p:spPr>
          <a:xfrm>
            <a:off x="714375" y="3923928"/>
            <a:ext cx="353615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THINK</a:t>
            </a:r>
            <a:endParaRPr lang="en-US" sz="784" dirty="0"/>
          </a:p>
        </p:txBody>
      </p:sp>
      <p:sp>
        <p:nvSpPr>
          <p:cNvPr id="15" name="Text 11"/>
          <p:cNvSpPr/>
          <p:nvPr/>
        </p:nvSpPr>
        <p:spPr>
          <a:xfrm>
            <a:off x="714375" y="4141812"/>
            <a:ext cx="3536156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i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"Remember what you've already computed"</a:t>
            </a:r>
            <a:endParaRPr lang="en-US" sz="1193" dirty="0"/>
          </a:p>
        </p:txBody>
      </p:sp>
      <p:sp>
        <p:nvSpPr>
          <p:cNvPr id="16" name="Shape 12"/>
          <p:cNvSpPr/>
          <p:nvPr/>
        </p:nvSpPr>
        <p:spPr>
          <a:xfrm>
            <a:off x="4714875" y="976908"/>
            <a:ext cx="428625" cy="42862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820" y="1084064"/>
            <a:ext cx="160734" cy="21431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86375" y="900113"/>
            <a:ext cx="1307306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BOTTOM-UP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(Tabulation)</a:t>
            </a:r>
            <a:endParaRPr lang="en-US" sz="1602" dirty="0"/>
          </a:p>
        </p:txBody>
      </p:sp>
      <p:sp>
        <p:nvSpPr>
          <p:cNvPr id="19" name="Text 14"/>
          <p:cNvSpPr/>
          <p:nvPr/>
        </p:nvSpPr>
        <p:spPr>
          <a:xfrm>
            <a:off x="4714875" y="1853803"/>
            <a:ext cx="3893344" cy="44001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from the smallest subproblems and build upward</a:t>
            </a:r>
            <a:endParaRPr lang="en-US" sz="1159" dirty="0"/>
          </a:p>
        </p:txBody>
      </p:sp>
      <p:sp>
        <p:nvSpPr>
          <p:cNvPr id="20" name="Text 15"/>
          <p:cNvSpPr/>
          <p:nvPr/>
        </p:nvSpPr>
        <p:spPr>
          <a:xfrm>
            <a:off x="4714875" y="2436688"/>
            <a:ext cx="3893344" cy="22000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Fill a table iteratively in a systematic order</a:t>
            </a:r>
            <a:endParaRPr lang="en-US" sz="1159" dirty="0"/>
          </a:p>
        </p:txBody>
      </p:sp>
      <p:sp>
        <p:nvSpPr>
          <p:cNvPr id="21" name="Text 16"/>
          <p:cNvSpPr/>
          <p:nvPr/>
        </p:nvSpPr>
        <p:spPr>
          <a:xfrm>
            <a:off x="4714875" y="2799569"/>
            <a:ext cx="3893344" cy="22000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recursion needed — uses loops instead</a:t>
            </a:r>
            <a:endParaRPr lang="en-US" sz="1159" dirty="0"/>
          </a:p>
        </p:txBody>
      </p:sp>
      <p:sp>
        <p:nvSpPr>
          <p:cNvPr id="22" name="Shape 17"/>
          <p:cNvSpPr/>
          <p:nvPr/>
        </p:nvSpPr>
        <p:spPr>
          <a:xfrm>
            <a:off x="4714875" y="3305324"/>
            <a:ext cx="3893344" cy="79295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Shape 18"/>
          <p:cNvSpPr/>
          <p:nvPr/>
        </p:nvSpPr>
        <p:spPr>
          <a:xfrm>
            <a:off x="4714875" y="3305324"/>
            <a:ext cx="42863" cy="792956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4" name="Text 19"/>
          <p:cNvSpPr/>
          <p:nvPr/>
        </p:nvSpPr>
        <p:spPr>
          <a:xfrm>
            <a:off x="4893469" y="3483918"/>
            <a:ext cx="353615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THINK</a:t>
            </a:r>
            <a:endParaRPr lang="en-US" sz="784" dirty="0"/>
          </a:p>
        </p:txBody>
      </p:sp>
      <p:sp>
        <p:nvSpPr>
          <p:cNvPr id="25" name="Text 20"/>
          <p:cNvSpPr/>
          <p:nvPr/>
        </p:nvSpPr>
        <p:spPr>
          <a:xfrm>
            <a:off x="4893469" y="3701802"/>
            <a:ext cx="353615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i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"Build the answer from the ground up"</a:t>
            </a:r>
            <a:endParaRPr lang="en-US" sz="1193" dirty="0"/>
          </a:p>
        </p:txBody>
      </p:sp>
      <p:sp>
        <p:nvSpPr>
          <p:cNvPr id="26" name="Shape 21"/>
          <p:cNvSpPr/>
          <p:nvPr/>
        </p:nvSpPr>
        <p:spPr>
          <a:xfrm>
            <a:off x="535781" y="4970487"/>
            <a:ext cx="8072438" cy="3321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2"/>
          <p:cNvSpPr/>
          <p:nvPr/>
        </p:nvSpPr>
        <p:spPr>
          <a:xfrm>
            <a:off x="535781" y="4970487"/>
            <a:ext cx="8072438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Text 23"/>
          <p:cNvSpPr/>
          <p:nvPr/>
        </p:nvSpPr>
        <p:spPr>
          <a:xfrm>
            <a:off x="535781" y="4970487"/>
            <a:ext cx="8072438" cy="332184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Both approaches yield the same time complexity. The choice depends on the problem and personal preference.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00025"/>
            <a:ext cx="8286750" cy="4143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571500"/>
            <a:ext cx="8286750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00025"/>
            <a:ext cx="8286750" cy="414338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Memoization — Fibonacci Transformed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5" y="628650"/>
            <a:ext cx="4057650" cy="18216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 — Array-Based Memo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428625" y="896541"/>
            <a:ext cx="4057650" cy="607219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896541"/>
            <a:ext cx="4057650" cy="607219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&lt;string.h&gt;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memo[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fib_memo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(memo[n]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 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memo[n];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 &lt;=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n; memo[n] =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fib_memo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fib_memo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memo[n]; }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Init: memset(memo, -1,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sizeof(memo));</a:t>
            </a:r>
            <a:pPr algn="l" indent="0" marL="0">
              <a:lnSpc>
                <a:spcPts val="900"/>
              </a:lnSpc>
              <a:buNone/>
            </a:pP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428625" y="1626989"/>
            <a:ext cx="113228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use a global array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1560909" y="1618059"/>
            <a:ext cx="3857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memo[]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1946672" y="1626989"/>
            <a:ext cx="69473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initialized to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2641402" y="1618059"/>
            <a:ext cx="1285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-1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2769989" y="1626989"/>
            <a:ext cx="90189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cache results.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4657725" y="628650"/>
            <a:ext cx="4057650" cy="18216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C++ — STL Map Approach</a:t>
            </a:r>
            <a:endParaRPr lang="en-US" sz="987" dirty="0"/>
          </a:p>
        </p:txBody>
      </p:sp>
      <p:sp>
        <p:nvSpPr>
          <p:cNvPr id="15" name="Shape 12"/>
          <p:cNvSpPr/>
          <p:nvPr/>
        </p:nvSpPr>
        <p:spPr>
          <a:xfrm>
            <a:off x="4657725" y="896541"/>
            <a:ext cx="4057650" cy="607219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Text 13"/>
          <p:cNvSpPr/>
          <p:nvPr/>
        </p:nvSpPr>
        <p:spPr>
          <a:xfrm>
            <a:off x="4657725" y="896541"/>
            <a:ext cx="4057650" cy="607219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&lt;unordered_map&gt;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namespace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std;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unordered_map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fib_memo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(cache.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(n))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cache[n];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 &lt;=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n; cache[n] =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fib_memo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fib_memo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cache[n]; }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4657725" y="1589484"/>
            <a:ext cx="4057650" cy="70028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7738" y="1689497"/>
            <a:ext cx="38576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PERFORMANCE IMPACT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757738" y="1857375"/>
            <a:ext cx="8229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fib_memo(50)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5580720" y="1866305"/>
            <a:ext cx="123944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now returns instantly.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4757738" y="2039038"/>
            <a:ext cx="157698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 complexity drops from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6334720" y="2039038"/>
            <a:ext cx="18930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O(2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6524030" y="2018807"/>
            <a:ext cx="5893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50" b="1" baseline="3000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6582966" y="2039038"/>
            <a:ext cx="4464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6627614" y="2039038"/>
            <a:ext cx="1785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6806208" y="2039038"/>
            <a:ext cx="23395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O(n)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7040166" y="2039038"/>
            <a:ext cx="285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83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00025"/>
            <a:ext cx="8286750" cy="4143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571500"/>
            <a:ext cx="8286750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00025"/>
            <a:ext cx="8286750" cy="414338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Tabulation — Fibonacci Bottom-Up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5" y="628650"/>
            <a:ext cx="4057650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bottom-up approach builds the solution iteratively, filling a table from smallest to largest subproblem.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428625" y="1032942"/>
            <a:ext cx="4057650" cy="66291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032942"/>
            <a:ext cx="4057650" cy="66291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fib_tab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 &lt;=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Initialize table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dp[n +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dp[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dp[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Fill table bottom-up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n; i++) dp[i] = dp[i-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+ dp[i-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dp[n]; }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4657725" y="628650"/>
            <a:ext cx="40576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dp array state for n=7:</a:t>
            </a:r>
            <a:endParaRPr lang="en-US" sz="734" dirty="0"/>
          </a:p>
        </p:txBody>
      </p:sp>
      <p:sp>
        <p:nvSpPr>
          <p:cNvPr id="10" name="Shape 7"/>
          <p:cNvSpPr/>
          <p:nvPr/>
        </p:nvSpPr>
        <p:spPr>
          <a:xfrm>
            <a:off x="4657725" y="894755"/>
            <a:ext cx="342900" cy="342900"/>
          </a:xfrm>
          <a:prstGeom prst="rect">
            <a:avLst/>
          </a:prstGeom>
          <a:solidFill>
            <a:srgbClr val="333333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92731" y="997446"/>
            <a:ext cx="7288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801493" y="751880"/>
            <a:ext cx="55364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</a:t>
            </a:r>
            <a:endParaRPr lang="en-US" sz="584" dirty="0"/>
          </a:p>
        </p:txBody>
      </p:sp>
      <p:sp>
        <p:nvSpPr>
          <p:cNvPr id="13" name="Shape 10"/>
          <p:cNvSpPr/>
          <p:nvPr/>
        </p:nvSpPr>
        <p:spPr>
          <a:xfrm>
            <a:off x="5014913" y="894755"/>
            <a:ext cx="342900" cy="342900"/>
          </a:xfrm>
          <a:prstGeom prst="rect">
            <a:avLst/>
          </a:prstGeom>
          <a:solidFill>
            <a:srgbClr val="333333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49918" y="997446"/>
            <a:ext cx="7288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5166717" y="751880"/>
            <a:ext cx="39291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584" dirty="0"/>
          </a:p>
        </p:txBody>
      </p:sp>
      <p:sp>
        <p:nvSpPr>
          <p:cNvPr id="16" name="Shape 13"/>
          <p:cNvSpPr/>
          <p:nvPr/>
        </p:nvSpPr>
        <p:spPr>
          <a:xfrm>
            <a:off x="5372100" y="894755"/>
            <a:ext cx="342900" cy="342900"/>
          </a:xfrm>
          <a:prstGeom prst="rect">
            <a:avLst/>
          </a:prstGeom>
          <a:solidFill>
            <a:srgbClr val="FFE5D9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07106" y="997446"/>
            <a:ext cx="7288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FF4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5517654" y="751880"/>
            <a:ext cx="51792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584" dirty="0"/>
          </a:p>
        </p:txBody>
      </p:sp>
      <p:sp>
        <p:nvSpPr>
          <p:cNvPr id="19" name="Shape 16"/>
          <p:cNvSpPr/>
          <p:nvPr/>
        </p:nvSpPr>
        <p:spPr>
          <a:xfrm>
            <a:off x="5729288" y="894755"/>
            <a:ext cx="342900" cy="342900"/>
          </a:xfrm>
          <a:prstGeom prst="rect">
            <a:avLst/>
          </a:prstGeom>
          <a:solidFill>
            <a:srgbClr val="FFE5D9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64293" y="997446"/>
            <a:ext cx="7288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FF4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5874841" y="751880"/>
            <a:ext cx="51792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584" dirty="0"/>
          </a:p>
        </p:txBody>
      </p:sp>
      <p:sp>
        <p:nvSpPr>
          <p:cNvPr id="22" name="Shape 19"/>
          <p:cNvSpPr/>
          <p:nvPr/>
        </p:nvSpPr>
        <p:spPr>
          <a:xfrm>
            <a:off x="6086475" y="894755"/>
            <a:ext cx="342900" cy="342900"/>
          </a:xfrm>
          <a:prstGeom prst="rect">
            <a:avLst/>
          </a:prstGeom>
          <a:solidFill>
            <a:srgbClr val="FFE5D9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21481" y="997446"/>
            <a:ext cx="7288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FF4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6230243" y="751880"/>
            <a:ext cx="55364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584" dirty="0"/>
          </a:p>
        </p:txBody>
      </p:sp>
      <p:sp>
        <p:nvSpPr>
          <p:cNvPr id="25" name="Shape 22"/>
          <p:cNvSpPr/>
          <p:nvPr/>
        </p:nvSpPr>
        <p:spPr>
          <a:xfrm>
            <a:off x="6443663" y="894755"/>
            <a:ext cx="342900" cy="342900"/>
          </a:xfrm>
          <a:prstGeom prst="rect">
            <a:avLst/>
          </a:prstGeom>
          <a:solidFill>
            <a:srgbClr val="FFE5D9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78668" y="997446"/>
            <a:ext cx="7288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FF4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6589216" y="751880"/>
            <a:ext cx="51792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584" dirty="0"/>
          </a:p>
        </p:txBody>
      </p:sp>
      <p:sp>
        <p:nvSpPr>
          <p:cNvPr id="28" name="Shape 25"/>
          <p:cNvSpPr/>
          <p:nvPr/>
        </p:nvSpPr>
        <p:spPr>
          <a:xfrm>
            <a:off x="6800850" y="894755"/>
            <a:ext cx="342900" cy="342900"/>
          </a:xfrm>
          <a:prstGeom prst="rect">
            <a:avLst/>
          </a:prstGeom>
          <a:solidFill>
            <a:srgbClr val="FFE5D9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35856" y="997446"/>
            <a:ext cx="7288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FF4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6945511" y="751880"/>
            <a:ext cx="5357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584" dirty="0"/>
          </a:p>
        </p:txBody>
      </p:sp>
      <p:sp>
        <p:nvSpPr>
          <p:cNvPr id="31" name="Shape 28"/>
          <p:cNvSpPr/>
          <p:nvPr/>
        </p:nvSpPr>
        <p:spPr>
          <a:xfrm>
            <a:off x="7158038" y="894755"/>
            <a:ext cx="342900" cy="342900"/>
          </a:xfrm>
          <a:prstGeom prst="rect">
            <a:avLst/>
          </a:prstGeom>
          <a:solidFill>
            <a:srgbClr val="FFE5D9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56599" y="997446"/>
            <a:ext cx="14577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FF4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7305377" y="751880"/>
            <a:ext cx="48220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584" dirty="0"/>
          </a:p>
        </p:txBody>
      </p:sp>
      <p:sp>
        <p:nvSpPr>
          <p:cNvPr id="34" name="Shape 31"/>
          <p:cNvSpPr/>
          <p:nvPr/>
        </p:nvSpPr>
        <p:spPr>
          <a:xfrm>
            <a:off x="4657725" y="1294805"/>
            <a:ext cx="4057650" cy="88582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5" name="Shape 32"/>
          <p:cNvSpPr/>
          <p:nvPr/>
        </p:nvSpPr>
        <p:spPr>
          <a:xfrm>
            <a:off x="4657725" y="1294805"/>
            <a:ext cx="28575" cy="88582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6" name="Text 33"/>
          <p:cNvSpPr/>
          <p:nvPr/>
        </p:nvSpPr>
        <p:spPr>
          <a:xfrm>
            <a:off x="4757738" y="1380530"/>
            <a:ext cx="38576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dp[2] = dp[1] + dp[0] = 1 + 0 = 1</a:t>
            </a:r>
            <a:endParaRPr lang="en-US" sz="727" dirty="0"/>
          </a:p>
        </p:txBody>
      </p:sp>
      <p:sp>
        <p:nvSpPr>
          <p:cNvPr id="37" name="Text 34"/>
          <p:cNvSpPr/>
          <p:nvPr/>
        </p:nvSpPr>
        <p:spPr>
          <a:xfrm>
            <a:off x="4757738" y="1530548"/>
            <a:ext cx="38576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dp[3] = dp[2] + dp[1] = 1 + 1 = 2</a:t>
            </a:r>
            <a:endParaRPr lang="en-US" sz="727" dirty="0"/>
          </a:p>
        </p:txBody>
      </p:sp>
      <p:sp>
        <p:nvSpPr>
          <p:cNvPr id="38" name="Text 35"/>
          <p:cNvSpPr/>
          <p:nvPr/>
        </p:nvSpPr>
        <p:spPr>
          <a:xfrm>
            <a:off x="4757738" y="1680567"/>
            <a:ext cx="38576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dp[4] = dp[3] + dp[2] = 2 + 1 = 3</a:t>
            </a:r>
            <a:endParaRPr lang="en-US" sz="727" dirty="0"/>
          </a:p>
        </p:txBody>
      </p:sp>
      <p:sp>
        <p:nvSpPr>
          <p:cNvPr id="39" name="Text 36"/>
          <p:cNvSpPr/>
          <p:nvPr/>
        </p:nvSpPr>
        <p:spPr>
          <a:xfrm>
            <a:off x="4757738" y="1830586"/>
            <a:ext cx="38576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727" dirty="0"/>
          </a:p>
        </p:txBody>
      </p:sp>
      <p:sp>
        <p:nvSpPr>
          <p:cNvPr id="40" name="Text 37"/>
          <p:cNvSpPr/>
          <p:nvPr/>
        </p:nvSpPr>
        <p:spPr>
          <a:xfrm>
            <a:off x="4757738" y="1980605"/>
            <a:ext cx="38576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dp[7] = dp[6] + dp[5] = 8 + 5 = 13</a:t>
            </a:r>
            <a:endParaRPr lang="en-US" sz="727" dirty="0"/>
          </a:p>
        </p:txBody>
      </p:sp>
      <p:sp>
        <p:nvSpPr>
          <p:cNvPr id="41" name="Shape 38"/>
          <p:cNvSpPr/>
          <p:nvPr/>
        </p:nvSpPr>
        <p:spPr>
          <a:xfrm>
            <a:off x="4657725" y="2237780"/>
            <a:ext cx="4057650" cy="28932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2" name="Text 39"/>
          <p:cNvSpPr/>
          <p:nvPr/>
        </p:nvSpPr>
        <p:spPr>
          <a:xfrm>
            <a:off x="4757738" y="2309217"/>
            <a:ext cx="55542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Time: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O(n)</a:t>
            </a:r>
            <a:endParaRPr lang="en-US" sz="784" dirty="0"/>
          </a:p>
        </p:txBody>
      </p:sp>
      <p:sp>
        <p:nvSpPr>
          <p:cNvPr id="43" name="Text 40"/>
          <p:cNvSpPr/>
          <p:nvPr/>
        </p:nvSpPr>
        <p:spPr>
          <a:xfrm>
            <a:off x="5922169" y="2309217"/>
            <a:ext cx="6357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Space: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O(n)</a:t>
            </a:r>
            <a:endParaRPr lang="en-US" sz="784" dirty="0"/>
          </a:p>
        </p:txBody>
      </p:sp>
      <p:sp>
        <p:nvSpPr>
          <p:cNvPr id="44" name="Text 41"/>
          <p:cNvSpPr/>
          <p:nvPr/>
        </p:nvSpPr>
        <p:spPr>
          <a:xfrm>
            <a:off x="7166967" y="2332713"/>
            <a:ext cx="136445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Massive improvement over O(2</a:t>
            </a:r>
            <a:endParaRPr lang="en-US" sz="674" dirty="0"/>
          </a:p>
        </p:txBody>
      </p:sp>
      <p:sp>
        <p:nvSpPr>
          <p:cNvPr id="45" name="Text 42"/>
          <p:cNvSpPr/>
          <p:nvPr/>
        </p:nvSpPr>
        <p:spPr>
          <a:xfrm>
            <a:off x="8531423" y="2314268"/>
            <a:ext cx="4822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59" baseline="300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</a:t>
            </a:r>
            <a:endParaRPr lang="en-US" sz="559" dirty="0"/>
          </a:p>
        </p:txBody>
      </p:sp>
      <p:sp>
        <p:nvSpPr>
          <p:cNvPr id="46" name="Text 43"/>
          <p:cNvSpPr/>
          <p:nvPr/>
        </p:nvSpPr>
        <p:spPr>
          <a:xfrm>
            <a:off x="8579644" y="2332713"/>
            <a:ext cx="3571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</a:t>
            </a:r>
            <a:endParaRPr lang="en-US" sz="67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0063" y="228600"/>
            <a:ext cx="8143875" cy="47505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00063" y="660797"/>
            <a:ext cx="8143875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00063" y="228600"/>
            <a:ext cx="8143875" cy="475059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12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Space Optimization — Fibonacci in O(1) Space</a:t>
            </a:r>
            <a:endParaRPr lang="en-US" sz="1912" dirty="0"/>
          </a:p>
        </p:txBody>
      </p:sp>
      <p:sp>
        <p:nvSpPr>
          <p:cNvPr id="6" name="Text 3"/>
          <p:cNvSpPr/>
          <p:nvPr/>
        </p:nvSpPr>
        <p:spPr>
          <a:xfrm>
            <a:off x="500063" y="732234"/>
            <a:ext cx="3971925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Since each Fibonacci number depends only on the previous two, we don't need the entire array.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00063" y="1523712"/>
            <a:ext cx="3971925" cy="102571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5"/>
          <p:cNvSpPr/>
          <p:nvPr/>
        </p:nvSpPr>
        <p:spPr>
          <a:xfrm>
            <a:off x="500063" y="1523712"/>
            <a:ext cx="3971925" cy="1025714"/>
          </a:xfrm>
          <a:prstGeom prst="rect">
            <a:avLst/>
          </a:prstGeom>
          <a:noFill/>
          <a:ln/>
        </p:spPr>
        <p:txBody>
          <a:bodyPr wrap="square" lIns="110617" tIns="93599" rIns="110617" bIns="9359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fib_optimized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 &lt;=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n;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prev2 =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prev1 =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 n; i++) {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curr = prev1 + prev2; prev2 =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prev1; prev1 = curr; }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prev1; }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O(1)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 — only two variables!</a:t>
            </a:r>
            <a:pPr algn="l" indent="0" marL="0">
              <a:lnSpc>
                <a:spcPts val="1400"/>
              </a:lnSpc>
              <a:buNone/>
            </a:pPr>
            <a:endParaRPr lang="en-US" sz="996" dirty="0"/>
          </a:p>
        </p:txBody>
      </p:sp>
      <p:sp>
        <p:nvSpPr>
          <p:cNvPr id="9" name="Shape 6"/>
          <p:cNvSpPr/>
          <p:nvPr/>
        </p:nvSpPr>
        <p:spPr>
          <a:xfrm>
            <a:off x="4672013" y="732234"/>
            <a:ext cx="3971925" cy="1960959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0" name="Shape 7"/>
          <p:cNvSpPr/>
          <p:nvPr/>
        </p:nvSpPr>
        <p:spPr>
          <a:xfrm>
            <a:off x="4672013" y="732234"/>
            <a:ext cx="28575" cy="1960959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8"/>
          <p:cNvSpPr/>
          <p:nvPr/>
        </p:nvSpPr>
        <p:spPr>
          <a:xfrm>
            <a:off x="4886325" y="946547"/>
            <a:ext cx="35433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SLIDING WINDOW</a:t>
            </a:r>
            <a:endParaRPr lang="en-US" sz="987" dirty="0"/>
          </a:p>
        </p:txBody>
      </p:sp>
      <p:sp>
        <p:nvSpPr>
          <p:cNvPr id="12" name="Shape 9"/>
          <p:cNvSpPr/>
          <p:nvPr/>
        </p:nvSpPr>
        <p:spPr>
          <a:xfrm>
            <a:off x="4886325" y="1271588"/>
            <a:ext cx="571500" cy="571500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36344" y="1367135"/>
            <a:ext cx="2714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prev2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5120283" y="1529655"/>
            <a:ext cx="10358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193" dirty="0"/>
          </a:p>
        </p:txBody>
      </p:sp>
      <p:sp>
        <p:nvSpPr>
          <p:cNvPr id="15" name="Shape 12"/>
          <p:cNvSpPr/>
          <p:nvPr/>
        </p:nvSpPr>
        <p:spPr>
          <a:xfrm>
            <a:off x="5564981" y="1271588"/>
            <a:ext cx="571500" cy="571500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24823" y="1367135"/>
            <a:ext cx="25181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prev1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5798939" y="1529655"/>
            <a:ext cx="10358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193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638" y="1466255"/>
            <a:ext cx="150019" cy="17145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500813" y="1271588"/>
            <a:ext cx="571500" cy="571500"/>
          </a:xfrm>
          <a:prstGeom prst="rect">
            <a:avLst/>
          </a:prstGeom>
          <a:solidFill>
            <a:srgbClr val="FFF0E6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07969" y="1367135"/>
            <a:ext cx="3571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current</a:t>
            </a:r>
            <a:endParaRPr lang="en-US" sz="727" dirty="0"/>
          </a:p>
        </p:txBody>
      </p:sp>
      <p:sp>
        <p:nvSpPr>
          <p:cNvPr id="21" name="Text 17"/>
          <p:cNvSpPr/>
          <p:nvPr/>
        </p:nvSpPr>
        <p:spPr>
          <a:xfrm>
            <a:off x="6734770" y="1529655"/>
            <a:ext cx="10358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</a:t>
            </a:r>
            <a:endParaRPr lang="en-US" sz="1193" dirty="0"/>
          </a:p>
        </p:txBody>
      </p:sp>
      <p:sp>
        <p:nvSpPr>
          <p:cNvPr id="22" name="Text 18"/>
          <p:cNvSpPr/>
          <p:nvPr/>
        </p:nvSpPr>
        <p:spPr>
          <a:xfrm>
            <a:off x="4886325" y="1985963"/>
            <a:ext cx="3543300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 iteration:</a:t>
            </a:r>
            <a:pPr algn="l" indent="0" marL="0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prev2 ← 5 (old prev1)</a:t>
            </a:r>
            <a:pPr algn="l" indent="0" marL="0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prev1 ← 8 (old current)</a:t>
            </a:r>
            <a:endParaRPr lang="en-US" sz="942" dirty="0"/>
          </a:p>
        </p:txBody>
      </p:sp>
      <p:sp>
        <p:nvSpPr>
          <p:cNvPr id="23" name="Shape 19"/>
          <p:cNvSpPr/>
          <p:nvPr/>
        </p:nvSpPr>
        <p:spPr>
          <a:xfrm>
            <a:off x="4672013" y="2764631"/>
            <a:ext cx="3971925" cy="12494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0"/>
          <p:cNvSpPr/>
          <p:nvPr/>
        </p:nvSpPr>
        <p:spPr>
          <a:xfrm>
            <a:off x="4772025" y="2843213"/>
            <a:ext cx="126265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 Complexity</a:t>
            </a:r>
            <a:endParaRPr lang="en-US" sz="1159" dirty="0"/>
          </a:p>
        </p:txBody>
      </p:sp>
      <p:sp>
        <p:nvSpPr>
          <p:cNvPr id="25" name="Text 21"/>
          <p:cNvSpPr/>
          <p:nvPr/>
        </p:nvSpPr>
        <p:spPr>
          <a:xfrm>
            <a:off x="8220670" y="2843213"/>
            <a:ext cx="323255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O(n)</a:t>
            </a:r>
            <a:endParaRPr lang="en-US" sz="1090" dirty="0"/>
          </a:p>
        </p:txBody>
      </p:sp>
      <p:sp>
        <p:nvSpPr>
          <p:cNvPr id="26" name="Text 22"/>
          <p:cNvSpPr/>
          <p:nvPr/>
        </p:nvSpPr>
        <p:spPr>
          <a:xfrm>
            <a:off x="4772025" y="3152180"/>
            <a:ext cx="1378744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Space Complexity</a:t>
            </a:r>
            <a:endParaRPr lang="en-US" sz="1159" dirty="0"/>
          </a:p>
        </p:txBody>
      </p:sp>
      <p:sp>
        <p:nvSpPr>
          <p:cNvPr id="27" name="Text 23"/>
          <p:cNvSpPr/>
          <p:nvPr/>
        </p:nvSpPr>
        <p:spPr>
          <a:xfrm>
            <a:off x="8249245" y="3152180"/>
            <a:ext cx="294680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O(1)</a:t>
            </a:r>
            <a:endParaRPr lang="en-US" sz="1090" dirty="0"/>
          </a:p>
        </p:txBody>
      </p:sp>
      <p:sp>
        <p:nvSpPr>
          <p:cNvPr id="28" name="Text 24"/>
          <p:cNvSpPr/>
          <p:nvPr/>
        </p:nvSpPr>
        <p:spPr>
          <a:xfrm>
            <a:off x="4772025" y="3461147"/>
            <a:ext cx="3771900" cy="474334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Common DP optimization: when recurrence depends on fixed k previous states, space can be reduced to O(k).</a:t>
            </a:r>
            <a:endParaRPr lang="en-US" sz="94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57238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Performance Comparison Summary — Fibonacci</a:t>
            </a:r>
            <a:endParaRPr lang="en-US" sz="2226" dirty="0"/>
          </a:p>
        </p:txBody>
      </p:sp>
      <p:sp>
        <p:nvSpPr>
          <p:cNvPr id="6" name="Shape 3"/>
          <p:cNvSpPr/>
          <p:nvPr/>
        </p:nvSpPr>
        <p:spPr>
          <a:xfrm>
            <a:off x="535781" y="900113"/>
            <a:ext cx="2078022" cy="45005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535781" y="900113"/>
            <a:ext cx="2078022" cy="4500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APPROACH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2613803" y="900113"/>
            <a:ext cx="1940728" cy="45005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2613803" y="900113"/>
            <a:ext cx="1940728" cy="4500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 COMPLEXITY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4554531" y="900113"/>
            <a:ext cx="2068702" cy="45005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4554531" y="900113"/>
            <a:ext cx="2068702" cy="4500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SPACE COMPLEXITY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6623233" y="900113"/>
            <a:ext cx="1984986" cy="45005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6623233" y="900113"/>
            <a:ext cx="1984986" cy="4500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FIB(40) TIME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535781" y="1350169"/>
            <a:ext cx="2078022" cy="51850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Naive Recursion</a:t>
            </a:r>
            <a:endParaRPr lang="en-US" sz="1159" dirty="0"/>
          </a:p>
        </p:txBody>
      </p:sp>
      <p:sp>
        <p:nvSpPr>
          <p:cNvPr id="15" name="Text 12"/>
          <p:cNvSpPr/>
          <p:nvPr/>
        </p:nvSpPr>
        <p:spPr>
          <a:xfrm>
            <a:off x="2756678" y="1520419"/>
            <a:ext cx="260747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O(2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3017425" y="1493044"/>
            <a:ext cx="8036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2" b="1" baseline="3000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</a:t>
            </a:r>
            <a:endParaRPr lang="en-US" sz="902" dirty="0"/>
          </a:p>
        </p:txBody>
      </p:sp>
      <p:sp>
        <p:nvSpPr>
          <p:cNvPr id="17" name="Text 14"/>
          <p:cNvSpPr/>
          <p:nvPr/>
        </p:nvSpPr>
        <p:spPr>
          <a:xfrm>
            <a:off x="3097792" y="1520419"/>
            <a:ext cx="60722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4554531" y="1350169"/>
            <a:ext cx="2068702" cy="51850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O(n) stack</a:t>
            </a:r>
            <a:endParaRPr lang="en-US" sz="1159" dirty="0"/>
          </a:p>
        </p:txBody>
      </p:sp>
      <p:sp>
        <p:nvSpPr>
          <p:cNvPr id="19" name="Text 16"/>
          <p:cNvSpPr/>
          <p:nvPr/>
        </p:nvSpPr>
        <p:spPr>
          <a:xfrm>
            <a:off x="6623233" y="1350169"/>
            <a:ext cx="1984986" cy="51850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~35 seconds</a:t>
            </a:r>
            <a:endParaRPr lang="en-US" sz="1090" dirty="0"/>
          </a:p>
        </p:txBody>
      </p:sp>
      <p:sp>
        <p:nvSpPr>
          <p:cNvPr id="20" name="Shape 17"/>
          <p:cNvSpPr/>
          <p:nvPr/>
        </p:nvSpPr>
        <p:spPr>
          <a:xfrm>
            <a:off x="535781" y="1868677"/>
            <a:ext cx="8072438" cy="49470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8"/>
          <p:cNvSpPr/>
          <p:nvPr/>
        </p:nvSpPr>
        <p:spPr>
          <a:xfrm>
            <a:off x="535781" y="1868677"/>
            <a:ext cx="2078022" cy="49470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Memoization</a:t>
            </a:r>
            <a:endParaRPr lang="en-US" sz="1159" dirty="0"/>
          </a:p>
        </p:txBody>
      </p:sp>
      <p:sp>
        <p:nvSpPr>
          <p:cNvPr id="22" name="Text 19"/>
          <p:cNvSpPr/>
          <p:nvPr/>
        </p:nvSpPr>
        <p:spPr>
          <a:xfrm>
            <a:off x="2613803" y="1868677"/>
            <a:ext cx="1940728" cy="49470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O(n)</a:t>
            </a:r>
            <a:endParaRPr lang="en-US" sz="1090" dirty="0"/>
          </a:p>
        </p:txBody>
      </p:sp>
      <p:sp>
        <p:nvSpPr>
          <p:cNvPr id="23" name="Text 20"/>
          <p:cNvSpPr/>
          <p:nvPr/>
        </p:nvSpPr>
        <p:spPr>
          <a:xfrm>
            <a:off x="4554531" y="1868677"/>
            <a:ext cx="2068702" cy="49470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O(n)</a:t>
            </a:r>
            <a:endParaRPr lang="en-US" sz="1159" dirty="0"/>
          </a:p>
        </p:txBody>
      </p:sp>
      <p:sp>
        <p:nvSpPr>
          <p:cNvPr id="24" name="Text 21"/>
          <p:cNvSpPr/>
          <p:nvPr/>
        </p:nvSpPr>
        <p:spPr>
          <a:xfrm>
            <a:off x="6623233" y="1868677"/>
            <a:ext cx="1984986" cy="49470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 0.001 seconds</a:t>
            </a:r>
            <a:endParaRPr lang="en-US" sz="1090" dirty="0"/>
          </a:p>
        </p:txBody>
      </p:sp>
      <p:sp>
        <p:nvSpPr>
          <p:cNvPr id="25" name="Text 22"/>
          <p:cNvSpPr/>
          <p:nvPr/>
        </p:nvSpPr>
        <p:spPr>
          <a:xfrm>
            <a:off x="535781" y="2363381"/>
            <a:ext cx="2078022" cy="49470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Tabulation</a:t>
            </a:r>
            <a:endParaRPr lang="en-US" sz="1159" dirty="0"/>
          </a:p>
        </p:txBody>
      </p:sp>
      <p:sp>
        <p:nvSpPr>
          <p:cNvPr id="26" name="Text 23"/>
          <p:cNvSpPr/>
          <p:nvPr/>
        </p:nvSpPr>
        <p:spPr>
          <a:xfrm>
            <a:off x="2613803" y="2363381"/>
            <a:ext cx="1940728" cy="49470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O(n)</a:t>
            </a:r>
            <a:endParaRPr lang="en-US" sz="1090" dirty="0"/>
          </a:p>
        </p:txBody>
      </p:sp>
      <p:sp>
        <p:nvSpPr>
          <p:cNvPr id="27" name="Text 24"/>
          <p:cNvSpPr/>
          <p:nvPr/>
        </p:nvSpPr>
        <p:spPr>
          <a:xfrm>
            <a:off x="4554531" y="2363381"/>
            <a:ext cx="2068702" cy="49470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O(n)</a:t>
            </a:r>
            <a:endParaRPr lang="en-US" sz="1159" dirty="0"/>
          </a:p>
        </p:txBody>
      </p:sp>
      <p:sp>
        <p:nvSpPr>
          <p:cNvPr id="28" name="Text 25"/>
          <p:cNvSpPr/>
          <p:nvPr/>
        </p:nvSpPr>
        <p:spPr>
          <a:xfrm>
            <a:off x="6623233" y="2363381"/>
            <a:ext cx="1984986" cy="49470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 0.001 seconds</a:t>
            </a:r>
            <a:endParaRPr lang="en-US" sz="1090" dirty="0"/>
          </a:p>
        </p:txBody>
      </p:sp>
      <p:sp>
        <p:nvSpPr>
          <p:cNvPr id="29" name="Shape 26"/>
          <p:cNvSpPr/>
          <p:nvPr/>
        </p:nvSpPr>
        <p:spPr>
          <a:xfrm>
            <a:off x="535781" y="2858086"/>
            <a:ext cx="8072438" cy="49470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Text 27"/>
          <p:cNvSpPr/>
          <p:nvPr/>
        </p:nvSpPr>
        <p:spPr>
          <a:xfrm>
            <a:off x="535781" y="2858086"/>
            <a:ext cx="2078022" cy="49470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Space-Optimized</a:t>
            </a:r>
            <a:endParaRPr lang="en-US" sz="1159" dirty="0"/>
          </a:p>
        </p:txBody>
      </p:sp>
      <p:sp>
        <p:nvSpPr>
          <p:cNvPr id="31" name="Text 28"/>
          <p:cNvSpPr/>
          <p:nvPr/>
        </p:nvSpPr>
        <p:spPr>
          <a:xfrm>
            <a:off x="2613803" y="2858086"/>
            <a:ext cx="1940728" cy="49470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O(n)</a:t>
            </a:r>
            <a:endParaRPr lang="en-US" sz="1090" dirty="0"/>
          </a:p>
        </p:txBody>
      </p:sp>
      <p:sp>
        <p:nvSpPr>
          <p:cNvPr id="32" name="Text 29"/>
          <p:cNvSpPr/>
          <p:nvPr/>
        </p:nvSpPr>
        <p:spPr>
          <a:xfrm>
            <a:off x="4554531" y="2858086"/>
            <a:ext cx="2068702" cy="49470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O(1)</a:t>
            </a:r>
            <a:endParaRPr lang="en-US" sz="1090" dirty="0"/>
          </a:p>
        </p:txBody>
      </p:sp>
      <p:sp>
        <p:nvSpPr>
          <p:cNvPr id="33" name="Text 30"/>
          <p:cNvSpPr/>
          <p:nvPr/>
        </p:nvSpPr>
        <p:spPr>
          <a:xfrm>
            <a:off x="6623233" y="2858086"/>
            <a:ext cx="1984986" cy="49470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 0.001 seconds</a:t>
            </a:r>
            <a:endParaRPr lang="en-US" sz="1090" dirty="0"/>
          </a:p>
        </p:txBody>
      </p:sp>
      <p:sp>
        <p:nvSpPr>
          <p:cNvPr id="34" name="Shape 31"/>
          <p:cNvSpPr/>
          <p:nvPr/>
        </p:nvSpPr>
        <p:spPr>
          <a:xfrm>
            <a:off x="535781" y="3642113"/>
            <a:ext cx="8072438" cy="1147828"/>
          </a:xfrm>
          <a:prstGeom prst="rect">
            <a:avLst/>
          </a:prstGeom>
          <a:solidFill>
            <a:srgbClr val="FFF0E6"/>
          </a:solidFill>
          <a:ln/>
        </p:spPr>
      </p:sp>
      <p:sp>
        <p:nvSpPr>
          <p:cNvPr id="35" name="Shape 32"/>
          <p:cNvSpPr/>
          <p:nvPr/>
        </p:nvSpPr>
        <p:spPr>
          <a:xfrm>
            <a:off x="535781" y="3642113"/>
            <a:ext cx="42863" cy="1147828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36" name="Text 33"/>
          <p:cNvSpPr/>
          <p:nvPr/>
        </p:nvSpPr>
        <p:spPr>
          <a:xfrm>
            <a:off x="750094" y="3856425"/>
            <a:ext cx="764381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POWER OF DYNAMIC PROGRAMMING</a:t>
            </a:r>
            <a:endParaRPr lang="en-US" sz="987" dirty="0"/>
          </a:p>
        </p:txBody>
      </p:sp>
      <p:sp>
        <p:nvSpPr>
          <p:cNvPr id="37" name="Text 34"/>
          <p:cNvSpPr/>
          <p:nvPr/>
        </p:nvSpPr>
        <p:spPr>
          <a:xfrm>
            <a:off x="750094" y="4144547"/>
            <a:ext cx="1087636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leap from</a:t>
            </a:r>
            <a:endParaRPr lang="en-US" sz="1159" dirty="0"/>
          </a:p>
        </p:txBody>
      </p:sp>
      <p:sp>
        <p:nvSpPr>
          <p:cNvPr id="38" name="Text 35"/>
          <p:cNvSpPr/>
          <p:nvPr/>
        </p:nvSpPr>
        <p:spPr>
          <a:xfrm>
            <a:off x="1837730" y="4144547"/>
            <a:ext cx="260747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O(2</a:t>
            </a:r>
            <a:endParaRPr lang="en-US" sz="1090" dirty="0"/>
          </a:p>
        </p:txBody>
      </p:sp>
      <p:sp>
        <p:nvSpPr>
          <p:cNvPr id="39" name="Text 36"/>
          <p:cNvSpPr/>
          <p:nvPr/>
        </p:nvSpPr>
        <p:spPr>
          <a:xfrm>
            <a:off x="2098477" y="4117172"/>
            <a:ext cx="8036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2" b="1" baseline="3000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</a:t>
            </a:r>
            <a:endParaRPr lang="en-US" sz="902" dirty="0"/>
          </a:p>
        </p:txBody>
      </p:sp>
      <p:sp>
        <p:nvSpPr>
          <p:cNvPr id="40" name="Text 37"/>
          <p:cNvSpPr/>
          <p:nvPr/>
        </p:nvSpPr>
        <p:spPr>
          <a:xfrm>
            <a:off x="2178844" y="4144547"/>
            <a:ext cx="60722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</a:t>
            </a:r>
            <a:endParaRPr lang="en-US" sz="1090" dirty="0"/>
          </a:p>
        </p:txBody>
      </p:sp>
      <p:sp>
        <p:nvSpPr>
          <p:cNvPr id="41" name="Text 38"/>
          <p:cNvSpPr/>
          <p:nvPr/>
        </p:nvSpPr>
        <p:spPr>
          <a:xfrm>
            <a:off x="2239566" y="4144547"/>
            <a:ext cx="246459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</a:t>
            </a:r>
            <a:endParaRPr lang="en-US" sz="1159" dirty="0"/>
          </a:p>
        </p:txBody>
      </p:sp>
      <p:sp>
        <p:nvSpPr>
          <p:cNvPr id="42" name="Text 39"/>
          <p:cNvSpPr/>
          <p:nvPr/>
        </p:nvSpPr>
        <p:spPr>
          <a:xfrm>
            <a:off x="2486025" y="4144547"/>
            <a:ext cx="323255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O(n)</a:t>
            </a:r>
            <a:endParaRPr lang="en-US" sz="1090" dirty="0"/>
          </a:p>
        </p:txBody>
      </p:sp>
      <p:sp>
        <p:nvSpPr>
          <p:cNvPr id="43" name="Text 40"/>
          <p:cNvSpPr/>
          <p:nvPr/>
        </p:nvSpPr>
        <p:spPr>
          <a:xfrm>
            <a:off x="2809280" y="4144547"/>
            <a:ext cx="84474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massive.</a:t>
            </a:r>
            <a:endParaRPr lang="en-US" sz="1159" dirty="0"/>
          </a:p>
        </p:txBody>
      </p:sp>
      <p:sp>
        <p:nvSpPr>
          <p:cNvPr id="44" name="Text 41"/>
          <p:cNvSpPr/>
          <p:nvPr/>
        </p:nvSpPr>
        <p:spPr>
          <a:xfrm>
            <a:off x="750094" y="4364552"/>
            <a:ext cx="2687836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n=40, that is a speedup of over</a:t>
            </a:r>
            <a:endParaRPr lang="en-US" sz="1159" dirty="0"/>
          </a:p>
        </p:txBody>
      </p:sp>
      <p:sp>
        <p:nvSpPr>
          <p:cNvPr id="45" name="Text 42"/>
          <p:cNvSpPr/>
          <p:nvPr/>
        </p:nvSpPr>
        <p:spPr>
          <a:xfrm>
            <a:off x="3437930" y="4364552"/>
            <a:ext cx="1289447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300 million times</a:t>
            </a:r>
            <a:endParaRPr lang="en-US" sz="1090" dirty="0"/>
          </a:p>
        </p:txBody>
      </p:sp>
      <p:sp>
        <p:nvSpPr>
          <p:cNvPr id="46" name="Text 43"/>
          <p:cNvSpPr/>
          <p:nvPr/>
        </p:nvSpPr>
        <p:spPr>
          <a:xfrm>
            <a:off x="4727377" y="4364552"/>
            <a:ext cx="3929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159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00025"/>
            <a:ext cx="8286750" cy="4143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571500"/>
            <a:ext cx="8286750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00025"/>
            <a:ext cx="8286750" cy="414338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Memoization vs Tabulation — When to Use Which</a:t>
            </a:r>
            <a:endParaRPr lang="en-US" sz="1808" dirty="0"/>
          </a:p>
        </p:txBody>
      </p:sp>
      <p:sp>
        <p:nvSpPr>
          <p:cNvPr id="6" name="Shape 3"/>
          <p:cNvSpPr/>
          <p:nvPr/>
        </p:nvSpPr>
        <p:spPr>
          <a:xfrm>
            <a:off x="428625" y="628650"/>
            <a:ext cx="1657350" cy="24110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628650"/>
            <a:ext cx="1657350" cy="241102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ASPECT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2085975" y="628650"/>
            <a:ext cx="3314700" cy="24110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2085975" y="628650"/>
            <a:ext cx="3314700" cy="241102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MEMOIZATION (TOP-DOWN)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5400675" y="628650"/>
            <a:ext cx="3314700" cy="24110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5400675" y="628650"/>
            <a:ext cx="3314700" cy="241102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TABULATION (BOTTOM-UP)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428625" y="869752"/>
            <a:ext cx="1657350" cy="278606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2085975" y="869752"/>
            <a:ext cx="3314700" cy="278606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Recursive + cache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5400675" y="869752"/>
            <a:ext cx="3314700" cy="278606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Iterative + table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428625" y="1148358"/>
            <a:ext cx="8286750" cy="282178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6" name="Text 13"/>
          <p:cNvSpPr/>
          <p:nvPr/>
        </p:nvSpPr>
        <p:spPr>
          <a:xfrm>
            <a:off x="428625" y="1148358"/>
            <a:ext cx="1657350" cy="282178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Subproblems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2085975" y="1148358"/>
            <a:ext cx="3314700" cy="282178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88E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Only those needed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5400675" y="1148358"/>
            <a:ext cx="3314700" cy="282178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 subproblems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428625" y="1430536"/>
            <a:ext cx="1657350" cy="282178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 Overflow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2085975" y="1430536"/>
            <a:ext cx="3314700" cy="282178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D32F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Yes (deep recursion)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5400675" y="1430536"/>
            <a:ext cx="3314700" cy="282178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88E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</a:t>
            </a:r>
            <a:endParaRPr lang="en-US" sz="834" dirty="0"/>
          </a:p>
        </p:txBody>
      </p:sp>
      <p:sp>
        <p:nvSpPr>
          <p:cNvPr id="22" name="Shape 19"/>
          <p:cNvSpPr/>
          <p:nvPr/>
        </p:nvSpPr>
        <p:spPr>
          <a:xfrm>
            <a:off x="428625" y="1712714"/>
            <a:ext cx="8286750" cy="282178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3" name="Text 20"/>
          <p:cNvSpPr/>
          <p:nvPr/>
        </p:nvSpPr>
        <p:spPr>
          <a:xfrm>
            <a:off x="428625" y="1712714"/>
            <a:ext cx="1657350" cy="282178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Readability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2085975" y="1712714"/>
            <a:ext cx="3314700" cy="282178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88E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Often more intuitive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5400675" y="1712714"/>
            <a:ext cx="3314700" cy="282178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Sometimes less obvious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428625" y="1994892"/>
            <a:ext cx="1657350" cy="282178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Space Opt.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2085975" y="1994892"/>
            <a:ext cx="3314700" cy="282178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Harder to optimize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5400675" y="1994892"/>
            <a:ext cx="3314700" cy="282178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88E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Easier to optimize</a:t>
            </a:r>
            <a:endParaRPr lang="en-US" sz="834" dirty="0"/>
          </a:p>
        </p:txBody>
      </p:sp>
      <p:sp>
        <p:nvSpPr>
          <p:cNvPr id="29" name="Shape 26"/>
          <p:cNvSpPr/>
          <p:nvPr/>
        </p:nvSpPr>
        <p:spPr>
          <a:xfrm>
            <a:off x="428625" y="2277070"/>
            <a:ext cx="8286750" cy="27860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0" name="Text 27"/>
          <p:cNvSpPr/>
          <p:nvPr/>
        </p:nvSpPr>
        <p:spPr>
          <a:xfrm>
            <a:off x="428625" y="2277070"/>
            <a:ext cx="1657350" cy="278606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Debugging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2085975" y="2277070"/>
            <a:ext cx="3314700" cy="278606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Harder to trace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5400675" y="2277070"/>
            <a:ext cx="3314700" cy="278606"/>
          </a:xfrm>
          <a:prstGeom prst="rect">
            <a:avLst/>
          </a:prstGeom>
          <a:noFill/>
          <a:ln/>
        </p:spPr>
        <p:txBody>
          <a:bodyPr wrap="square" lIns="119126" tIns="76581" rIns="119126" bIns="76581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88E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Easier to trace</a:t>
            </a:r>
            <a:endParaRPr lang="en-US" sz="834" dirty="0"/>
          </a:p>
        </p:txBody>
      </p:sp>
      <p:sp>
        <p:nvSpPr>
          <p:cNvPr id="33" name="Shape 30"/>
          <p:cNvSpPr/>
          <p:nvPr/>
        </p:nvSpPr>
        <p:spPr>
          <a:xfrm>
            <a:off x="428625" y="2627114"/>
            <a:ext cx="8286750" cy="536116"/>
          </a:xfrm>
          <a:prstGeom prst="rect">
            <a:avLst/>
          </a:prstGeom>
          <a:solidFill>
            <a:srgbClr val="FFF0E6"/>
          </a:solidFill>
          <a:ln/>
        </p:spPr>
      </p:sp>
      <p:sp>
        <p:nvSpPr>
          <p:cNvPr id="34" name="Shape 31"/>
          <p:cNvSpPr/>
          <p:nvPr/>
        </p:nvSpPr>
        <p:spPr>
          <a:xfrm>
            <a:off x="428625" y="2627114"/>
            <a:ext cx="42863" cy="536116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35" name="Text 32"/>
          <p:cNvSpPr/>
          <p:nvPr/>
        </p:nvSpPr>
        <p:spPr>
          <a:xfrm>
            <a:off x="557213" y="2727127"/>
            <a:ext cx="80295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RULE OF THUMB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557213" y="2889647"/>
            <a:ext cx="8029575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with memoization to get the recurrence right, then convert to tabulation for production code.</a:t>
            </a:r>
            <a:endParaRPr lang="en-US" sz="88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0063" y="228600"/>
            <a:ext cx="8143875" cy="47505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00063" y="660797"/>
            <a:ext cx="8143875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00063" y="228600"/>
            <a:ext cx="8143875" cy="475059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12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DP Problem-Solving Recipe</a:t>
            </a:r>
            <a:endParaRPr lang="en-US" sz="1912" dirty="0"/>
          </a:p>
        </p:txBody>
      </p:sp>
      <p:sp>
        <p:nvSpPr>
          <p:cNvPr id="6" name="Text 3"/>
          <p:cNvSpPr/>
          <p:nvPr/>
        </p:nvSpPr>
        <p:spPr>
          <a:xfrm>
            <a:off x="500063" y="732234"/>
            <a:ext cx="357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1000125" y="732234"/>
            <a:ext cx="347186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IDENTIFY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1000125" y="985838"/>
            <a:ext cx="347186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Does the problem have overlapping subproblems and optimal substructure?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00063" y="1560184"/>
            <a:ext cx="357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1000125" y="1560184"/>
            <a:ext cx="347186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DEFINE STATE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1000125" y="1813787"/>
            <a:ext cx="347186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parameters uniquely describe a subproblem? This becomes your DP array index.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00063" y="2388133"/>
            <a:ext cx="357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602" dirty="0"/>
          </a:p>
        </p:txBody>
      </p:sp>
      <p:sp>
        <p:nvSpPr>
          <p:cNvPr id="13" name="Text 10"/>
          <p:cNvSpPr/>
          <p:nvPr/>
        </p:nvSpPr>
        <p:spPr>
          <a:xfrm>
            <a:off x="1000125" y="2388133"/>
            <a:ext cx="347186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RECURRENCE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1000125" y="2641736"/>
            <a:ext cx="347186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Express the solution to a subproblem in terms of smaller subproblems.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672013" y="732234"/>
            <a:ext cx="357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5172075" y="732234"/>
            <a:ext cx="347186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 BASE CASES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5172075" y="985838"/>
            <a:ext cx="347186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are the trivial subproblems you can solve directly?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4672013" y="1560184"/>
            <a:ext cx="357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602" dirty="0"/>
          </a:p>
        </p:txBody>
      </p:sp>
      <p:sp>
        <p:nvSpPr>
          <p:cNvPr id="19" name="Text 16"/>
          <p:cNvSpPr/>
          <p:nvPr/>
        </p:nvSpPr>
        <p:spPr>
          <a:xfrm>
            <a:off x="5172075" y="1560184"/>
            <a:ext cx="347186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DETERMINE ORDER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5172075" y="1813787"/>
            <a:ext cx="347186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what order should subproblems be solved? (Crucial for tabulation)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4672013" y="2388133"/>
            <a:ext cx="357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602" dirty="0"/>
          </a:p>
        </p:txBody>
      </p:sp>
      <p:sp>
        <p:nvSpPr>
          <p:cNvPr id="22" name="Text 19"/>
          <p:cNvSpPr/>
          <p:nvPr/>
        </p:nvSpPr>
        <p:spPr>
          <a:xfrm>
            <a:off x="5172075" y="2388133"/>
            <a:ext cx="347186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OPTIMIZE</a:t>
            </a:r>
            <a:endParaRPr lang="en-US" sz="1193" dirty="0"/>
          </a:p>
        </p:txBody>
      </p:sp>
      <p:sp>
        <p:nvSpPr>
          <p:cNvPr id="23" name="Text 20"/>
          <p:cNvSpPr/>
          <p:nvPr/>
        </p:nvSpPr>
        <p:spPr>
          <a:xfrm>
            <a:off x="5172075" y="2641736"/>
            <a:ext cx="347186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Can you reduce space complexity? Can you reconstruct the solution path?</a:t>
            </a:r>
            <a:endParaRPr lang="en-US" sz="942" dirty="0"/>
          </a:p>
        </p:txBody>
      </p:sp>
      <p:sp>
        <p:nvSpPr>
          <p:cNvPr id="24" name="Shape 21"/>
          <p:cNvSpPr/>
          <p:nvPr/>
        </p:nvSpPr>
        <p:spPr>
          <a:xfrm>
            <a:off x="500063" y="3001770"/>
            <a:ext cx="8143875" cy="3321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00063" y="3001770"/>
            <a:ext cx="8143875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Text 23"/>
          <p:cNvSpPr/>
          <p:nvPr/>
        </p:nvSpPr>
        <p:spPr>
          <a:xfrm>
            <a:off x="500063" y="3001770"/>
            <a:ext cx="8143875" cy="332184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Let's apply this recipe to several classic problems.</a:t>
            </a:r>
            <a:endParaRPr lang="en-US" sz="987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57238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Classic Problem 1 — Climbing Stairs (Revisited)</a:t>
            </a:r>
            <a:endParaRPr lang="en-US" sz="2226" dirty="0"/>
          </a:p>
        </p:txBody>
      </p:sp>
      <p:sp>
        <p:nvSpPr>
          <p:cNvPr id="6" name="Text 3"/>
          <p:cNvSpPr/>
          <p:nvPr/>
        </p:nvSpPr>
        <p:spPr>
          <a:xfrm>
            <a:off x="535781" y="900113"/>
            <a:ext cx="389334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Applying the Recipe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742950" y="1391245"/>
            <a:ext cx="36861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42950" y="1591270"/>
            <a:ext cx="3686175" cy="2543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= number of ways to reach step </a:t>
            </a: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42950" y="2024165"/>
            <a:ext cx="36861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RECURRENCE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742950" y="2224190"/>
            <a:ext cx="3686175" cy="49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 = dp[i-1] + dp[i-2]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9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(arrive from 1 step below or 2 steps below)</a:t>
            </a:r>
            <a:pPr algn="l" indent="0" marL="0">
              <a:lnSpc>
                <a:spcPts val="1900"/>
              </a:lnSpc>
              <a:buNone/>
            </a:pP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742950" y="2897098"/>
            <a:ext cx="36861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BASE CASES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742950" y="3097123"/>
            <a:ext cx="3686175" cy="508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dp[0] = 1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(ground)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dp[1] = 1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(first step)</a:t>
            </a:r>
            <a:endParaRPr lang="en-US" sz="1269" dirty="0"/>
          </a:p>
        </p:txBody>
      </p:sp>
      <p:sp>
        <p:nvSpPr>
          <p:cNvPr id="13" name="Shape 10"/>
          <p:cNvSpPr/>
          <p:nvPr/>
        </p:nvSpPr>
        <p:spPr>
          <a:xfrm>
            <a:off x="4714875" y="900113"/>
            <a:ext cx="3893344" cy="101720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Text 11"/>
          <p:cNvSpPr/>
          <p:nvPr/>
        </p:nvSpPr>
        <p:spPr>
          <a:xfrm>
            <a:off x="4714875" y="900113"/>
            <a:ext cx="3893344" cy="1017203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climbStairs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 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 &lt;= 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dp[n + 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dp[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dp[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n; i++) dp[i] = dp[i-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+ 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dp[i-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5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dp[n]; }</a:t>
            </a:r>
            <a:endParaRPr lang="en-US" sz="996" dirty="0"/>
          </a:p>
        </p:txBody>
      </p:sp>
      <p:sp>
        <p:nvSpPr>
          <p:cNvPr id="15" name="Shape 12"/>
          <p:cNvSpPr/>
          <p:nvPr/>
        </p:nvSpPr>
        <p:spPr>
          <a:xfrm>
            <a:off x="4714875" y="2045903"/>
            <a:ext cx="3893344" cy="118229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3"/>
          <p:cNvSpPr/>
          <p:nvPr/>
        </p:nvSpPr>
        <p:spPr>
          <a:xfrm>
            <a:off x="4714875" y="2045903"/>
            <a:ext cx="3893344" cy="28575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7" name="Text 14"/>
          <p:cNvSpPr/>
          <p:nvPr/>
        </p:nvSpPr>
        <p:spPr>
          <a:xfrm>
            <a:off x="4893469" y="2224497"/>
            <a:ext cx="353615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Extension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893469" y="2478100"/>
            <a:ext cx="353615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if you can climb 1, 2, or 3 steps?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93469" y="2731703"/>
            <a:ext cx="3536156" cy="28932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7"/>
          <p:cNvSpPr/>
          <p:nvPr/>
        </p:nvSpPr>
        <p:spPr>
          <a:xfrm>
            <a:off x="4893469" y="2731703"/>
            <a:ext cx="3536156" cy="28932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 = dp[i-1] + dp[i-2] + dp[i-3]</a:t>
            </a:r>
            <a:endParaRPr lang="en-US" sz="942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57238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Classic Problem 2 — Coin Change (Minimum Coins)</a:t>
            </a:r>
            <a:endParaRPr lang="en-US" sz="2226" dirty="0"/>
          </a:p>
        </p:txBody>
      </p:sp>
      <p:sp>
        <p:nvSpPr>
          <p:cNvPr id="6" name="Text 3"/>
          <p:cNvSpPr/>
          <p:nvPr/>
        </p:nvSpPr>
        <p:spPr>
          <a:xfrm>
            <a:off x="535781" y="900113"/>
            <a:ext cx="3893344" cy="77152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Problem:</a:t>
            </a:r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Given coin denominations and a </a:t>
            </a:r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target amount, find the 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minimum number of coins</a:t>
            </a:r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needed.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35781" y="1800225"/>
            <a:ext cx="3893344" cy="2103834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8" name="Text 5"/>
          <p:cNvSpPr/>
          <p:nvPr/>
        </p:nvSpPr>
        <p:spPr>
          <a:xfrm>
            <a:off x="750094" y="2014538"/>
            <a:ext cx="34647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750094" y="2339578"/>
            <a:ext cx="34647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Coins: [1, 5, 10, 25]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Amount: 30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50094" y="2918222"/>
            <a:ext cx="428625" cy="428625"/>
          </a:xfrm>
          <a:prstGeom prst="ellipse">
            <a:avLst/>
          </a:prstGeom>
          <a:solidFill>
            <a:srgbClr val="FF4500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0094" y="291822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25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1285875" y="3023592"/>
            <a:ext cx="10715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9999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</a:t>
            </a:r>
            <a:endParaRPr lang="en-US" sz="1269" dirty="0"/>
          </a:p>
        </p:txBody>
      </p:sp>
      <p:sp>
        <p:nvSpPr>
          <p:cNvPr id="13" name="Shape 10"/>
          <p:cNvSpPr/>
          <p:nvPr/>
        </p:nvSpPr>
        <p:spPr>
          <a:xfrm>
            <a:off x="1500188" y="2918222"/>
            <a:ext cx="428625" cy="428625"/>
          </a:xfrm>
          <a:prstGeom prst="ellipse">
            <a:avLst/>
          </a:prstGeom>
          <a:solidFill>
            <a:srgbClr val="FF4500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00188" y="291822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2107406" y="3023592"/>
            <a:ext cx="10715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=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2393156" y="3023592"/>
            <a:ext cx="21431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30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750094" y="3525441"/>
            <a:ext cx="34647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Answer: 2 coins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4714875" y="900113"/>
            <a:ext cx="38933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Naive Recursive Approach:</a:t>
            </a:r>
            <a:endParaRPr lang="en-US" sz="987" dirty="0"/>
          </a:p>
        </p:txBody>
      </p:sp>
      <p:sp>
        <p:nvSpPr>
          <p:cNvPr id="19" name="Shape 16"/>
          <p:cNvSpPr/>
          <p:nvPr/>
        </p:nvSpPr>
        <p:spPr>
          <a:xfrm>
            <a:off x="4714875" y="1153716"/>
            <a:ext cx="3893344" cy="121722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0" name="Text 17"/>
          <p:cNvSpPr/>
          <p:nvPr/>
        </p:nvSpPr>
        <p:spPr>
          <a:xfrm>
            <a:off x="4714875" y="1153716"/>
            <a:ext cx="3893344" cy="1217228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&lt;limits.h&gt;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coinChange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coins[],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n,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amount) {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(amount ==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(amount &lt;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INT_MAX;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best = INT_MAX;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n; i++) {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 =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coinChange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(coins,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n, amount - coins[i]);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(sub != INT_MAX &amp;&amp; sub +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best) best = sub +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best; }</a:t>
            </a:r>
            <a:endParaRPr lang="en-US" sz="834" dirty="0"/>
          </a:p>
        </p:txBody>
      </p:sp>
      <p:sp>
        <p:nvSpPr>
          <p:cNvPr id="21" name="Shape 18"/>
          <p:cNvSpPr/>
          <p:nvPr/>
        </p:nvSpPr>
        <p:spPr>
          <a:xfrm>
            <a:off x="4714875" y="2549537"/>
            <a:ext cx="3893344" cy="700088"/>
          </a:xfrm>
          <a:prstGeom prst="rect">
            <a:avLst/>
          </a:prstGeom>
          <a:solidFill>
            <a:srgbClr val="FFF0E6"/>
          </a:solidFill>
          <a:ln w="9144">
            <a:solidFill>
              <a:srgbClr val="FF4500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2717416"/>
            <a:ext cx="142875" cy="14287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072063" y="2701342"/>
            <a:ext cx="303609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amount=100 with coins [1, 5, 10, 25], this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857750" y="2901367"/>
            <a:ext cx="47505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makes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332809" y="2901367"/>
            <a:ext cx="49113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billions</a:t>
            </a:r>
            <a:endParaRPr lang="en-US" sz="987" dirty="0"/>
          </a:p>
        </p:txBody>
      </p:sp>
      <p:sp>
        <p:nvSpPr>
          <p:cNvPr id="26" name="Text 22"/>
          <p:cNvSpPr/>
          <p:nvPr/>
        </p:nvSpPr>
        <p:spPr>
          <a:xfrm>
            <a:off x="5823942" y="2901367"/>
            <a:ext cx="123765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recursive calls.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0063" y="228600"/>
            <a:ext cx="8143875" cy="47505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00063" y="660797"/>
            <a:ext cx="8143875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00063" y="228600"/>
            <a:ext cx="8143875" cy="475059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12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Coin Change — The Recursion Tree Explodes</a:t>
            </a:r>
            <a:endParaRPr lang="en-US" sz="1912" dirty="0"/>
          </a:p>
        </p:txBody>
      </p:sp>
      <p:sp>
        <p:nvSpPr>
          <p:cNvPr id="6" name="Shape 3"/>
          <p:cNvSpPr/>
          <p:nvPr/>
        </p:nvSpPr>
        <p:spPr>
          <a:xfrm>
            <a:off x="6191817" y="285750"/>
            <a:ext cx="2380683" cy="28932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4"/>
          <p:cNvSpPr/>
          <p:nvPr/>
        </p:nvSpPr>
        <p:spPr>
          <a:xfrm>
            <a:off x="6191817" y="285750"/>
            <a:ext cx="2380683" cy="28932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coins = [1, 2, 5], amount = 6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4379923" y="932259"/>
            <a:ext cx="384155" cy="242709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79923" y="932259"/>
            <a:ext cx="384155" cy="242709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cc(6)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2918847" y="1406426"/>
            <a:ext cx="385763" cy="242709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18847" y="1406426"/>
            <a:ext cx="385763" cy="242709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cc(5)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2469594" y="1880592"/>
            <a:ext cx="384155" cy="242709"/>
          </a:xfrm>
          <a:prstGeom prst="rect">
            <a:avLst/>
          </a:prstGeom>
          <a:solidFill>
            <a:srgbClr val="FF4500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9594" y="1880592"/>
            <a:ext cx="384155" cy="242709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cc(4)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2006680" y="2354759"/>
            <a:ext cx="385763" cy="242709"/>
          </a:xfrm>
          <a:prstGeom prst="rect">
            <a:avLst/>
          </a:prstGeom>
          <a:solidFill>
            <a:srgbClr val="333333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06680" y="2354759"/>
            <a:ext cx="385763" cy="242709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cc(3)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2443877" y="2354759"/>
            <a:ext cx="384155" cy="242709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443877" y="2354759"/>
            <a:ext cx="384155" cy="242709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cc(2)</a:t>
            </a:r>
            <a:endParaRPr lang="en-US" sz="683" dirty="0"/>
          </a:p>
        </p:txBody>
      </p:sp>
      <p:sp>
        <p:nvSpPr>
          <p:cNvPr id="18" name="Shape 15"/>
          <p:cNvSpPr/>
          <p:nvPr/>
        </p:nvSpPr>
        <p:spPr>
          <a:xfrm>
            <a:off x="2879467" y="2354759"/>
            <a:ext cx="411480" cy="242709"/>
          </a:xfrm>
          <a:prstGeom prst="rect">
            <a:avLst/>
          </a:prstGeom>
          <a:solidFill>
            <a:srgbClr val="F0F0F0"/>
          </a:solidFill>
          <a:ln w="18288">
            <a:solidFill>
              <a:srgbClr val="333333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2879467" y="2354759"/>
            <a:ext cx="411480" cy="242709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cc(-1)</a:t>
            </a:r>
            <a:endParaRPr lang="en-US" sz="683" dirty="0"/>
          </a:p>
        </p:txBody>
      </p:sp>
      <p:sp>
        <p:nvSpPr>
          <p:cNvPr id="20" name="Shape 17"/>
          <p:cNvSpPr/>
          <p:nvPr/>
        </p:nvSpPr>
        <p:spPr>
          <a:xfrm>
            <a:off x="3374529" y="1880592"/>
            <a:ext cx="385763" cy="242709"/>
          </a:xfrm>
          <a:prstGeom prst="rect">
            <a:avLst/>
          </a:prstGeom>
          <a:solidFill>
            <a:srgbClr val="333333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74529" y="1880592"/>
            <a:ext cx="385763" cy="242709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cc(3)</a:t>
            </a:r>
            <a:endParaRPr lang="en-US" sz="683" dirty="0"/>
          </a:p>
        </p:txBody>
      </p:sp>
      <p:sp>
        <p:nvSpPr>
          <p:cNvPr id="22" name="Shape 19"/>
          <p:cNvSpPr/>
          <p:nvPr/>
        </p:nvSpPr>
        <p:spPr>
          <a:xfrm>
            <a:off x="3811726" y="1880592"/>
            <a:ext cx="385763" cy="242709"/>
          </a:xfrm>
          <a:prstGeom prst="rect">
            <a:avLst/>
          </a:prstGeom>
          <a:solidFill>
            <a:srgbClr val="F0F0F0"/>
          </a:solidFill>
          <a:ln w="18288">
            <a:solidFill>
              <a:srgbClr val="333333"/>
            </a:solidFill>
            <a:prstDash val="dash"/>
          </a:ln>
        </p:spPr>
      </p:sp>
      <p:sp>
        <p:nvSpPr>
          <p:cNvPr id="23" name="Text 20"/>
          <p:cNvSpPr/>
          <p:nvPr/>
        </p:nvSpPr>
        <p:spPr>
          <a:xfrm>
            <a:off x="3811726" y="1880592"/>
            <a:ext cx="385763" cy="242709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cc(0)</a:t>
            </a:r>
            <a:endParaRPr lang="en-US" sz="683" dirty="0"/>
          </a:p>
        </p:txBody>
      </p:sp>
      <p:sp>
        <p:nvSpPr>
          <p:cNvPr id="24" name="Shape 21"/>
          <p:cNvSpPr/>
          <p:nvPr/>
        </p:nvSpPr>
        <p:spPr>
          <a:xfrm>
            <a:off x="4776133" y="1406426"/>
            <a:ext cx="384155" cy="242709"/>
          </a:xfrm>
          <a:prstGeom prst="rect">
            <a:avLst/>
          </a:prstGeom>
          <a:solidFill>
            <a:srgbClr val="FF4500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76133" y="1406426"/>
            <a:ext cx="384155" cy="242709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cc(4)</a:t>
            </a:r>
            <a:endParaRPr lang="en-US" sz="683" dirty="0"/>
          </a:p>
        </p:txBody>
      </p:sp>
      <p:sp>
        <p:nvSpPr>
          <p:cNvPr id="26" name="Shape 23"/>
          <p:cNvSpPr/>
          <p:nvPr/>
        </p:nvSpPr>
        <p:spPr>
          <a:xfrm>
            <a:off x="4313218" y="1880592"/>
            <a:ext cx="385763" cy="242709"/>
          </a:xfrm>
          <a:prstGeom prst="rect">
            <a:avLst/>
          </a:prstGeom>
          <a:solidFill>
            <a:srgbClr val="333333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13218" y="1880592"/>
            <a:ext cx="385763" cy="242709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cc(3)</a:t>
            </a:r>
            <a:endParaRPr lang="en-US" sz="683" dirty="0"/>
          </a:p>
        </p:txBody>
      </p:sp>
      <p:sp>
        <p:nvSpPr>
          <p:cNvPr id="28" name="Shape 25"/>
          <p:cNvSpPr/>
          <p:nvPr/>
        </p:nvSpPr>
        <p:spPr>
          <a:xfrm>
            <a:off x="4750415" y="1880592"/>
            <a:ext cx="384155" cy="242709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0415" y="1880592"/>
            <a:ext cx="384155" cy="242709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cc(2)</a:t>
            </a:r>
            <a:endParaRPr lang="en-US" sz="683" dirty="0"/>
          </a:p>
        </p:txBody>
      </p:sp>
      <p:sp>
        <p:nvSpPr>
          <p:cNvPr id="30" name="Shape 27"/>
          <p:cNvSpPr/>
          <p:nvPr/>
        </p:nvSpPr>
        <p:spPr>
          <a:xfrm>
            <a:off x="5186005" y="1880592"/>
            <a:ext cx="411480" cy="242709"/>
          </a:xfrm>
          <a:prstGeom prst="rect">
            <a:avLst/>
          </a:prstGeom>
          <a:solidFill>
            <a:srgbClr val="F0F0F0"/>
          </a:solidFill>
          <a:ln w="18288">
            <a:solidFill>
              <a:srgbClr val="333333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5186005" y="1880592"/>
            <a:ext cx="411480" cy="242709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cc(-1)</a:t>
            </a:r>
            <a:endParaRPr lang="en-US" sz="683" dirty="0"/>
          </a:p>
        </p:txBody>
      </p:sp>
      <p:sp>
        <p:nvSpPr>
          <p:cNvPr id="32" name="Shape 29"/>
          <p:cNvSpPr/>
          <p:nvPr/>
        </p:nvSpPr>
        <p:spPr>
          <a:xfrm>
            <a:off x="6205865" y="1406426"/>
            <a:ext cx="368082" cy="242709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05865" y="1406426"/>
            <a:ext cx="368082" cy="242709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cc(1)</a:t>
            </a:r>
            <a:endParaRPr lang="en-US" sz="683" dirty="0"/>
          </a:p>
        </p:txBody>
      </p:sp>
      <p:sp>
        <p:nvSpPr>
          <p:cNvPr id="34" name="Shape 31"/>
          <p:cNvSpPr/>
          <p:nvPr/>
        </p:nvSpPr>
        <p:spPr>
          <a:xfrm>
            <a:off x="5713214" y="1880592"/>
            <a:ext cx="385763" cy="242709"/>
          </a:xfrm>
          <a:prstGeom prst="rect">
            <a:avLst/>
          </a:prstGeom>
          <a:solidFill>
            <a:srgbClr val="F0F0F0"/>
          </a:solidFill>
          <a:ln w="18288">
            <a:solidFill>
              <a:srgbClr val="333333"/>
            </a:solidFill>
            <a:prstDash val="dash"/>
          </a:ln>
        </p:spPr>
      </p:sp>
      <p:sp>
        <p:nvSpPr>
          <p:cNvPr id="35" name="Text 32"/>
          <p:cNvSpPr/>
          <p:nvPr/>
        </p:nvSpPr>
        <p:spPr>
          <a:xfrm>
            <a:off x="5713214" y="1880592"/>
            <a:ext cx="385763" cy="242709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cc(0)</a:t>
            </a:r>
            <a:endParaRPr lang="en-US" sz="683" dirty="0"/>
          </a:p>
        </p:txBody>
      </p:sp>
      <p:sp>
        <p:nvSpPr>
          <p:cNvPr id="36" name="Shape 33"/>
          <p:cNvSpPr/>
          <p:nvPr/>
        </p:nvSpPr>
        <p:spPr>
          <a:xfrm>
            <a:off x="6150411" y="1880592"/>
            <a:ext cx="411481" cy="242709"/>
          </a:xfrm>
          <a:prstGeom prst="rect">
            <a:avLst/>
          </a:prstGeom>
          <a:solidFill>
            <a:srgbClr val="F0F0F0"/>
          </a:solidFill>
          <a:ln w="18288">
            <a:solidFill>
              <a:srgbClr val="333333"/>
            </a:solidFill>
            <a:prstDash val="dash"/>
          </a:ln>
        </p:spPr>
      </p:sp>
      <p:sp>
        <p:nvSpPr>
          <p:cNvPr id="37" name="Text 34"/>
          <p:cNvSpPr/>
          <p:nvPr/>
        </p:nvSpPr>
        <p:spPr>
          <a:xfrm>
            <a:off x="6150411" y="1880592"/>
            <a:ext cx="411481" cy="242709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cc(-1)</a:t>
            </a:r>
            <a:endParaRPr lang="en-US" sz="683" dirty="0"/>
          </a:p>
        </p:txBody>
      </p:sp>
      <p:sp>
        <p:nvSpPr>
          <p:cNvPr id="38" name="Shape 35"/>
          <p:cNvSpPr/>
          <p:nvPr/>
        </p:nvSpPr>
        <p:spPr>
          <a:xfrm>
            <a:off x="6613327" y="1880592"/>
            <a:ext cx="427553" cy="242709"/>
          </a:xfrm>
          <a:prstGeom prst="rect">
            <a:avLst/>
          </a:prstGeom>
          <a:solidFill>
            <a:srgbClr val="F0F0F0"/>
          </a:solidFill>
          <a:ln w="18288">
            <a:solidFill>
              <a:srgbClr val="333333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6613327" y="1880592"/>
            <a:ext cx="427553" cy="242709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cc(-4)</a:t>
            </a:r>
            <a:endParaRPr lang="en-US" sz="683" dirty="0"/>
          </a:p>
        </p:txBody>
      </p:sp>
      <p:sp>
        <p:nvSpPr>
          <p:cNvPr id="40" name="Shape 37"/>
          <p:cNvSpPr/>
          <p:nvPr/>
        </p:nvSpPr>
        <p:spPr>
          <a:xfrm>
            <a:off x="500063" y="2911078"/>
            <a:ext cx="8143875" cy="1163817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41" name="Shape 38"/>
          <p:cNvSpPr/>
          <p:nvPr/>
        </p:nvSpPr>
        <p:spPr>
          <a:xfrm>
            <a:off x="500063" y="2911078"/>
            <a:ext cx="42863" cy="1163817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42" name="Text 39"/>
          <p:cNvSpPr/>
          <p:nvPr/>
        </p:nvSpPr>
        <p:spPr>
          <a:xfrm>
            <a:off x="678656" y="3089672"/>
            <a:ext cx="375046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HIGHER BRANCHING FACTOR</a:t>
            </a:r>
            <a:endParaRPr lang="en-US" sz="784" dirty="0"/>
          </a:p>
        </p:txBody>
      </p:sp>
      <p:sp>
        <p:nvSpPr>
          <p:cNvPr id="43" name="Text 40"/>
          <p:cNvSpPr/>
          <p:nvPr/>
        </p:nvSpPr>
        <p:spPr>
          <a:xfrm>
            <a:off x="678656" y="3271838"/>
            <a:ext cx="37504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Unlike Fibonacci (2 branches), Coin Change has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 branches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(where k is number of coins).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4714875" y="3089672"/>
            <a:ext cx="375046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EXPLOSIVE GROWTH</a:t>
            </a:r>
            <a:endParaRPr lang="en-US" sz="784" dirty="0"/>
          </a:p>
        </p:txBody>
      </p:sp>
      <p:sp>
        <p:nvSpPr>
          <p:cNvPr id="45" name="Text 42"/>
          <p:cNvSpPr/>
          <p:nvPr/>
        </p:nvSpPr>
        <p:spPr>
          <a:xfrm>
            <a:off x="4714875" y="3280767"/>
            <a:ext cx="161805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Many subproblems like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6332934" y="3280767"/>
            <a:ext cx="36611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cc(4)</a:t>
            </a:r>
            <a:endParaRPr lang="en-US" sz="987" dirty="0"/>
          </a:p>
        </p:txBody>
      </p:sp>
      <p:sp>
        <p:nvSpPr>
          <p:cNvPr id="47" name="Text 44"/>
          <p:cNvSpPr/>
          <p:nvPr/>
        </p:nvSpPr>
        <p:spPr>
          <a:xfrm>
            <a:off x="6699052" y="3280767"/>
            <a:ext cx="33754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7036594" y="3280767"/>
            <a:ext cx="36790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cc(3)</a:t>
            </a:r>
            <a:endParaRPr lang="en-US" sz="987" dirty="0"/>
          </a:p>
        </p:txBody>
      </p:sp>
      <p:sp>
        <p:nvSpPr>
          <p:cNvPr id="49" name="Text 46"/>
          <p:cNvSpPr/>
          <p:nvPr/>
        </p:nvSpPr>
        <p:spPr>
          <a:xfrm>
            <a:off x="7404497" y="3280767"/>
            <a:ext cx="25538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are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4714875" y="3480792"/>
            <a:ext cx="168056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recomputed repeatedly.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4714875" y="3705206"/>
            <a:ext cx="85546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Complexity: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5570339" y="3705206"/>
            <a:ext cx="23395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O(k</a:t>
            </a:r>
            <a:endParaRPr lang="en-US" sz="987" dirty="0"/>
          </a:p>
        </p:txBody>
      </p:sp>
      <p:sp>
        <p:nvSpPr>
          <p:cNvPr id="53" name="Text 50"/>
          <p:cNvSpPr/>
          <p:nvPr/>
        </p:nvSpPr>
        <p:spPr>
          <a:xfrm>
            <a:off x="5804297" y="3679031"/>
            <a:ext cx="7322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18" b="1" baseline="3000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</a:t>
            </a:r>
            <a:endParaRPr lang="en-US" sz="818" dirty="0"/>
          </a:p>
        </p:txBody>
      </p:sp>
      <p:sp>
        <p:nvSpPr>
          <p:cNvPr id="54" name="Text 51"/>
          <p:cNvSpPr/>
          <p:nvPr/>
        </p:nvSpPr>
        <p:spPr>
          <a:xfrm>
            <a:off x="5877520" y="3705206"/>
            <a:ext cx="5536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</a:t>
            </a:r>
            <a:endParaRPr lang="en-US" sz="987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0063" y="228600"/>
            <a:ext cx="8143875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00063" y="646509"/>
            <a:ext cx="8143875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00063" y="228600"/>
            <a:ext cx="8143875" cy="460772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12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Coin Change — DP Solution</a:t>
            </a:r>
            <a:endParaRPr lang="en-US" sz="1912" dirty="0"/>
          </a:p>
        </p:txBody>
      </p:sp>
      <p:sp>
        <p:nvSpPr>
          <p:cNvPr id="6" name="Text 3"/>
          <p:cNvSpPr/>
          <p:nvPr/>
        </p:nvSpPr>
        <p:spPr>
          <a:xfrm>
            <a:off x="500063" y="717947"/>
            <a:ext cx="397192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Applying the Recipe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707231" y="1151930"/>
            <a:ext cx="37647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07231" y="1373386"/>
            <a:ext cx="3764756" cy="2543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= minimum coins to make amount </a:t>
            </a: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07231" y="1713412"/>
            <a:ext cx="37647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RECURRENCE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707231" y="1934868"/>
            <a:ext cx="3764756" cy="49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 = min(dp[i - coin] + 1)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9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each coin where coin ≤ i</a:t>
            </a:r>
            <a:pPr algn="l" indent="0" marL="0">
              <a:lnSpc>
                <a:spcPts val="1900"/>
              </a:lnSpc>
              <a:buNone/>
            </a:pP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707231" y="2514907"/>
            <a:ext cx="37647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BASE CASE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707231" y="2736363"/>
            <a:ext cx="3764756" cy="49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dp[0] = 0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9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(zero coins needed for amount zero)</a:t>
            </a:r>
            <a:pPr algn="l" indent="0" marL="0">
              <a:lnSpc>
                <a:spcPts val="1900"/>
              </a:lnSpc>
              <a:buNone/>
            </a:pPr>
            <a:endParaRPr lang="en-US" sz="1269" dirty="0"/>
          </a:p>
        </p:txBody>
      </p:sp>
      <p:sp>
        <p:nvSpPr>
          <p:cNvPr id="13" name="Shape 10"/>
          <p:cNvSpPr/>
          <p:nvPr/>
        </p:nvSpPr>
        <p:spPr>
          <a:xfrm>
            <a:off x="4672013" y="717947"/>
            <a:ext cx="3971925" cy="10531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Text 11"/>
          <p:cNvSpPr/>
          <p:nvPr/>
        </p:nvSpPr>
        <p:spPr>
          <a:xfrm>
            <a:off x="4672013" y="717947"/>
            <a:ext cx="3971925" cy="1053173"/>
          </a:xfrm>
          <a:prstGeom prst="rect">
            <a:avLst/>
          </a:prstGeom>
          <a:noFill/>
          <a:ln/>
        </p:spPr>
        <p:txBody>
          <a:bodyPr wrap="square" lIns="110617" tIns="93599" rIns="110617" bIns="93599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coinChange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coins[],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n,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amount) {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Initialize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infinity (unreachable)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dp[amount +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amount; i++) dp[i] = amount +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acts as infinity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amount; i++)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 n;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j++)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(coins[j] &lt;= i &amp;&amp; dp[i-coins[j]] +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dp[i]) dp[i]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 - coins[j]] +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dp[amount] &gt; amount ? 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dp[amount]; }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4672013" y="1842557"/>
            <a:ext cx="3971925" cy="51435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3"/>
          <p:cNvSpPr/>
          <p:nvPr/>
        </p:nvSpPr>
        <p:spPr>
          <a:xfrm>
            <a:off x="4672013" y="1842557"/>
            <a:ext cx="3971925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4"/>
          <p:cNvSpPr/>
          <p:nvPr/>
        </p:nvSpPr>
        <p:spPr>
          <a:xfrm>
            <a:off x="4672013" y="1842557"/>
            <a:ext cx="3971925" cy="514350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Note: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We initialize with infinity to represent "impossible". If 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final answer is still infinity, we return -1.</a:t>
            </a:r>
            <a:endParaRPr lang="en-US" sz="942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57238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Coin Change — Step-by-Step Walkthrough</a:t>
            </a:r>
            <a:endParaRPr lang="en-US" sz="2226" dirty="0"/>
          </a:p>
        </p:txBody>
      </p:sp>
      <p:sp>
        <p:nvSpPr>
          <p:cNvPr id="6" name="Shape 3"/>
          <p:cNvSpPr/>
          <p:nvPr/>
        </p:nvSpPr>
        <p:spPr>
          <a:xfrm>
            <a:off x="535781" y="900113"/>
            <a:ext cx="8072438" cy="4089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535781" y="900113"/>
            <a:ext cx="28575" cy="4089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1007269"/>
            <a:ext cx="17490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coins = [1, 3, 4]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2749200" y="1007269"/>
            <a:ext cx="102886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= 6</a:t>
            </a:r>
            <a:endParaRPr lang="en-US" sz="1269" dirty="0"/>
          </a:p>
        </p:txBody>
      </p:sp>
      <p:sp>
        <p:nvSpPr>
          <p:cNvPr id="10" name="Shape 7"/>
          <p:cNvSpPr/>
          <p:nvPr/>
        </p:nvSpPr>
        <p:spPr>
          <a:xfrm>
            <a:off x="535781" y="1523405"/>
            <a:ext cx="4266744" cy="2961084"/>
          </a:xfrm>
          <a:prstGeom prst="rect">
            <a:avLst/>
          </a:prstGeom>
          <a:solidFill>
            <a:srgbClr val="FAFAFA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656" y="1666280"/>
            <a:ext cx="5715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dp[0]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1321594" y="1666280"/>
            <a:ext cx="23150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3810828" y="1666280"/>
            <a:ext cx="84882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(base case)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678656" y="1898452"/>
            <a:ext cx="5715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dp[1]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1321594" y="1898452"/>
            <a:ext cx="138898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min(dp[0]+1) = 1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4119488" y="1898452"/>
            <a:ext cx="54016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 1)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678656" y="2130623"/>
            <a:ext cx="5715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dp[2]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1321594" y="2130623"/>
            <a:ext cx="138898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min(dp[1]+1) = 2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119488" y="2130623"/>
            <a:ext cx="54016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 1)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678656" y="2362795"/>
            <a:ext cx="5715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dp[3]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1321594" y="2362795"/>
            <a:ext cx="208346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min(dp[2]+1, dp[0]+1) = 1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4119488" y="2362795"/>
            <a:ext cx="54016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 3)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678656" y="2594967"/>
            <a:ext cx="57150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dp[4]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1321594" y="2594967"/>
            <a:ext cx="2734828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min(dp[3]+1, dp[1]+1, dp[0]+1) = 1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4127860" y="2594967"/>
            <a:ext cx="531791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 4)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678656" y="2973586"/>
            <a:ext cx="5715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dp[5]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1321594" y="2973586"/>
            <a:ext cx="277794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min(dp[4]+1, dp[2]+1, dp[1]+1) = 2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4273804" y="2973586"/>
            <a:ext cx="38584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(4+1)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678656" y="3205758"/>
            <a:ext cx="5715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dp[6]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1321594" y="3205758"/>
            <a:ext cx="277794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min(dp[5]+1, dp[3]+1, dp[2]+1) = 2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4273804" y="3205758"/>
            <a:ext cx="38584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(3+3)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5052557" y="1523405"/>
            <a:ext cx="355566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Final DP Table:</a:t>
            </a:r>
            <a:endParaRPr lang="en-US" sz="784" dirty="0"/>
          </a:p>
        </p:txBody>
      </p:sp>
      <p:sp>
        <p:nvSpPr>
          <p:cNvPr id="33" name="Shape 30"/>
          <p:cNvSpPr/>
          <p:nvPr/>
        </p:nvSpPr>
        <p:spPr>
          <a:xfrm>
            <a:off x="5052557" y="1848445"/>
            <a:ext cx="428625" cy="428625"/>
          </a:xfrm>
          <a:prstGeom prst="rect">
            <a:avLst/>
          </a:prstGeom>
          <a:solidFill>
            <a:srgbClr val="333333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23979" y="1981498"/>
            <a:ext cx="8575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87" dirty="0"/>
          </a:p>
        </p:txBody>
      </p:sp>
      <p:sp>
        <p:nvSpPr>
          <p:cNvPr id="35" name="Text 32"/>
          <p:cNvSpPr/>
          <p:nvPr/>
        </p:nvSpPr>
        <p:spPr>
          <a:xfrm>
            <a:off x="5234722" y="1669852"/>
            <a:ext cx="6429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</a:t>
            </a:r>
            <a:endParaRPr lang="en-US" sz="683" dirty="0"/>
          </a:p>
        </p:txBody>
      </p:sp>
      <p:sp>
        <p:nvSpPr>
          <p:cNvPr id="36" name="Shape 33"/>
          <p:cNvSpPr/>
          <p:nvPr/>
        </p:nvSpPr>
        <p:spPr>
          <a:xfrm>
            <a:off x="5495469" y="1848445"/>
            <a:ext cx="428625" cy="428625"/>
          </a:xfrm>
          <a:prstGeom prst="rect">
            <a:avLst/>
          </a:prstGeom>
          <a:solidFill>
            <a:srgbClr val="FFE5D9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66891" y="1981498"/>
            <a:ext cx="8575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87" dirty="0"/>
          </a:p>
        </p:txBody>
      </p:sp>
      <p:sp>
        <p:nvSpPr>
          <p:cNvPr id="38" name="Text 35"/>
          <p:cNvSpPr/>
          <p:nvPr/>
        </p:nvSpPr>
        <p:spPr>
          <a:xfrm>
            <a:off x="5687457" y="1669852"/>
            <a:ext cx="4464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683" dirty="0"/>
          </a:p>
        </p:txBody>
      </p:sp>
      <p:sp>
        <p:nvSpPr>
          <p:cNvPr id="39" name="Shape 36"/>
          <p:cNvSpPr/>
          <p:nvPr/>
        </p:nvSpPr>
        <p:spPr>
          <a:xfrm>
            <a:off x="5938382" y="1848445"/>
            <a:ext cx="428625" cy="428625"/>
          </a:xfrm>
          <a:prstGeom prst="rect">
            <a:avLst/>
          </a:prstGeom>
          <a:solidFill>
            <a:srgbClr val="FFE5D9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09804" y="1981498"/>
            <a:ext cx="8575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87" dirty="0"/>
          </a:p>
        </p:txBody>
      </p:sp>
      <p:sp>
        <p:nvSpPr>
          <p:cNvPr id="41" name="Text 38"/>
          <p:cNvSpPr/>
          <p:nvPr/>
        </p:nvSpPr>
        <p:spPr>
          <a:xfrm>
            <a:off x="6123226" y="1669852"/>
            <a:ext cx="5893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683" dirty="0"/>
          </a:p>
        </p:txBody>
      </p:sp>
      <p:sp>
        <p:nvSpPr>
          <p:cNvPr id="42" name="Shape 39"/>
          <p:cNvSpPr/>
          <p:nvPr/>
        </p:nvSpPr>
        <p:spPr>
          <a:xfrm>
            <a:off x="6381294" y="1848445"/>
            <a:ext cx="428625" cy="428625"/>
          </a:xfrm>
          <a:prstGeom prst="rect">
            <a:avLst/>
          </a:prstGeom>
          <a:solidFill>
            <a:srgbClr val="FFE5D9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552716" y="1981498"/>
            <a:ext cx="8575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87" dirty="0"/>
          </a:p>
        </p:txBody>
      </p:sp>
      <p:sp>
        <p:nvSpPr>
          <p:cNvPr id="44" name="Text 41"/>
          <p:cNvSpPr/>
          <p:nvPr/>
        </p:nvSpPr>
        <p:spPr>
          <a:xfrm>
            <a:off x="6565246" y="1669852"/>
            <a:ext cx="607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683" dirty="0"/>
          </a:p>
        </p:txBody>
      </p:sp>
      <p:sp>
        <p:nvSpPr>
          <p:cNvPr id="45" name="Shape 42"/>
          <p:cNvSpPr/>
          <p:nvPr/>
        </p:nvSpPr>
        <p:spPr>
          <a:xfrm>
            <a:off x="6824207" y="1848445"/>
            <a:ext cx="428625" cy="428625"/>
          </a:xfrm>
          <a:prstGeom prst="rect">
            <a:avLst/>
          </a:prstGeom>
          <a:solidFill>
            <a:srgbClr val="FFE5D9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995629" y="1981498"/>
            <a:ext cx="8575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87" dirty="0"/>
          </a:p>
        </p:txBody>
      </p:sp>
      <p:sp>
        <p:nvSpPr>
          <p:cNvPr id="47" name="Text 44"/>
          <p:cNvSpPr/>
          <p:nvPr/>
        </p:nvSpPr>
        <p:spPr>
          <a:xfrm>
            <a:off x="7006372" y="1669852"/>
            <a:ext cx="6429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683" dirty="0"/>
          </a:p>
        </p:txBody>
      </p:sp>
      <p:sp>
        <p:nvSpPr>
          <p:cNvPr id="48" name="Shape 45"/>
          <p:cNvSpPr/>
          <p:nvPr/>
        </p:nvSpPr>
        <p:spPr>
          <a:xfrm>
            <a:off x="7267119" y="1848445"/>
            <a:ext cx="428625" cy="428625"/>
          </a:xfrm>
          <a:prstGeom prst="rect">
            <a:avLst/>
          </a:prstGeom>
          <a:solidFill>
            <a:srgbClr val="FFE5D9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438541" y="1981498"/>
            <a:ext cx="8575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87" dirty="0"/>
          </a:p>
        </p:txBody>
      </p:sp>
      <p:sp>
        <p:nvSpPr>
          <p:cNvPr id="50" name="Text 47"/>
          <p:cNvSpPr/>
          <p:nvPr/>
        </p:nvSpPr>
        <p:spPr>
          <a:xfrm>
            <a:off x="7451071" y="1669852"/>
            <a:ext cx="607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683" dirty="0"/>
          </a:p>
        </p:txBody>
      </p:sp>
      <p:sp>
        <p:nvSpPr>
          <p:cNvPr id="51" name="Shape 48"/>
          <p:cNvSpPr/>
          <p:nvPr/>
        </p:nvSpPr>
        <p:spPr>
          <a:xfrm>
            <a:off x="7710032" y="1848445"/>
            <a:ext cx="428625" cy="428625"/>
          </a:xfrm>
          <a:prstGeom prst="rect">
            <a:avLst/>
          </a:prstGeom>
          <a:solidFill>
            <a:srgbClr val="FFE5D9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881454" y="1981498"/>
            <a:ext cx="8575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87" dirty="0"/>
          </a:p>
        </p:txBody>
      </p:sp>
      <p:sp>
        <p:nvSpPr>
          <p:cNvPr id="53" name="Text 50"/>
          <p:cNvSpPr/>
          <p:nvPr/>
        </p:nvSpPr>
        <p:spPr>
          <a:xfrm>
            <a:off x="7893090" y="1669852"/>
            <a:ext cx="6250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683" dirty="0"/>
          </a:p>
        </p:txBody>
      </p:sp>
      <p:sp>
        <p:nvSpPr>
          <p:cNvPr id="54" name="Shape 51"/>
          <p:cNvSpPr/>
          <p:nvPr/>
        </p:nvSpPr>
        <p:spPr>
          <a:xfrm>
            <a:off x="5052557" y="2405658"/>
            <a:ext cx="3555662" cy="1550194"/>
          </a:xfrm>
          <a:prstGeom prst="rect">
            <a:avLst/>
          </a:prstGeom>
          <a:solidFill>
            <a:srgbClr val="FFF0E6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195432" y="2548533"/>
            <a:ext cx="326991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GREEDY VS DP</a:t>
            </a:r>
            <a:endParaRPr lang="en-US" sz="885" dirty="0"/>
          </a:p>
        </p:txBody>
      </p:sp>
      <p:sp>
        <p:nvSpPr>
          <p:cNvPr id="56" name="Text 53"/>
          <p:cNvSpPr/>
          <p:nvPr/>
        </p:nvSpPr>
        <p:spPr>
          <a:xfrm>
            <a:off x="5195432" y="2784277"/>
            <a:ext cx="3269912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Greedy Approach: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Always pick largest coin.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6 = 4 + 1 + 1 →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D32F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coins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(Suboptimal)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DP Approach: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6 = 3 + 3 →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E7D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coins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(Optimal)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5052557" y="4127302"/>
            <a:ext cx="3555662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Time: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O(amount × |coins|)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Space: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O(amount)</a:t>
            </a:r>
            <a:endParaRPr lang="en-US" sz="942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0063" y="228600"/>
            <a:ext cx="8143875" cy="47505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00063" y="660797"/>
            <a:ext cx="8143875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00063" y="228600"/>
            <a:ext cx="8143875" cy="475059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12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Coin Change Variant — Count the Number of Ways</a:t>
            </a:r>
            <a:endParaRPr lang="en-US" sz="1912" dirty="0"/>
          </a:p>
        </p:txBody>
      </p:sp>
      <p:sp>
        <p:nvSpPr>
          <p:cNvPr id="6" name="Text 3"/>
          <p:cNvSpPr/>
          <p:nvPr/>
        </p:nvSpPr>
        <p:spPr>
          <a:xfrm>
            <a:off x="500063" y="732234"/>
            <a:ext cx="3971925" cy="72004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Problem: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How many different ways can you 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make change for a given amount? (Order 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does not matter)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00063" y="1523712"/>
            <a:ext cx="3971925" cy="2361009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1738024"/>
            <a:ext cx="35433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714375" y="2027346"/>
            <a:ext cx="3543300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coins = [1, 2, 5], amount = 5</a:t>
            </a:r>
            <a:endParaRPr lang="en-US" sz="1159" dirty="0"/>
          </a:p>
        </p:txBody>
      </p:sp>
      <p:sp>
        <p:nvSpPr>
          <p:cNvPr id="10" name="Text 7"/>
          <p:cNvSpPr/>
          <p:nvPr/>
        </p:nvSpPr>
        <p:spPr>
          <a:xfrm>
            <a:off x="714375" y="2347029"/>
            <a:ext cx="3543300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Answer: 4 ways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714375" y="2655996"/>
            <a:ext cx="35433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4375" y="2909599"/>
            <a:ext cx="35433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+ 2 + 1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14375" y="3163202"/>
            <a:ext cx="35433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+ 1 + 1 + 1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14375" y="3416805"/>
            <a:ext cx="35433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+ 1 + 1 + 1 + 1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72013" y="732234"/>
            <a:ext cx="3971925" cy="1373135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Text 13"/>
          <p:cNvSpPr/>
          <p:nvPr/>
        </p:nvSpPr>
        <p:spPr>
          <a:xfrm>
            <a:off x="4672013" y="732234"/>
            <a:ext cx="3971925" cy="1373135"/>
          </a:xfrm>
          <a:prstGeom prst="rect">
            <a:avLst/>
          </a:prstGeom>
          <a:noFill/>
          <a:ln/>
        </p:spPr>
        <p:txBody>
          <a:bodyPr wrap="square" lIns="110617" tIns="93599" rIns="110617" bIns="9359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coinChangeWays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coins[],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n,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amount) {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dp[amount +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memset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(dp,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(dp)); dp[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way to make 0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Iterate coins in OUTER loop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 n; i++)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coins[i]; j &lt;=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amount; j++) dp[j] += dp[j - coins[i]]; 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400"/>
              </a:lnSpc>
              <a:buNone/>
            </a:pPr>
            <a:r>
              <a:rPr lang="en-US" sz="99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dp[amount]; }</a:t>
            </a:r>
            <a:endParaRPr lang="en-US" sz="996" dirty="0"/>
          </a:p>
        </p:txBody>
      </p:sp>
      <p:sp>
        <p:nvSpPr>
          <p:cNvPr id="17" name="Shape 14"/>
          <p:cNvSpPr/>
          <p:nvPr/>
        </p:nvSpPr>
        <p:spPr>
          <a:xfrm>
            <a:off x="4672013" y="2176807"/>
            <a:ext cx="3971925" cy="1621631"/>
          </a:xfrm>
          <a:prstGeom prst="rect">
            <a:avLst/>
          </a:prstGeom>
          <a:solidFill>
            <a:srgbClr val="FFF0E6"/>
          </a:solidFill>
          <a:ln w="18288">
            <a:solidFill>
              <a:srgbClr val="FF450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606" y="2373260"/>
            <a:ext cx="128588" cy="1285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050631" y="2355400"/>
            <a:ext cx="97690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CRITICAL DETAIL</a:t>
            </a:r>
            <a:endParaRPr lang="en-US" sz="885" dirty="0"/>
          </a:p>
        </p:txBody>
      </p:sp>
      <p:sp>
        <p:nvSpPr>
          <p:cNvPr id="20" name="Text 16"/>
          <p:cNvSpPr/>
          <p:nvPr/>
        </p:nvSpPr>
        <p:spPr>
          <a:xfrm>
            <a:off x="4850606" y="2591144"/>
            <a:ext cx="3614738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loop order matters! Putting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coins in the outer loop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ensures we count combinations (sets), not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permutations (sequences).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(e.g., "1+2" and "2+1" are counted as the same way)</a:t>
            </a:r>
            <a:pPr algn="l" indent="0" marL="0">
              <a:lnSpc>
                <a:spcPts val="16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57238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Classic Problem 3 — 0/1 Knapsack</a:t>
            </a:r>
            <a:endParaRPr lang="en-US" sz="2226" dirty="0"/>
          </a:p>
        </p:txBody>
      </p:sp>
      <p:sp>
        <p:nvSpPr>
          <p:cNvPr id="6" name="Text 3"/>
          <p:cNvSpPr/>
          <p:nvPr/>
        </p:nvSpPr>
        <p:spPr>
          <a:xfrm>
            <a:off x="707231" y="919758"/>
            <a:ext cx="72509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Problem: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1432322" y="919758"/>
            <a:ext cx="271641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Given a set of items, each with a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707231" y="1176933"/>
            <a:ext cx="352901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weight and a value, determine which items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707231" y="1434108"/>
            <a:ext cx="272534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include in a collection so that: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885825" y="1778794"/>
            <a:ext cx="35433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weight ≤ Capacity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885825" y="2035969"/>
            <a:ext cx="35433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value is maximized</a:t>
            </a:r>
            <a:endParaRPr lang="en-US" sz="1269" dirty="0"/>
          </a:p>
        </p:txBody>
      </p:sp>
      <p:sp>
        <p:nvSpPr>
          <p:cNvPr id="12" name="Shape 9"/>
          <p:cNvSpPr/>
          <p:nvPr/>
        </p:nvSpPr>
        <p:spPr>
          <a:xfrm>
            <a:off x="535781" y="2421731"/>
            <a:ext cx="3893344" cy="162520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0"/>
          <p:cNvSpPr/>
          <p:nvPr/>
        </p:nvSpPr>
        <p:spPr>
          <a:xfrm>
            <a:off x="535781" y="2421731"/>
            <a:ext cx="3893344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714375" y="2600325"/>
            <a:ext cx="353615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"0/1" CONSTRAINT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714375" y="2853928"/>
            <a:ext cx="3536156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cannot break items. You must either take the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item whole (1) or leave it (0).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(This distinguishes it from the "Fractional Knapsack"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problem, which can be solved greedily.)</a:t>
            </a:r>
            <a:pPr algn="l" indent="0" marL="0">
              <a:lnSpc>
                <a:spcPts val="1600"/>
              </a:lnSpc>
              <a:buNone/>
            </a:pP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14875" y="900113"/>
            <a:ext cx="3893344" cy="2260997"/>
          </a:xfrm>
          <a:prstGeom prst="rect">
            <a:avLst/>
          </a:prstGeom>
          <a:solidFill>
            <a:srgbClr val="FAFAFA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88" y="1114425"/>
            <a:ext cx="250031" cy="2857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86375" y="1148358"/>
            <a:ext cx="1571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Max Capacity: 7 kg</a:t>
            </a:r>
            <a:endParaRPr lang="en-US" sz="1193" dirty="0"/>
          </a:p>
        </p:txBody>
      </p:sp>
      <p:sp>
        <p:nvSpPr>
          <p:cNvPr id="19" name="Shape 15"/>
          <p:cNvSpPr/>
          <p:nvPr/>
        </p:nvSpPr>
        <p:spPr>
          <a:xfrm>
            <a:off x="4929188" y="1614488"/>
            <a:ext cx="1660922" cy="587573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589091" y="1721644"/>
            <a:ext cx="34111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ITEM 1</a:t>
            </a:r>
            <a:endParaRPr lang="en-US" sz="784" dirty="0"/>
          </a:p>
        </p:txBody>
      </p:sp>
      <p:sp>
        <p:nvSpPr>
          <p:cNvPr id="21" name="Text 17"/>
          <p:cNvSpPr/>
          <p:nvPr/>
        </p:nvSpPr>
        <p:spPr>
          <a:xfrm>
            <a:off x="5373802" y="1903809"/>
            <a:ext cx="77166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kg | $1</a:t>
            </a:r>
            <a:endParaRPr lang="en-US" sz="987" dirty="0"/>
          </a:p>
        </p:txBody>
      </p:sp>
      <p:sp>
        <p:nvSpPr>
          <p:cNvPr id="22" name="Shape 18"/>
          <p:cNvSpPr/>
          <p:nvPr/>
        </p:nvSpPr>
        <p:spPr>
          <a:xfrm>
            <a:off x="6732984" y="1614488"/>
            <a:ext cx="1660922" cy="587573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384852" y="1721644"/>
            <a:ext cx="3571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ITEM 2</a:t>
            </a:r>
            <a:endParaRPr lang="en-US" sz="784" dirty="0"/>
          </a:p>
        </p:txBody>
      </p:sp>
      <p:sp>
        <p:nvSpPr>
          <p:cNvPr id="24" name="Text 20"/>
          <p:cNvSpPr/>
          <p:nvPr/>
        </p:nvSpPr>
        <p:spPr>
          <a:xfrm>
            <a:off x="7177599" y="1903809"/>
            <a:ext cx="77166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kg | $4</a:t>
            </a:r>
            <a:endParaRPr lang="en-US" sz="987" dirty="0"/>
          </a:p>
        </p:txBody>
      </p:sp>
      <p:sp>
        <p:nvSpPr>
          <p:cNvPr id="25" name="Shape 21"/>
          <p:cNvSpPr/>
          <p:nvPr/>
        </p:nvSpPr>
        <p:spPr>
          <a:xfrm>
            <a:off x="4929188" y="2316361"/>
            <a:ext cx="1660922" cy="587573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580162" y="2423517"/>
            <a:ext cx="35897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ITEM 3</a:t>
            </a:r>
            <a:endParaRPr lang="en-US" sz="784" dirty="0"/>
          </a:p>
        </p:txBody>
      </p:sp>
      <p:sp>
        <p:nvSpPr>
          <p:cNvPr id="27" name="Text 23"/>
          <p:cNvSpPr/>
          <p:nvPr/>
        </p:nvSpPr>
        <p:spPr>
          <a:xfrm>
            <a:off x="5373802" y="2605683"/>
            <a:ext cx="77166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kg | $5</a:t>
            </a:r>
            <a:endParaRPr lang="en-US" sz="987" dirty="0"/>
          </a:p>
        </p:txBody>
      </p:sp>
      <p:sp>
        <p:nvSpPr>
          <p:cNvPr id="28" name="Shape 24"/>
          <p:cNvSpPr/>
          <p:nvPr/>
        </p:nvSpPr>
        <p:spPr>
          <a:xfrm>
            <a:off x="6732984" y="2316361"/>
            <a:ext cx="1660922" cy="587573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382173" y="2423517"/>
            <a:ext cx="36254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ITEM 4</a:t>
            </a:r>
            <a:endParaRPr lang="en-US" sz="784" dirty="0"/>
          </a:p>
        </p:txBody>
      </p:sp>
      <p:sp>
        <p:nvSpPr>
          <p:cNvPr id="30" name="Text 26"/>
          <p:cNvSpPr/>
          <p:nvPr/>
        </p:nvSpPr>
        <p:spPr>
          <a:xfrm>
            <a:off x="7177599" y="2605683"/>
            <a:ext cx="77166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kg | $7</a:t>
            </a:r>
            <a:endParaRPr lang="en-US" sz="987" dirty="0"/>
          </a:p>
        </p:txBody>
      </p:sp>
      <p:sp>
        <p:nvSpPr>
          <p:cNvPr id="31" name="Shape 27"/>
          <p:cNvSpPr/>
          <p:nvPr/>
        </p:nvSpPr>
        <p:spPr>
          <a:xfrm>
            <a:off x="4714875" y="3232547"/>
            <a:ext cx="3893344" cy="416123"/>
          </a:xfrm>
          <a:prstGeom prst="rect">
            <a:avLst/>
          </a:prstGeom>
          <a:solidFill>
            <a:srgbClr val="FFF0E6"/>
          </a:solidFill>
          <a:ln/>
        </p:spPr>
      </p:sp>
      <p:sp>
        <p:nvSpPr>
          <p:cNvPr id="32" name="Text 28"/>
          <p:cNvSpPr/>
          <p:nvPr/>
        </p:nvSpPr>
        <p:spPr>
          <a:xfrm>
            <a:off x="4714875" y="3232547"/>
            <a:ext cx="3893344" cy="41612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Which combination yields the highest value?</a:t>
            </a:r>
            <a:endParaRPr lang="en-US" sz="109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906" y="185738"/>
            <a:ext cx="8358188" cy="3821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92906" y="532209"/>
            <a:ext cx="8358188" cy="35719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392906" y="185738"/>
            <a:ext cx="8358188" cy="382191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5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0/1 Knapsack — Why Greedy Fails</a:t>
            </a:r>
            <a:endParaRPr lang="en-US" sz="1705" dirty="0"/>
          </a:p>
        </p:txBody>
      </p:sp>
      <p:sp>
        <p:nvSpPr>
          <p:cNvPr id="6" name="Shape 3"/>
          <p:cNvSpPr/>
          <p:nvPr/>
        </p:nvSpPr>
        <p:spPr>
          <a:xfrm>
            <a:off x="392906" y="575072"/>
            <a:ext cx="8358188" cy="70723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7" name="Shape 4"/>
          <p:cNvSpPr/>
          <p:nvPr/>
        </p:nvSpPr>
        <p:spPr>
          <a:xfrm>
            <a:off x="392906" y="575072"/>
            <a:ext cx="28575" cy="7072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478631" y="865287"/>
            <a:ext cx="61614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Capacity: 50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1237655" y="632222"/>
            <a:ext cx="787598" cy="592931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09092" y="682228"/>
            <a:ext cx="61614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Item 1</a:t>
            </a:r>
            <a:endParaRPr lang="en-US" sz="634" dirty="0"/>
          </a:p>
        </p:txBody>
      </p:sp>
      <p:sp>
        <p:nvSpPr>
          <p:cNvPr id="11" name="Text 8"/>
          <p:cNvSpPr/>
          <p:nvPr/>
        </p:nvSpPr>
        <p:spPr>
          <a:xfrm>
            <a:off x="1309092" y="807244"/>
            <a:ext cx="244673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Value: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1766292" y="807244"/>
            <a:ext cx="15894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$60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1309092" y="923330"/>
            <a:ext cx="310753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Weight: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1834158" y="923330"/>
            <a:ext cx="91083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1309092" y="1053703"/>
            <a:ext cx="616148" cy="12144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Ratio: 6.0 (Best)</a:t>
            </a:r>
            <a:endParaRPr lang="en-US" sz="534" dirty="0"/>
          </a:p>
        </p:txBody>
      </p:sp>
      <p:sp>
        <p:nvSpPr>
          <p:cNvPr id="16" name="Shape 13"/>
          <p:cNvSpPr/>
          <p:nvPr/>
        </p:nvSpPr>
        <p:spPr>
          <a:xfrm>
            <a:off x="2082403" y="632222"/>
            <a:ext cx="685800" cy="592931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53841" y="682228"/>
            <a:ext cx="5143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Item 2</a:t>
            </a:r>
            <a:endParaRPr lang="en-US" sz="634" dirty="0"/>
          </a:p>
        </p:txBody>
      </p:sp>
      <p:sp>
        <p:nvSpPr>
          <p:cNvPr id="18" name="Text 15"/>
          <p:cNvSpPr/>
          <p:nvPr/>
        </p:nvSpPr>
        <p:spPr>
          <a:xfrm>
            <a:off x="2153841" y="807244"/>
            <a:ext cx="244673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Value: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2469952" y="807244"/>
            <a:ext cx="198239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$100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2153841" y="923330"/>
            <a:ext cx="310753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Weight: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2561034" y="923330"/>
            <a:ext cx="107156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2153841" y="1053703"/>
            <a:ext cx="514350" cy="12144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Ratio: 5.0</a:t>
            </a:r>
            <a:endParaRPr lang="en-US" sz="534" dirty="0"/>
          </a:p>
        </p:txBody>
      </p:sp>
      <p:sp>
        <p:nvSpPr>
          <p:cNvPr id="23" name="Shape 20"/>
          <p:cNvSpPr/>
          <p:nvPr/>
        </p:nvSpPr>
        <p:spPr>
          <a:xfrm>
            <a:off x="2825353" y="632222"/>
            <a:ext cx="682228" cy="592931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896791" y="667941"/>
            <a:ext cx="51077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Item 3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2896791" y="792956"/>
            <a:ext cx="244673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Value: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3212902" y="792956"/>
            <a:ext cx="194667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$120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2896791" y="909042"/>
            <a:ext cx="310753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Weight: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3300413" y="909042"/>
            <a:ext cx="107156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30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2896791" y="1039416"/>
            <a:ext cx="510778" cy="12144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Ratio: 4.0</a:t>
            </a:r>
            <a:endParaRPr lang="en-US" sz="534" dirty="0"/>
          </a:p>
        </p:txBody>
      </p:sp>
      <p:sp>
        <p:nvSpPr>
          <p:cNvPr id="30" name="Text 27"/>
          <p:cNvSpPr/>
          <p:nvPr/>
        </p:nvSpPr>
        <p:spPr>
          <a:xfrm>
            <a:off x="392906" y="1310878"/>
            <a:ext cx="4107656" cy="198239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GREEDY STRATEGY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392906" y="1551980"/>
            <a:ext cx="41076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Pick highest value/weight ratio first.</a:t>
            </a:r>
            <a:endParaRPr lang="en-US" sz="727" dirty="0"/>
          </a:p>
        </p:txBody>
      </p:sp>
      <p:sp>
        <p:nvSpPr>
          <p:cNvPr id="32" name="Shape 29"/>
          <p:cNvSpPr/>
          <p:nvPr/>
        </p:nvSpPr>
        <p:spPr>
          <a:xfrm>
            <a:off x="392906" y="1724853"/>
            <a:ext cx="4107656" cy="357188"/>
          </a:xfrm>
          <a:prstGeom prst="rect">
            <a:avLst/>
          </a:prstGeom>
          <a:solidFill>
            <a:srgbClr val="EEEEEE"/>
          </a:solidFill>
          <a:ln w="18288">
            <a:solidFill>
              <a:srgbClr val="999999"/>
            </a:solidFill>
            <a:prstDash val="dash"/>
          </a:ln>
        </p:spPr>
      </p:sp>
      <p:sp>
        <p:nvSpPr>
          <p:cNvPr id="33" name="Text 30"/>
          <p:cNvSpPr/>
          <p:nvPr/>
        </p:nvSpPr>
        <p:spPr>
          <a:xfrm>
            <a:off x="4027289" y="1596265"/>
            <a:ext cx="47327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Capacity: 50</a:t>
            </a:r>
            <a:endParaRPr lang="en-US" sz="568" dirty="0"/>
          </a:p>
        </p:txBody>
      </p:sp>
      <p:sp>
        <p:nvSpPr>
          <p:cNvPr id="34" name="Shape 31"/>
          <p:cNvSpPr/>
          <p:nvPr/>
        </p:nvSpPr>
        <p:spPr>
          <a:xfrm>
            <a:off x="435769" y="1767715"/>
            <a:ext cx="804370" cy="27146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Text 32"/>
          <p:cNvSpPr/>
          <p:nvPr/>
        </p:nvSpPr>
        <p:spPr>
          <a:xfrm>
            <a:off x="435769" y="1767715"/>
            <a:ext cx="80437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734" dirty="0"/>
          </a:p>
        </p:txBody>
      </p:sp>
      <p:sp>
        <p:nvSpPr>
          <p:cNvPr id="36" name="Shape 33"/>
          <p:cNvSpPr/>
          <p:nvPr/>
        </p:nvSpPr>
        <p:spPr>
          <a:xfrm>
            <a:off x="1283001" y="1767715"/>
            <a:ext cx="1608767" cy="271463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7" name="Text 34"/>
          <p:cNvSpPr/>
          <p:nvPr/>
        </p:nvSpPr>
        <p:spPr>
          <a:xfrm>
            <a:off x="1283001" y="1767715"/>
            <a:ext cx="160876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734" dirty="0"/>
          </a:p>
        </p:txBody>
      </p:sp>
      <p:sp>
        <p:nvSpPr>
          <p:cNvPr id="38" name="Shape 35"/>
          <p:cNvSpPr/>
          <p:nvPr/>
        </p:nvSpPr>
        <p:spPr>
          <a:xfrm>
            <a:off x="392906" y="2124903"/>
            <a:ext cx="4107656" cy="251817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39" name="Text 36"/>
          <p:cNvSpPr/>
          <p:nvPr/>
        </p:nvSpPr>
        <p:spPr>
          <a:xfrm>
            <a:off x="392906" y="2124903"/>
            <a:ext cx="4107656" cy="25181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D32F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Value: $160 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32F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(Item 1 + Item 2)</a:t>
            </a:r>
            <a:pPr algn="l" indent="0" marL="0">
              <a:lnSpc>
                <a:spcPts val="1000"/>
              </a:lnSpc>
              <a:buNone/>
            </a:pPr>
            <a:endParaRPr lang="en-US" sz="734" dirty="0"/>
          </a:p>
        </p:txBody>
      </p:sp>
      <p:sp>
        <p:nvSpPr>
          <p:cNvPr id="40" name="Text 37"/>
          <p:cNvSpPr/>
          <p:nvPr/>
        </p:nvSpPr>
        <p:spPr>
          <a:xfrm>
            <a:off x="392906" y="2419583"/>
            <a:ext cx="41076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Item 3 (wt 30) doesn't fit in the remaining 20 space.</a:t>
            </a:r>
            <a:endParaRPr lang="en-US" sz="727" dirty="0"/>
          </a:p>
        </p:txBody>
      </p:sp>
      <p:sp>
        <p:nvSpPr>
          <p:cNvPr id="41" name="Text 38"/>
          <p:cNvSpPr/>
          <p:nvPr/>
        </p:nvSpPr>
        <p:spPr>
          <a:xfrm>
            <a:off x="4643438" y="1310878"/>
            <a:ext cx="4107656" cy="198239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OPTIMAL STRATEGY</a:t>
            </a:r>
            <a:endParaRPr lang="en-US" sz="834" dirty="0"/>
          </a:p>
        </p:txBody>
      </p:sp>
      <p:sp>
        <p:nvSpPr>
          <p:cNvPr id="42" name="Text 39"/>
          <p:cNvSpPr/>
          <p:nvPr/>
        </p:nvSpPr>
        <p:spPr>
          <a:xfrm>
            <a:off x="4643438" y="1551980"/>
            <a:ext cx="41076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Try all combinations (DP).</a:t>
            </a:r>
            <a:endParaRPr lang="en-US" sz="727" dirty="0"/>
          </a:p>
        </p:txBody>
      </p:sp>
      <p:sp>
        <p:nvSpPr>
          <p:cNvPr id="43" name="Shape 40"/>
          <p:cNvSpPr/>
          <p:nvPr/>
        </p:nvSpPr>
        <p:spPr>
          <a:xfrm>
            <a:off x="4643438" y="1724853"/>
            <a:ext cx="4107656" cy="357188"/>
          </a:xfrm>
          <a:prstGeom prst="rect">
            <a:avLst/>
          </a:prstGeom>
          <a:solidFill>
            <a:srgbClr val="EEEEEE"/>
          </a:solidFill>
          <a:ln w="18288">
            <a:solidFill>
              <a:srgbClr val="999999"/>
            </a:solidFill>
            <a:prstDash val="dash"/>
          </a:ln>
        </p:spPr>
      </p:sp>
      <p:sp>
        <p:nvSpPr>
          <p:cNvPr id="44" name="Text 41"/>
          <p:cNvSpPr/>
          <p:nvPr/>
        </p:nvSpPr>
        <p:spPr>
          <a:xfrm>
            <a:off x="8277820" y="1596265"/>
            <a:ext cx="47327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Capacity: 50</a:t>
            </a:r>
            <a:endParaRPr lang="en-US" sz="568" dirty="0"/>
          </a:p>
        </p:txBody>
      </p:sp>
      <p:sp>
        <p:nvSpPr>
          <p:cNvPr id="45" name="Shape 42"/>
          <p:cNvSpPr/>
          <p:nvPr/>
        </p:nvSpPr>
        <p:spPr>
          <a:xfrm>
            <a:off x="4686300" y="1767715"/>
            <a:ext cx="1591633" cy="271463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6" name="Text 43"/>
          <p:cNvSpPr/>
          <p:nvPr/>
        </p:nvSpPr>
        <p:spPr>
          <a:xfrm>
            <a:off x="4686300" y="1767715"/>
            <a:ext cx="159163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734" dirty="0"/>
          </a:p>
        </p:txBody>
      </p:sp>
      <p:sp>
        <p:nvSpPr>
          <p:cNvPr id="47" name="Shape 44"/>
          <p:cNvSpPr/>
          <p:nvPr/>
        </p:nvSpPr>
        <p:spPr>
          <a:xfrm>
            <a:off x="6320796" y="1767715"/>
            <a:ext cx="2387436" cy="2714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48" name="Text 45"/>
          <p:cNvSpPr/>
          <p:nvPr/>
        </p:nvSpPr>
        <p:spPr>
          <a:xfrm>
            <a:off x="6320796" y="1767715"/>
            <a:ext cx="238743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734" dirty="0"/>
          </a:p>
        </p:txBody>
      </p:sp>
      <p:sp>
        <p:nvSpPr>
          <p:cNvPr id="49" name="Shape 46"/>
          <p:cNvSpPr/>
          <p:nvPr/>
        </p:nvSpPr>
        <p:spPr>
          <a:xfrm>
            <a:off x="4643438" y="2124903"/>
            <a:ext cx="4107656" cy="251817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0" name="Text 47"/>
          <p:cNvSpPr/>
          <p:nvPr/>
        </p:nvSpPr>
        <p:spPr>
          <a:xfrm>
            <a:off x="4643438" y="2124903"/>
            <a:ext cx="4107656" cy="25181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E7D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Value: $220 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E7D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(Item 2 + Item 3)</a:t>
            </a:r>
            <a:pPr algn="l" indent="0" marL="0">
              <a:lnSpc>
                <a:spcPts val="1000"/>
              </a:lnSpc>
              <a:buNone/>
            </a:pPr>
            <a:endParaRPr lang="en-US" sz="734" dirty="0"/>
          </a:p>
        </p:txBody>
      </p:sp>
      <p:sp>
        <p:nvSpPr>
          <p:cNvPr id="51" name="Text 48"/>
          <p:cNvSpPr/>
          <p:nvPr/>
        </p:nvSpPr>
        <p:spPr>
          <a:xfrm>
            <a:off x="4643438" y="2419583"/>
            <a:ext cx="41076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Ignoring the "best ratio" item fills the bag more efficiently.</a:t>
            </a:r>
            <a:endParaRPr lang="en-US" sz="727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00025"/>
            <a:ext cx="8286750" cy="4143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571500"/>
            <a:ext cx="8286750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00025"/>
            <a:ext cx="8286750" cy="414338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0/1 Knapsack — Naive Recursion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600075" y="628650"/>
            <a:ext cx="38862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CHOICE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600075" y="853678"/>
            <a:ext cx="3886200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each item (starting from the last), we have two choices: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1. </a:t>
            </a:r>
            <a:pPr algn="l" indent="0" marL="0">
              <a:lnSpc>
                <a:spcPts val="1100"/>
              </a:lnSpc>
              <a:buNone/>
            </a:pPr>
            <a:r>
              <a:rPr lang="en-US" sz="7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Include it: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Add its value, subtract its weight from capacity, move to next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item.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2. </a:t>
            </a:r>
            <a:pPr algn="l" indent="0" marL="0">
              <a:lnSpc>
                <a:spcPts val="1100"/>
              </a:lnSpc>
              <a:buNone/>
            </a:pPr>
            <a:r>
              <a:rPr lang="en-US" sz="7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Exclude it: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Skip item, keep capacity, move to next item.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428625" y="1634133"/>
            <a:ext cx="4057650" cy="937227"/>
          </a:xfrm>
          <a:prstGeom prst="rect">
            <a:avLst/>
          </a:prstGeom>
          <a:solidFill>
            <a:srgbClr val="F5F5F5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8625" y="1634133"/>
            <a:ext cx="4057650" cy="93722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Recurrence Relation: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K(n, W) = max(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val[n] + K(n-1, W-wt[n]),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K(n-1, W)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674" dirty="0"/>
          </a:p>
        </p:txBody>
      </p:sp>
      <p:sp>
        <p:nvSpPr>
          <p:cNvPr id="10" name="Shape 7"/>
          <p:cNvSpPr/>
          <p:nvPr/>
        </p:nvSpPr>
        <p:spPr>
          <a:xfrm>
            <a:off x="4657725" y="628650"/>
            <a:ext cx="4057650" cy="839391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8"/>
          <p:cNvSpPr/>
          <p:nvPr/>
        </p:nvSpPr>
        <p:spPr>
          <a:xfrm>
            <a:off x="4657725" y="628650"/>
            <a:ext cx="4057650" cy="83939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&gt; b ? a : b; }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knapsack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wt[],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val[],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Base Case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 ==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W ==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weight of item exceeds capacity, skip it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(wt[n-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W)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knapsack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(W, wt, val, n-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Max of: include item OR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exclude item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val[n-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+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knapsack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 - wt[n-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wt, val, n-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knapsack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(W, wt, val, n-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); }</a:t>
            </a:r>
            <a:endParaRPr lang="en-US" sz="674" dirty="0"/>
          </a:p>
        </p:txBody>
      </p:sp>
      <p:sp>
        <p:nvSpPr>
          <p:cNvPr id="12" name="Shape 9"/>
          <p:cNvSpPr/>
          <p:nvPr/>
        </p:nvSpPr>
        <p:spPr>
          <a:xfrm>
            <a:off x="4657725" y="1525191"/>
            <a:ext cx="4057650" cy="561482"/>
          </a:xfrm>
          <a:prstGeom prst="rect">
            <a:avLst/>
          </a:prstGeom>
          <a:solidFill>
            <a:srgbClr val="FFF0E6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7738" y="1704426"/>
            <a:ext cx="260747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O(2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5018484" y="1677051"/>
            <a:ext cx="8036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2" b="1" baseline="3000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</a:t>
            </a:r>
            <a:endParaRPr lang="en-US" sz="902" dirty="0"/>
          </a:p>
        </p:txBody>
      </p:sp>
      <p:sp>
        <p:nvSpPr>
          <p:cNvPr id="15" name="Text 12"/>
          <p:cNvSpPr/>
          <p:nvPr/>
        </p:nvSpPr>
        <p:spPr>
          <a:xfrm>
            <a:off x="5098852" y="1704426"/>
            <a:ext cx="60722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5273873" y="1596628"/>
            <a:ext cx="3341489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Exponential time complexity.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Like Fibonacci, it recomputes the same subproblems (n, W) many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times.</a:t>
            </a:r>
            <a:endParaRPr lang="en-US" sz="727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0063" y="228600"/>
            <a:ext cx="8143875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00063" y="646509"/>
            <a:ext cx="8143875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00063" y="228600"/>
            <a:ext cx="8143875" cy="460772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12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0/1 Knapsack — DP Solution (Tabulation)</a:t>
            </a:r>
            <a:endParaRPr lang="en-US" sz="1912" dirty="0"/>
          </a:p>
        </p:txBody>
      </p:sp>
      <p:sp>
        <p:nvSpPr>
          <p:cNvPr id="6" name="Text 3"/>
          <p:cNvSpPr/>
          <p:nvPr/>
        </p:nvSpPr>
        <p:spPr>
          <a:xfrm>
            <a:off x="500063" y="717947"/>
            <a:ext cx="397192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Applying the Recipe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707231" y="1151930"/>
            <a:ext cx="37647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07231" y="1373386"/>
            <a:ext cx="3764756" cy="46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dp[i][w]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= max value using subset of first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items with capacity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707231" y="1927696"/>
            <a:ext cx="37647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RECURRENCE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707231" y="2149153"/>
            <a:ext cx="3764756" cy="137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If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wt[i] &gt; w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 (skip item)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dp[i][w] = dp[i-1][w]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Else: (max of skip vs take)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dp[i][w] = max(dp[i-1][w], val[i] +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dp[i-1][w-wt[i]])</a:t>
            </a:r>
            <a:pPr algn="l" indent="0" marL="0">
              <a:lnSpc>
                <a:spcPts val="1700"/>
              </a:lnSpc>
              <a:buNone/>
            </a:pPr>
            <a:endParaRPr lang="en-US" sz="1159" dirty="0"/>
          </a:p>
        </p:txBody>
      </p:sp>
      <p:sp>
        <p:nvSpPr>
          <p:cNvPr id="11" name="Text 8"/>
          <p:cNvSpPr/>
          <p:nvPr/>
        </p:nvSpPr>
        <p:spPr>
          <a:xfrm>
            <a:off x="707231" y="3612059"/>
            <a:ext cx="37647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BASE CASE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707231" y="3833515"/>
            <a:ext cx="3764756" cy="46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dp[0][..] = 0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(0 items)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dp[..][0] = 0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(0 capacity)</a:t>
            </a:r>
            <a:endParaRPr lang="en-US" sz="1159" dirty="0"/>
          </a:p>
        </p:txBody>
      </p:sp>
      <p:sp>
        <p:nvSpPr>
          <p:cNvPr id="13" name="Shape 10"/>
          <p:cNvSpPr/>
          <p:nvPr/>
        </p:nvSpPr>
        <p:spPr>
          <a:xfrm>
            <a:off x="4672013" y="717947"/>
            <a:ext cx="3971925" cy="925171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Text 11"/>
          <p:cNvSpPr/>
          <p:nvPr/>
        </p:nvSpPr>
        <p:spPr>
          <a:xfrm>
            <a:off x="4672013" y="717947"/>
            <a:ext cx="3971925" cy="925171"/>
          </a:xfrm>
          <a:prstGeom prst="rect">
            <a:avLst/>
          </a:prstGeom>
          <a:noFill/>
          <a:ln/>
        </p:spPr>
        <p:txBody>
          <a:bodyPr wrap="square" lIns="110617" tIns="93599" rIns="110617" bIns="93599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knapsack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wt[],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val[],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n,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W) {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dp[n+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[W+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memset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(dp,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(dp));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n; i++)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w &lt;= W; w++) { dp[i][w] = dp[i-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][w];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skip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(wt[i-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&lt;= w) {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take = val[i-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+ dp[i-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][w -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wt[i-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(take &gt; dp[i][w]) dp[i][w] = take; } } }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dp[n][W]; }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4672013" y="1714556"/>
            <a:ext cx="3971925" cy="50006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3"/>
          <p:cNvSpPr/>
          <p:nvPr/>
        </p:nvSpPr>
        <p:spPr>
          <a:xfrm>
            <a:off x="4672013" y="1714556"/>
            <a:ext cx="3971925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4"/>
          <p:cNvSpPr/>
          <p:nvPr/>
        </p:nvSpPr>
        <p:spPr>
          <a:xfrm>
            <a:off x="4672013" y="1714556"/>
            <a:ext cx="3971925" cy="500063"/>
          </a:xfrm>
          <a:prstGeom prst="rect">
            <a:avLst/>
          </a:prstGeom>
          <a:noFill/>
          <a:ln/>
        </p:spPr>
        <p:txBody>
          <a:bodyPr wrap="square" lIns="119126" tIns="93599" rIns="119126" bIns="93599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 Complexity: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O(N × W)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Space Complexity: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O(N × W) (Can be optimized to O(W))</a:t>
            </a:r>
            <a:endParaRPr lang="en-US" sz="942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4344" y="214313"/>
            <a:ext cx="8215313" cy="4464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64344" y="617934"/>
            <a:ext cx="8215313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464344" y="214313"/>
            <a:ext cx="8215313" cy="446484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12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0/1 Knapsack — Filling the DP Table</a:t>
            </a:r>
            <a:endParaRPr lang="en-US" sz="1912" dirty="0"/>
          </a:p>
        </p:txBody>
      </p:sp>
      <p:sp>
        <p:nvSpPr>
          <p:cNvPr id="6" name="Shape 3"/>
          <p:cNvSpPr/>
          <p:nvPr/>
        </p:nvSpPr>
        <p:spPr>
          <a:xfrm>
            <a:off x="464344" y="689372"/>
            <a:ext cx="8215313" cy="2803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464344" y="689372"/>
            <a:ext cx="28575" cy="2803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607219" y="766167"/>
            <a:ext cx="7554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ITEMS (WT, VAL)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1462683" y="760809"/>
            <a:ext cx="204060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[(2,3), (3,4), (4,5), (5,6)]</a:t>
            </a:r>
            <a:endParaRPr lang="en-US" sz="888" dirty="0"/>
          </a:p>
        </p:txBody>
      </p:sp>
      <p:sp>
        <p:nvSpPr>
          <p:cNvPr id="10" name="Text 7"/>
          <p:cNvSpPr/>
          <p:nvPr/>
        </p:nvSpPr>
        <p:spPr>
          <a:xfrm>
            <a:off x="7611582" y="766167"/>
            <a:ext cx="46077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CAPACITY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8172366" y="760809"/>
            <a:ext cx="36441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5</a:t>
            </a:r>
            <a:endParaRPr lang="en-US" sz="888" dirty="0"/>
          </a:p>
        </p:txBody>
      </p:sp>
      <p:sp>
        <p:nvSpPr>
          <p:cNvPr id="12" name="Shape 9"/>
          <p:cNvSpPr/>
          <p:nvPr/>
        </p:nvSpPr>
        <p:spPr>
          <a:xfrm>
            <a:off x="2540552" y="1087636"/>
            <a:ext cx="533381" cy="235744"/>
          </a:xfrm>
          <a:prstGeom prst="rect">
            <a:avLst/>
          </a:prstGeom>
          <a:solidFill>
            <a:srgbClr val="333333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40552" y="1087636"/>
            <a:ext cx="533381" cy="23574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3073933" y="1087636"/>
            <a:ext cx="541920" cy="235744"/>
          </a:xfrm>
          <a:prstGeom prst="rect">
            <a:avLst/>
          </a:prstGeom>
          <a:solidFill>
            <a:srgbClr val="333333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73933" y="1087636"/>
            <a:ext cx="541920" cy="23574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3615854" y="1087636"/>
            <a:ext cx="550459" cy="235744"/>
          </a:xfrm>
          <a:prstGeom prst="rect">
            <a:avLst/>
          </a:prstGeom>
          <a:solidFill>
            <a:srgbClr val="333333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15854" y="1087636"/>
            <a:ext cx="550459" cy="23574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683" dirty="0"/>
          </a:p>
        </p:txBody>
      </p:sp>
      <p:sp>
        <p:nvSpPr>
          <p:cNvPr id="18" name="Shape 15"/>
          <p:cNvSpPr/>
          <p:nvPr/>
        </p:nvSpPr>
        <p:spPr>
          <a:xfrm>
            <a:off x="4166313" y="1087636"/>
            <a:ext cx="541920" cy="235744"/>
          </a:xfrm>
          <a:prstGeom prst="rect">
            <a:avLst/>
          </a:prstGeom>
          <a:solidFill>
            <a:srgbClr val="333333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6313" y="1087636"/>
            <a:ext cx="541920" cy="23574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683" dirty="0"/>
          </a:p>
        </p:txBody>
      </p:sp>
      <p:sp>
        <p:nvSpPr>
          <p:cNvPr id="20" name="Shape 17"/>
          <p:cNvSpPr/>
          <p:nvPr/>
        </p:nvSpPr>
        <p:spPr>
          <a:xfrm>
            <a:off x="4708234" y="1087636"/>
            <a:ext cx="541920" cy="235744"/>
          </a:xfrm>
          <a:prstGeom prst="rect">
            <a:avLst/>
          </a:prstGeom>
          <a:solidFill>
            <a:srgbClr val="333333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08234" y="1087636"/>
            <a:ext cx="541920" cy="23574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683" dirty="0"/>
          </a:p>
        </p:txBody>
      </p:sp>
      <p:sp>
        <p:nvSpPr>
          <p:cNvPr id="22" name="Shape 19"/>
          <p:cNvSpPr/>
          <p:nvPr/>
        </p:nvSpPr>
        <p:spPr>
          <a:xfrm>
            <a:off x="5250154" y="1087636"/>
            <a:ext cx="550571" cy="235744"/>
          </a:xfrm>
          <a:prstGeom prst="rect">
            <a:avLst/>
          </a:prstGeom>
          <a:solidFill>
            <a:srgbClr val="333333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50154" y="1087636"/>
            <a:ext cx="550571" cy="23574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683" dirty="0"/>
          </a:p>
        </p:txBody>
      </p:sp>
      <p:sp>
        <p:nvSpPr>
          <p:cNvPr id="24" name="Shape 21"/>
          <p:cNvSpPr/>
          <p:nvPr/>
        </p:nvSpPr>
        <p:spPr>
          <a:xfrm>
            <a:off x="467916" y="1316236"/>
            <a:ext cx="2072636" cy="276820"/>
          </a:xfrm>
          <a:prstGeom prst="rect">
            <a:avLst/>
          </a:prstGeom>
          <a:solidFill>
            <a:srgbClr val="E0E0E0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7916" y="1316236"/>
            <a:ext cx="2072636" cy="276820"/>
          </a:xfrm>
          <a:prstGeom prst="rect">
            <a:avLst/>
          </a:prstGeom>
          <a:noFill/>
          <a:ln/>
        </p:spPr>
        <p:txBody>
          <a:bodyPr wrap="square" lIns="102108" tIns="68072" rIns="85090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Item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2540552" y="1316236"/>
            <a:ext cx="533381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3073933" y="1316236"/>
            <a:ext cx="541920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3615854" y="1316236"/>
            <a:ext cx="550459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4166313" y="1316236"/>
            <a:ext cx="541920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4708234" y="1316236"/>
            <a:ext cx="541920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5250154" y="1316236"/>
            <a:ext cx="550571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88" dirty="0"/>
          </a:p>
        </p:txBody>
      </p:sp>
      <p:sp>
        <p:nvSpPr>
          <p:cNvPr id="32" name="Shape 29"/>
          <p:cNvSpPr/>
          <p:nvPr/>
        </p:nvSpPr>
        <p:spPr>
          <a:xfrm>
            <a:off x="467916" y="1589484"/>
            <a:ext cx="2072636" cy="276820"/>
          </a:xfrm>
          <a:prstGeom prst="rect">
            <a:avLst/>
          </a:prstGeom>
          <a:solidFill>
            <a:srgbClr val="E0E0E0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7916" y="1589484"/>
            <a:ext cx="2072636" cy="276820"/>
          </a:xfrm>
          <a:prstGeom prst="rect">
            <a:avLst/>
          </a:prstGeom>
          <a:noFill/>
          <a:ln/>
        </p:spPr>
        <p:txBody>
          <a:bodyPr wrap="square" lIns="102108" tIns="68072" rIns="85090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Item 1 (2, 3)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2540552" y="1585913"/>
            <a:ext cx="533381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3073933" y="1585913"/>
            <a:ext cx="541920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88" dirty="0"/>
          </a:p>
        </p:txBody>
      </p:sp>
      <p:sp>
        <p:nvSpPr>
          <p:cNvPr id="36" name="Shape 33"/>
          <p:cNvSpPr/>
          <p:nvPr/>
        </p:nvSpPr>
        <p:spPr>
          <a:xfrm>
            <a:off x="3615854" y="1585913"/>
            <a:ext cx="550459" cy="273248"/>
          </a:xfrm>
          <a:prstGeom prst="rect">
            <a:avLst/>
          </a:prstGeom>
          <a:solidFill>
            <a:srgbClr val="E3F2FD"/>
          </a:solidFill>
          <a:ln w="18288">
            <a:solidFill>
              <a:srgbClr val="1565C0"/>
            </a:solidFill>
            <a:prstDash val="dash"/>
          </a:ln>
        </p:spPr>
      </p:sp>
      <p:sp>
        <p:nvSpPr>
          <p:cNvPr id="37" name="Text 34"/>
          <p:cNvSpPr/>
          <p:nvPr/>
        </p:nvSpPr>
        <p:spPr>
          <a:xfrm>
            <a:off x="3615854" y="1585913"/>
            <a:ext cx="550459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4166313" y="1585913"/>
            <a:ext cx="541920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4708234" y="1585913"/>
            <a:ext cx="541920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88" dirty="0"/>
          </a:p>
        </p:txBody>
      </p:sp>
      <p:sp>
        <p:nvSpPr>
          <p:cNvPr id="40" name="Shape 37"/>
          <p:cNvSpPr/>
          <p:nvPr/>
        </p:nvSpPr>
        <p:spPr>
          <a:xfrm>
            <a:off x="5250154" y="1585913"/>
            <a:ext cx="550571" cy="273248"/>
          </a:xfrm>
          <a:prstGeom prst="rect">
            <a:avLst/>
          </a:prstGeom>
          <a:solidFill>
            <a:srgbClr val="E3F2FD"/>
          </a:solidFill>
          <a:ln w="18288">
            <a:solidFill>
              <a:srgbClr val="1565C0"/>
            </a:solidFill>
            <a:prstDash val="dash"/>
          </a:ln>
        </p:spPr>
      </p:sp>
      <p:sp>
        <p:nvSpPr>
          <p:cNvPr id="41" name="Text 38"/>
          <p:cNvSpPr/>
          <p:nvPr/>
        </p:nvSpPr>
        <p:spPr>
          <a:xfrm>
            <a:off x="5250154" y="1585913"/>
            <a:ext cx="550571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88" dirty="0"/>
          </a:p>
        </p:txBody>
      </p:sp>
      <p:sp>
        <p:nvSpPr>
          <p:cNvPr id="42" name="Shape 39"/>
          <p:cNvSpPr/>
          <p:nvPr/>
        </p:nvSpPr>
        <p:spPr>
          <a:xfrm>
            <a:off x="467916" y="1859161"/>
            <a:ext cx="2072636" cy="276820"/>
          </a:xfrm>
          <a:prstGeom prst="rect">
            <a:avLst/>
          </a:prstGeom>
          <a:solidFill>
            <a:srgbClr val="E0E0E0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67916" y="1859161"/>
            <a:ext cx="2072636" cy="276820"/>
          </a:xfrm>
          <a:prstGeom prst="rect">
            <a:avLst/>
          </a:prstGeom>
          <a:noFill/>
          <a:ln/>
        </p:spPr>
        <p:txBody>
          <a:bodyPr wrap="square" lIns="102108" tIns="68072" rIns="85090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Item 2 (3, 4)</a:t>
            </a:r>
            <a:endParaRPr lang="en-US" sz="834" dirty="0"/>
          </a:p>
        </p:txBody>
      </p:sp>
      <p:sp>
        <p:nvSpPr>
          <p:cNvPr id="44" name="Text 41"/>
          <p:cNvSpPr/>
          <p:nvPr/>
        </p:nvSpPr>
        <p:spPr>
          <a:xfrm>
            <a:off x="2540552" y="1855589"/>
            <a:ext cx="533381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3073933" y="1855589"/>
            <a:ext cx="541920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3615854" y="1855589"/>
            <a:ext cx="550459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4166313" y="1855589"/>
            <a:ext cx="541920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4708234" y="1855589"/>
            <a:ext cx="541920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88" dirty="0"/>
          </a:p>
        </p:txBody>
      </p:sp>
      <p:sp>
        <p:nvSpPr>
          <p:cNvPr id="49" name="Shape 46"/>
          <p:cNvSpPr/>
          <p:nvPr/>
        </p:nvSpPr>
        <p:spPr>
          <a:xfrm>
            <a:off x="5250154" y="1855589"/>
            <a:ext cx="550571" cy="273248"/>
          </a:xfrm>
          <a:prstGeom prst="rect">
            <a:avLst/>
          </a:prstGeom>
          <a:solidFill>
            <a:srgbClr val="FFE5D9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250154" y="1855589"/>
            <a:ext cx="550571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34" dirty="0"/>
          </a:p>
        </p:txBody>
      </p:sp>
      <p:sp>
        <p:nvSpPr>
          <p:cNvPr id="51" name="Shape 48"/>
          <p:cNvSpPr/>
          <p:nvPr/>
        </p:nvSpPr>
        <p:spPr>
          <a:xfrm>
            <a:off x="467916" y="2128838"/>
            <a:ext cx="2072636" cy="276820"/>
          </a:xfrm>
          <a:prstGeom prst="rect">
            <a:avLst/>
          </a:prstGeom>
          <a:solidFill>
            <a:srgbClr val="E0E0E0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67916" y="2128838"/>
            <a:ext cx="2072636" cy="276820"/>
          </a:xfrm>
          <a:prstGeom prst="rect">
            <a:avLst/>
          </a:prstGeom>
          <a:noFill/>
          <a:ln/>
        </p:spPr>
        <p:txBody>
          <a:bodyPr wrap="square" lIns="102108" tIns="68072" rIns="85090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Item 3 (4, 5)</a:t>
            </a:r>
            <a:endParaRPr lang="en-US" sz="834" dirty="0"/>
          </a:p>
        </p:txBody>
      </p:sp>
      <p:sp>
        <p:nvSpPr>
          <p:cNvPr id="53" name="Text 50"/>
          <p:cNvSpPr/>
          <p:nvPr/>
        </p:nvSpPr>
        <p:spPr>
          <a:xfrm>
            <a:off x="2540552" y="2125266"/>
            <a:ext cx="533381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3073933" y="2125266"/>
            <a:ext cx="541920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88" dirty="0"/>
          </a:p>
        </p:txBody>
      </p:sp>
      <p:sp>
        <p:nvSpPr>
          <p:cNvPr id="55" name="Text 52"/>
          <p:cNvSpPr/>
          <p:nvPr/>
        </p:nvSpPr>
        <p:spPr>
          <a:xfrm>
            <a:off x="3615854" y="2125266"/>
            <a:ext cx="550459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88" dirty="0"/>
          </a:p>
        </p:txBody>
      </p:sp>
      <p:sp>
        <p:nvSpPr>
          <p:cNvPr id="56" name="Text 53"/>
          <p:cNvSpPr/>
          <p:nvPr/>
        </p:nvSpPr>
        <p:spPr>
          <a:xfrm>
            <a:off x="4166313" y="2125266"/>
            <a:ext cx="541920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88" dirty="0"/>
          </a:p>
        </p:txBody>
      </p:sp>
      <p:sp>
        <p:nvSpPr>
          <p:cNvPr id="57" name="Text 54"/>
          <p:cNvSpPr/>
          <p:nvPr/>
        </p:nvSpPr>
        <p:spPr>
          <a:xfrm>
            <a:off x="4708234" y="2125266"/>
            <a:ext cx="541920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88" dirty="0"/>
          </a:p>
        </p:txBody>
      </p:sp>
      <p:sp>
        <p:nvSpPr>
          <p:cNvPr id="58" name="Text 55"/>
          <p:cNvSpPr/>
          <p:nvPr/>
        </p:nvSpPr>
        <p:spPr>
          <a:xfrm>
            <a:off x="5250154" y="2125266"/>
            <a:ext cx="550571" cy="27324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88" dirty="0"/>
          </a:p>
        </p:txBody>
      </p:sp>
      <p:sp>
        <p:nvSpPr>
          <p:cNvPr id="59" name="Shape 56"/>
          <p:cNvSpPr/>
          <p:nvPr/>
        </p:nvSpPr>
        <p:spPr>
          <a:xfrm>
            <a:off x="467916" y="2398514"/>
            <a:ext cx="2072636" cy="276820"/>
          </a:xfrm>
          <a:prstGeom prst="rect">
            <a:avLst/>
          </a:prstGeom>
          <a:solidFill>
            <a:srgbClr val="E0E0E0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67916" y="2398514"/>
            <a:ext cx="2072636" cy="276820"/>
          </a:xfrm>
          <a:prstGeom prst="rect">
            <a:avLst/>
          </a:prstGeom>
          <a:noFill/>
          <a:ln/>
        </p:spPr>
        <p:txBody>
          <a:bodyPr wrap="square" lIns="102108" tIns="68072" rIns="85090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Item 4 (5, 6)</a:t>
            </a:r>
            <a:endParaRPr lang="en-US" sz="834" dirty="0"/>
          </a:p>
        </p:txBody>
      </p:sp>
      <p:sp>
        <p:nvSpPr>
          <p:cNvPr id="61" name="Text 58"/>
          <p:cNvSpPr/>
          <p:nvPr/>
        </p:nvSpPr>
        <p:spPr>
          <a:xfrm>
            <a:off x="2533129" y="2394942"/>
            <a:ext cx="534581" cy="269677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88" dirty="0"/>
          </a:p>
        </p:txBody>
      </p:sp>
      <p:sp>
        <p:nvSpPr>
          <p:cNvPr id="62" name="Text 59"/>
          <p:cNvSpPr/>
          <p:nvPr/>
        </p:nvSpPr>
        <p:spPr>
          <a:xfrm>
            <a:off x="3067710" y="2394942"/>
            <a:ext cx="543148" cy="269677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88" dirty="0"/>
          </a:p>
        </p:txBody>
      </p:sp>
      <p:sp>
        <p:nvSpPr>
          <p:cNvPr id="63" name="Text 60"/>
          <p:cNvSpPr/>
          <p:nvPr/>
        </p:nvSpPr>
        <p:spPr>
          <a:xfrm>
            <a:off x="3610859" y="2394942"/>
            <a:ext cx="551715" cy="269677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88" dirty="0"/>
          </a:p>
        </p:txBody>
      </p:sp>
      <p:sp>
        <p:nvSpPr>
          <p:cNvPr id="64" name="Text 61"/>
          <p:cNvSpPr/>
          <p:nvPr/>
        </p:nvSpPr>
        <p:spPr>
          <a:xfrm>
            <a:off x="4162574" y="2394942"/>
            <a:ext cx="543148" cy="269677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88" dirty="0"/>
          </a:p>
        </p:txBody>
      </p:sp>
      <p:sp>
        <p:nvSpPr>
          <p:cNvPr id="65" name="Text 62"/>
          <p:cNvSpPr/>
          <p:nvPr/>
        </p:nvSpPr>
        <p:spPr>
          <a:xfrm>
            <a:off x="4705722" y="2394942"/>
            <a:ext cx="543148" cy="269677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88" dirty="0"/>
          </a:p>
        </p:txBody>
      </p:sp>
      <p:sp>
        <p:nvSpPr>
          <p:cNvPr id="66" name="Text 63"/>
          <p:cNvSpPr/>
          <p:nvPr/>
        </p:nvSpPr>
        <p:spPr>
          <a:xfrm>
            <a:off x="5248870" y="2394942"/>
            <a:ext cx="551855" cy="269677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88" dirty="0"/>
          </a:p>
        </p:txBody>
      </p:sp>
      <p:sp>
        <p:nvSpPr>
          <p:cNvPr id="67" name="Shape 64"/>
          <p:cNvSpPr/>
          <p:nvPr/>
        </p:nvSpPr>
        <p:spPr>
          <a:xfrm>
            <a:off x="6007894" y="1084064"/>
            <a:ext cx="2671763" cy="2500313"/>
          </a:xfrm>
          <a:prstGeom prst="rect">
            <a:avLst/>
          </a:prstGeom>
          <a:solidFill>
            <a:srgbClr val="FAFAFA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107906" y="1184077"/>
            <a:ext cx="2471738" cy="235744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Calculating dp[2][5]</a:t>
            </a:r>
            <a:endParaRPr lang="en-US" sz="885" dirty="0"/>
          </a:p>
        </p:txBody>
      </p:sp>
      <p:sp>
        <p:nvSpPr>
          <p:cNvPr id="69" name="Text 66"/>
          <p:cNvSpPr/>
          <p:nvPr/>
        </p:nvSpPr>
        <p:spPr>
          <a:xfrm>
            <a:off x="6107906" y="1505545"/>
            <a:ext cx="24717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2: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wt=3, val=4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727" dirty="0"/>
          </a:p>
        </p:txBody>
      </p:sp>
      <p:sp>
        <p:nvSpPr>
          <p:cNvPr id="70" name="Text 67"/>
          <p:cNvSpPr/>
          <p:nvPr/>
        </p:nvSpPr>
        <p:spPr>
          <a:xfrm>
            <a:off x="6107906" y="1848445"/>
            <a:ext cx="24717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1 (Exclude):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dp[1][5] =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</p:txBody>
      </p:sp>
      <p:sp>
        <p:nvSpPr>
          <p:cNvPr id="71" name="Text 68"/>
          <p:cNvSpPr/>
          <p:nvPr/>
        </p:nvSpPr>
        <p:spPr>
          <a:xfrm>
            <a:off x="6107906" y="2191345"/>
            <a:ext cx="247173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2 (Include):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 + dp[1][5-3]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4 + dp[1][2]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4 +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7</a:t>
            </a:r>
            <a:endParaRPr lang="en-US" sz="727" dirty="0"/>
          </a:p>
        </p:txBody>
      </p:sp>
      <p:sp>
        <p:nvSpPr>
          <p:cNvPr id="72" name="Text 69"/>
          <p:cNvSpPr/>
          <p:nvPr/>
        </p:nvSpPr>
        <p:spPr>
          <a:xfrm>
            <a:off x="6107906" y="2848570"/>
            <a:ext cx="2471738" cy="200025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max(3, 7) =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</p:txBody>
      </p:sp>
      <p:sp>
        <p:nvSpPr>
          <p:cNvPr id="73" name="Text 70"/>
          <p:cNvSpPr/>
          <p:nvPr/>
        </p:nvSpPr>
        <p:spPr>
          <a:xfrm>
            <a:off x="6279356" y="3177183"/>
            <a:ext cx="52328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Current Cell</a:t>
            </a:r>
            <a:endParaRPr lang="en-US" sz="674" dirty="0"/>
          </a:p>
        </p:txBody>
      </p:sp>
      <p:sp>
        <p:nvSpPr>
          <p:cNvPr id="74" name="Text 71"/>
          <p:cNvSpPr/>
          <p:nvPr/>
        </p:nvSpPr>
        <p:spPr>
          <a:xfrm>
            <a:off x="6279356" y="3352205"/>
            <a:ext cx="6411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Dependencies</a:t>
            </a:r>
            <a:endParaRPr lang="en-US" sz="67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4344" y="214313"/>
            <a:ext cx="8215313" cy="4143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64344" y="585788"/>
            <a:ext cx="8215313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464344" y="214313"/>
            <a:ext cx="8215313" cy="414338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0/1 Knapsack — Space Optimization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635794" y="642938"/>
            <a:ext cx="384333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OBSERVATION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635794" y="909042"/>
            <a:ext cx="16341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calculate values for item</a:t>
            </a:r>
            <a:endParaRPr lang="en-US" sz="888" dirty="0"/>
          </a:p>
        </p:txBody>
      </p:sp>
      <p:sp>
        <p:nvSpPr>
          <p:cNvPr id="8" name="Text 5"/>
          <p:cNvSpPr/>
          <p:nvPr/>
        </p:nvSpPr>
        <p:spPr>
          <a:xfrm>
            <a:off x="2269927" y="898327"/>
            <a:ext cx="7288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</a:t>
            </a:r>
            <a:endParaRPr lang="en-US" sz="888" dirty="0"/>
          </a:p>
        </p:txBody>
      </p:sp>
      <p:sp>
        <p:nvSpPr>
          <p:cNvPr id="9" name="Text 6"/>
          <p:cNvSpPr/>
          <p:nvPr/>
        </p:nvSpPr>
        <p:spPr>
          <a:xfrm>
            <a:off x="2342815" y="909042"/>
            <a:ext cx="18680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we only need values from item</a:t>
            </a:r>
            <a:endParaRPr lang="en-US" sz="888" dirty="0"/>
          </a:p>
        </p:txBody>
      </p:sp>
      <p:sp>
        <p:nvSpPr>
          <p:cNvPr id="10" name="Text 7"/>
          <p:cNvSpPr/>
          <p:nvPr/>
        </p:nvSpPr>
        <p:spPr>
          <a:xfrm>
            <a:off x="4210906" y="898327"/>
            <a:ext cx="21861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i-1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635794" y="1079041"/>
            <a:ext cx="11037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(the previous row).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635794" y="1419039"/>
            <a:ext cx="24735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can collapse the 2D table into a single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3109317" y="1419039"/>
            <a:ext cx="4732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1D array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3582591" y="1419039"/>
            <a:ext cx="303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888" dirty="0"/>
          </a:p>
        </p:txBody>
      </p:sp>
      <p:sp>
        <p:nvSpPr>
          <p:cNvPr id="15" name="Shape 12"/>
          <p:cNvSpPr/>
          <p:nvPr/>
        </p:nvSpPr>
        <p:spPr>
          <a:xfrm>
            <a:off x="464344" y="1710482"/>
            <a:ext cx="4014788" cy="946547"/>
          </a:xfrm>
          <a:prstGeom prst="rect">
            <a:avLst/>
          </a:prstGeom>
          <a:solidFill>
            <a:srgbClr val="F5F5F5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4356" y="1810494"/>
            <a:ext cx="38147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Dependency Direction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564356" y="2028379"/>
            <a:ext cx="321469" cy="321469"/>
          </a:xfrm>
          <a:prstGeom prst="rect">
            <a:avLst/>
          </a:prstGeom>
          <a:solidFill>
            <a:srgbClr val="E3F2FD"/>
          </a:solidFill>
          <a:ln w="9144">
            <a:solidFill>
              <a:srgbClr val="1565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4356" y="2028379"/>
            <a:ext cx="32146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src</a:t>
            </a:r>
            <a:endParaRPr lang="en-US" sz="674" dirty="0"/>
          </a:p>
        </p:txBody>
      </p:sp>
      <p:sp>
        <p:nvSpPr>
          <p:cNvPr id="19" name="Shape 16"/>
          <p:cNvSpPr/>
          <p:nvPr/>
        </p:nvSpPr>
        <p:spPr>
          <a:xfrm>
            <a:off x="921544" y="2028379"/>
            <a:ext cx="321469" cy="321469"/>
          </a:xfrm>
          <a:prstGeom prst="rect">
            <a:avLst/>
          </a:prstGeom>
          <a:solidFill>
            <a:srgbClr val="FFFFFF"/>
          </a:solidFill>
          <a:ln w="9144">
            <a:solidFill>
              <a:srgbClr val="99999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1544" y="2028379"/>
            <a:ext cx="32146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...</a:t>
            </a:r>
            <a:endParaRPr lang="en-US" sz="674" dirty="0"/>
          </a:p>
        </p:txBody>
      </p:sp>
      <p:sp>
        <p:nvSpPr>
          <p:cNvPr id="21" name="Shape 18"/>
          <p:cNvSpPr/>
          <p:nvPr/>
        </p:nvSpPr>
        <p:spPr>
          <a:xfrm>
            <a:off x="1278731" y="2028379"/>
            <a:ext cx="321469" cy="321469"/>
          </a:xfrm>
          <a:prstGeom prst="rect">
            <a:avLst/>
          </a:prstGeom>
          <a:solidFill>
            <a:srgbClr val="FFE5D9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78731" y="2028379"/>
            <a:ext cx="32146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new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564356" y="2406997"/>
            <a:ext cx="3000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dp[w]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864394" y="2414141"/>
            <a:ext cx="62329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depends on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1487686" y="2406997"/>
            <a:ext cx="4800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dp[w-wt]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1967768" y="2414141"/>
            <a:ext cx="83939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(a smaller index).</a:t>
            </a:r>
            <a:endParaRPr lang="en-US" sz="727" dirty="0"/>
          </a:p>
        </p:txBody>
      </p:sp>
      <p:sp>
        <p:nvSpPr>
          <p:cNvPr id="27" name="Shape 24"/>
          <p:cNvSpPr/>
          <p:nvPr/>
        </p:nvSpPr>
        <p:spPr>
          <a:xfrm>
            <a:off x="4664869" y="642938"/>
            <a:ext cx="4014788" cy="73711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8" name="Text 25"/>
          <p:cNvSpPr/>
          <p:nvPr/>
        </p:nvSpPr>
        <p:spPr>
          <a:xfrm>
            <a:off x="4664869" y="642938"/>
            <a:ext cx="4014788" cy="73711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knapsack_opt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wt[],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val[],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W) {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dp[W +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memset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(dp,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(dp));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n; i++)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Traverse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BACKWARDS to avoid reusing item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 = W; w &gt;= wt[i]; w--) {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take = val[i] + dp[w - wt[i]];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(take &gt; dp[w]) dp[w] = take; }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dp[W]; }</a:t>
            </a:r>
            <a:endParaRPr lang="en-US" sz="674" dirty="0"/>
          </a:p>
        </p:txBody>
      </p:sp>
      <p:sp>
        <p:nvSpPr>
          <p:cNvPr id="29" name="Shape 26"/>
          <p:cNvSpPr/>
          <p:nvPr/>
        </p:nvSpPr>
        <p:spPr>
          <a:xfrm>
            <a:off x="4664869" y="1451493"/>
            <a:ext cx="4014788" cy="659011"/>
          </a:xfrm>
          <a:prstGeom prst="rect">
            <a:avLst/>
          </a:prstGeom>
          <a:solidFill>
            <a:srgbClr val="FFF0E6"/>
          </a:solidFill>
          <a:ln w="18288">
            <a:solidFill>
              <a:srgbClr val="FF4500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881" y="1551505"/>
            <a:ext cx="142875" cy="14287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993481" y="1537218"/>
            <a:ext cx="35861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BACKWARDS?</a:t>
            </a:r>
            <a:endParaRPr lang="en-US" sz="734" dirty="0"/>
          </a:p>
        </p:txBody>
      </p:sp>
      <p:sp>
        <p:nvSpPr>
          <p:cNvPr id="32" name="Text 28"/>
          <p:cNvSpPr/>
          <p:nvPr/>
        </p:nvSpPr>
        <p:spPr>
          <a:xfrm>
            <a:off x="4993481" y="1706882"/>
            <a:ext cx="203954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If we iterate forward, we might use the</a:t>
            </a:r>
            <a:endParaRPr lang="en-US" sz="780" dirty="0"/>
          </a:p>
        </p:txBody>
      </p:sp>
      <p:sp>
        <p:nvSpPr>
          <p:cNvPr id="33" name="Text 29"/>
          <p:cNvSpPr/>
          <p:nvPr/>
        </p:nvSpPr>
        <p:spPr>
          <a:xfrm>
            <a:off x="7033022" y="1706882"/>
            <a:ext cx="128766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item multiple times</a:t>
            </a:r>
            <a:endParaRPr lang="en-US" sz="734" dirty="0"/>
          </a:p>
        </p:txBody>
      </p:sp>
      <p:sp>
        <p:nvSpPr>
          <p:cNvPr id="34" name="Text 30"/>
          <p:cNvSpPr/>
          <p:nvPr/>
        </p:nvSpPr>
        <p:spPr>
          <a:xfrm>
            <a:off x="4993481" y="1855115"/>
            <a:ext cx="5143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(because</a:t>
            </a:r>
            <a:endParaRPr lang="en-US" sz="780" dirty="0"/>
          </a:p>
        </p:txBody>
      </p:sp>
      <p:sp>
        <p:nvSpPr>
          <p:cNvPr id="35" name="Text 31"/>
          <p:cNvSpPr/>
          <p:nvPr/>
        </p:nvSpPr>
        <p:spPr>
          <a:xfrm>
            <a:off x="5507831" y="1846185"/>
            <a:ext cx="5143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dp[w-wt]</a:t>
            </a:r>
            <a:endParaRPr lang="en-US" sz="780" dirty="0"/>
          </a:p>
        </p:txBody>
      </p:sp>
      <p:sp>
        <p:nvSpPr>
          <p:cNvPr id="36" name="Text 32"/>
          <p:cNvSpPr/>
          <p:nvPr/>
        </p:nvSpPr>
        <p:spPr>
          <a:xfrm>
            <a:off x="6022181" y="1855115"/>
            <a:ext cx="251995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would already be updated for the current item).</a:t>
            </a:r>
            <a:endParaRPr lang="en-US" sz="7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5066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9286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1157288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928688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Classic Problem 4 — Longest Common Subsequence (LCS)</a:t>
            </a:r>
            <a:endParaRPr lang="en-US" sz="2226" dirty="0"/>
          </a:p>
        </p:txBody>
      </p:sp>
      <p:sp>
        <p:nvSpPr>
          <p:cNvPr id="6" name="Text 3"/>
          <p:cNvSpPr/>
          <p:nvPr/>
        </p:nvSpPr>
        <p:spPr>
          <a:xfrm>
            <a:off x="535781" y="1300163"/>
            <a:ext cx="3893344" cy="77152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Problem:</a:t>
            </a:r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Given two sequences, find the </a:t>
            </a:r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length of the longest subsequence present </a:t>
            </a:r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both of them.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35781" y="2200275"/>
            <a:ext cx="3893344" cy="142517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535781" y="2200275"/>
            <a:ext cx="3893344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14375" y="2378869"/>
            <a:ext cx="353615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SUBSEQUENCE VS. SUBSTRING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714375" y="2632472"/>
            <a:ext cx="353615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subsequence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appears in the same relative order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but </a:t>
            </a:r>
            <a:pPr algn="l" indent="0" marL="0">
              <a:lnSpc>
                <a:spcPts val="1600"/>
              </a:lnSpc>
              <a:buNone/>
            </a:pPr>
            <a:r>
              <a:rPr lang="en-US" sz="1050" u="sng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 necessarily contiguously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"ACE" is a subsequence of "ABCDE".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35781" y="3739753"/>
            <a:ext cx="38933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REAL-WORLD APPLICATIONS</a:t>
            </a:r>
            <a:endParaRPr lang="en-US" sz="987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4084439"/>
            <a:ext cx="125016" cy="1428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2234" y="4064794"/>
            <a:ext cx="165913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Version Control (git diff)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81" y="4338042"/>
            <a:ext cx="125016" cy="1428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2234" y="4318397"/>
            <a:ext cx="215205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Bioinformatics (DNA alignment)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81" y="4591645"/>
            <a:ext cx="160734" cy="142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7953" y="4572000"/>
            <a:ext cx="100548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Spell Checkers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4714875" y="1300163"/>
            <a:ext cx="389334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 1</a:t>
            </a:r>
            <a:endParaRPr lang="en-US" sz="885" dirty="0"/>
          </a:p>
        </p:txBody>
      </p:sp>
      <p:sp>
        <p:nvSpPr>
          <p:cNvPr id="19" name="Shape 13"/>
          <p:cNvSpPr/>
          <p:nvPr/>
        </p:nvSpPr>
        <p:spPr>
          <a:xfrm>
            <a:off x="4714875" y="1607344"/>
            <a:ext cx="357188" cy="357188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714875" y="1607344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93" dirty="0"/>
          </a:p>
        </p:txBody>
      </p:sp>
      <p:sp>
        <p:nvSpPr>
          <p:cNvPr id="21" name="Text 15"/>
          <p:cNvSpPr/>
          <p:nvPr/>
        </p:nvSpPr>
        <p:spPr>
          <a:xfrm>
            <a:off x="5107781" y="1607344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93" dirty="0"/>
          </a:p>
        </p:txBody>
      </p:sp>
      <p:sp>
        <p:nvSpPr>
          <p:cNvPr id="22" name="Shape 16"/>
          <p:cNvSpPr/>
          <p:nvPr/>
        </p:nvSpPr>
        <p:spPr>
          <a:xfrm>
            <a:off x="5500688" y="1607344"/>
            <a:ext cx="357188" cy="357188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500688" y="1607344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193" dirty="0"/>
          </a:p>
        </p:txBody>
      </p:sp>
      <p:sp>
        <p:nvSpPr>
          <p:cNvPr id="24" name="Text 18"/>
          <p:cNvSpPr/>
          <p:nvPr/>
        </p:nvSpPr>
        <p:spPr>
          <a:xfrm>
            <a:off x="5893594" y="1607344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193" dirty="0"/>
          </a:p>
        </p:txBody>
      </p:sp>
      <p:sp>
        <p:nvSpPr>
          <p:cNvPr id="25" name="Shape 19"/>
          <p:cNvSpPr/>
          <p:nvPr/>
        </p:nvSpPr>
        <p:spPr>
          <a:xfrm>
            <a:off x="6286500" y="1607344"/>
            <a:ext cx="357188" cy="357188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286500" y="1607344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193" dirty="0"/>
          </a:p>
        </p:txBody>
      </p:sp>
      <p:sp>
        <p:nvSpPr>
          <p:cNvPr id="27" name="Shape 21"/>
          <p:cNvSpPr/>
          <p:nvPr/>
        </p:nvSpPr>
        <p:spPr>
          <a:xfrm>
            <a:off x="4714875" y="2107406"/>
            <a:ext cx="357188" cy="357188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714875" y="2107406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93" dirty="0"/>
          </a:p>
        </p:txBody>
      </p:sp>
      <p:sp>
        <p:nvSpPr>
          <p:cNvPr id="29" name="Shape 23"/>
          <p:cNvSpPr/>
          <p:nvPr/>
        </p:nvSpPr>
        <p:spPr>
          <a:xfrm>
            <a:off x="5107781" y="2107406"/>
            <a:ext cx="357188" cy="357188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107781" y="2107406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193" dirty="0"/>
          </a:p>
        </p:txBody>
      </p:sp>
      <p:sp>
        <p:nvSpPr>
          <p:cNvPr id="31" name="Shape 25"/>
          <p:cNvSpPr/>
          <p:nvPr/>
        </p:nvSpPr>
        <p:spPr>
          <a:xfrm>
            <a:off x="5500688" y="2107406"/>
            <a:ext cx="357188" cy="357188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500688" y="2107406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193" dirty="0"/>
          </a:p>
        </p:txBody>
      </p:sp>
      <p:sp>
        <p:nvSpPr>
          <p:cNvPr id="33" name="Text 27"/>
          <p:cNvSpPr/>
          <p:nvPr/>
        </p:nvSpPr>
        <p:spPr>
          <a:xfrm>
            <a:off x="4714875" y="2678906"/>
            <a:ext cx="3893344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LCS: "ACE" (Length 3)</a:t>
            </a:r>
            <a:endParaRPr lang="en-US" sz="1090" dirty="0"/>
          </a:p>
        </p:txBody>
      </p:sp>
      <p:sp>
        <p:nvSpPr>
          <p:cNvPr id="34" name="Text 28"/>
          <p:cNvSpPr/>
          <p:nvPr/>
        </p:nvSpPr>
        <p:spPr>
          <a:xfrm>
            <a:off x="4714875" y="3166467"/>
            <a:ext cx="389334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 2</a:t>
            </a:r>
            <a:endParaRPr lang="en-US" sz="885" dirty="0"/>
          </a:p>
        </p:txBody>
      </p:sp>
      <p:sp>
        <p:nvSpPr>
          <p:cNvPr id="35" name="Text 29"/>
          <p:cNvSpPr/>
          <p:nvPr/>
        </p:nvSpPr>
        <p:spPr>
          <a:xfrm>
            <a:off x="4714875" y="3473648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93" dirty="0"/>
          </a:p>
        </p:txBody>
      </p:sp>
      <p:sp>
        <p:nvSpPr>
          <p:cNvPr id="36" name="Shape 30"/>
          <p:cNvSpPr/>
          <p:nvPr/>
        </p:nvSpPr>
        <p:spPr>
          <a:xfrm>
            <a:off x="5107781" y="3473648"/>
            <a:ext cx="357188" cy="357188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107781" y="3473648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193" dirty="0"/>
          </a:p>
        </p:txBody>
      </p:sp>
      <p:sp>
        <p:nvSpPr>
          <p:cNvPr id="38" name="Text 32"/>
          <p:cNvSpPr/>
          <p:nvPr/>
        </p:nvSpPr>
        <p:spPr>
          <a:xfrm>
            <a:off x="5500688" y="3473648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193" dirty="0"/>
          </a:p>
        </p:txBody>
      </p:sp>
      <p:sp>
        <p:nvSpPr>
          <p:cNvPr id="39" name="Shape 33"/>
          <p:cNvSpPr/>
          <p:nvPr/>
        </p:nvSpPr>
        <p:spPr>
          <a:xfrm>
            <a:off x="5893594" y="3473648"/>
            <a:ext cx="357188" cy="357188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893594" y="3473648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193" dirty="0"/>
          </a:p>
        </p:txBody>
      </p:sp>
      <p:sp>
        <p:nvSpPr>
          <p:cNvPr id="41" name="Shape 35"/>
          <p:cNvSpPr/>
          <p:nvPr/>
        </p:nvSpPr>
        <p:spPr>
          <a:xfrm>
            <a:off x="6286500" y="3473648"/>
            <a:ext cx="357188" cy="357188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286500" y="3473648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93" dirty="0"/>
          </a:p>
        </p:txBody>
      </p:sp>
      <p:sp>
        <p:nvSpPr>
          <p:cNvPr id="43" name="Shape 37"/>
          <p:cNvSpPr/>
          <p:nvPr/>
        </p:nvSpPr>
        <p:spPr>
          <a:xfrm>
            <a:off x="6679406" y="3473648"/>
            <a:ext cx="357188" cy="357188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6679406" y="3473648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93" dirty="0"/>
          </a:p>
        </p:txBody>
      </p:sp>
      <p:sp>
        <p:nvSpPr>
          <p:cNvPr id="45" name="Shape 39"/>
          <p:cNvSpPr/>
          <p:nvPr/>
        </p:nvSpPr>
        <p:spPr>
          <a:xfrm>
            <a:off x="4714875" y="3973711"/>
            <a:ext cx="357188" cy="357188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714875" y="397371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193" dirty="0"/>
          </a:p>
        </p:txBody>
      </p:sp>
      <p:sp>
        <p:nvSpPr>
          <p:cNvPr id="47" name="Text 41"/>
          <p:cNvSpPr/>
          <p:nvPr/>
        </p:nvSpPr>
        <p:spPr>
          <a:xfrm>
            <a:off x="5107781" y="397371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193" dirty="0"/>
          </a:p>
        </p:txBody>
      </p:sp>
      <p:sp>
        <p:nvSpPr>
          <p:cNvPr id="48" name="Shape 42"/>
          <p:cNvSpPr/>
          <p:nvPr/>
        </p:nvSpPr>
        <p:spPr>
          <a:xfrm>
            <a:off x="5500688" y="3973711"/>
            <a:ext cx="357188" cy="357188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5500688" y="397371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193" dirty="0"/>
          </a:p>
        </p:txBody>
      </p:sp>
      <p:sp>
        <p:nvSpPr>
          <p:cNvPr id="50" name="Text 44"/>
          <p:cNvSpPr/>
          <p:nvPr/>
        </p:nvSpPr>
        <p:spPr>
          <a:xfrm>
            <a:off x="5893594" y="397371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193" dirty="0"/>
          </a:p>
        </p:txBody>
      </p:sp>
      <p:sp>
        <p:nvSpPr>
          <p:cNvPr id="51" name="Text 45"/>
          <p:cNvSpPr/>
          <p:nvPr/>
        </p:nvSpPr>
        <p:spPr>
          <a:xfrm>
            <a:off x="6286500" y="397371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93" dirty="0"/>
          </a:p>
        </p:txBody>
      </p:sp>
      <p:sp>
        <p:nvSpPr>
          <p:cNvPr id="52" name="Text 46"/>
          <p:cNvSpPr/>
          <p:nvPr/>
        </p:nvSpPr>
        <p:spPr>
          <a:xfrm>
            <a:off x="6679406" y="397371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193" dirty="0"/>
          </a:p>
        </p:txBody>
      </p:sp>
      <p:sp>
        <p:nvSpPr>
          <p:cNvPr id="53" name="Shape 47"/>
          <p:cNvSpPr/>
          <p:nvPr/>
        </p:nvSpPr>
        <p:spPr>
          <a:xfrm>
            <a:off x="7072313" y="3973711"/>
            <a:ext cx="357188" cy="357188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7072313" y="397371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93" dirty="0"/>
          </a:p>
        </p:txBody>
      </p:sp>
      <p:sp>
        <p:nvSpPr>
          <p:cNvPr id="55" name="Text 49"/>
          <p:cNvSpPr/>
          <p:nvPr/>
        </p:nvSpPr>
        <p:spPr>
          <a:xfrm>
            <a:off x="4714875" y="4545211"/>
            <a:ext cx="3893344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LCS: "GTAB" (Length 4)</a:t>
            </a:r>
            <a:endParaRPr lang="en-US" sz="1090" dirty="0"/>
          </a:p>
        </p:txBody>
      </p:sp>
      <p:sp>
        <p:nvSpPr>
          <p:cNvPr id="56" name="Text 50"/>
          <p:cNvSpPr/>
          <p:nvPr/>
        </p:nvSpPr>
        <p:spPr>
          <a:xfrm>
            <a:off x="4714875" y="4889897"/>
            <a:ext cx="389334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(Note: 'A' in the second string is skipped to maintain order)</a:t>
            </a:r>
            <a:endParaRPr lang="en-US" sz="834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00025"/>
            <a:ext cx="8286750" cy="4143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571500"/>
            <a:ext cx="8286750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00025"/>
            <a:ext cx="8286750" cy="414338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LCS — Naive Recursive Approach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585788" y="628650"/>
            <a:ext cx="39004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LOGIC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85788" y="853678"/>
            <a:ext cx="3900488" cy="867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Compare the last characters of strings A and B: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1. </a:t>
            </a:r>
            <a:pPr algn="l" indent="0" marL="0">
              <a:lnSpc>
                <a:spcPts val="1100"/>
              </a:lnSpc>
              <a:buNone/>
            </a:pPr>
            <a:r>
              <a:rPr lang="en-US" sz="7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Match: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If A[i] == B[j], this char is part of LCS. Add 1 and recurse on both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remainders.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2. </a:t>
            </a:r>
            <a:pPr algn="l" indent="0" marL="0">
              <a:lnSpc>
                <a:spcPts val="1100"/>
              </a:lnSpc>
              <a:buNone/>
            </a:pPr>
            <a:r>
              <a:rPr lang="en-US" sz="734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Match: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If A[i] != B[j], we skip one char from either A or B and take the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max.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428625" y="1778794"/>
            <a:ext cx="4057650" cy="1034616"/>
          </a:xfrm>
          <a:prstGeom prst="rect">
            <a:avLst/>
          </a:prstGeom>
          <a:solidFill>
            <a:srgbClr val="F5F5F5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8625" y="1778794"/>
            <a:ext cx="4057650" cy="103461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Recurrence Relation: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match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+ LCS(i-1, j-1)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no match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max(LCS(i-1, j), LCS(i, j-1))</a:t>
            </a:r>
            <a:endParaRPr lang="en-US" sz="674" dirty="0"/>
          </a:p>
        </p:txBody>
      </p:sp>
      <p:sp>
        <p:nvSpPr>
          <p:cNvPr id="10" name="Shape 7"/>
          <p:cNvSpPr/>
          <p:nvPr/>
        </p:nvSpPr>
        <p:spPr>
          <a:xfrm>
            <a:off x="4657725" y="628650"/>
            <a:ext cx="4057650" cy="839391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8"/>
          <p:cNvSpPr/>
          <p:nvPr/>
        </p:nvSpPr>
        <p:spPr>
          <a:xfrm>
            <a:off x="4657725" y="628650"/>
            <a:ext cx="4057650" cy="83939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lcs_recursive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s1,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s2,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j) {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Base Case: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of either string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==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j ==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characters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(s1[i-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s2[j-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lcs_recursive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(s1, s2, i-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they don't match, try both options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=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lcs_recursive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(s1, s2, i-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j);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=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lcs_recursive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(s1, s2, i, j-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&gt; b ? a : b; }</a:t>
            </a:r>
            <a:endParaRPr lang="en-US" sz="674" dirty="0"/>
          </a:p>
        </p:txBody>
      </p:sp>
      <p:sp>
        <p:nvSpPr>
          <p:cNvPr id="12" name="Shape 9"/>
          <p:cNvSpPr/>
          <p:nvPr/>
        </p:nvSpPr>
        <p:spPr>
          <a:xfrm>
            <a:off x="4657725" y="1525191"/>
            <a:ext cx="4057650" cy="431471"/>
          </a:xfrm>
          <a:prstGeom prst="rect">
            <a:avLst/>
          </a:prstGeom>
          <a:solidFill>
            <a:srgbClr val="FFF0E6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7738" y="1639407"/>
            <a:ext cx="260747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O(2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5018484" y="1612032"/>
            <a:ext cx="8036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2" b="1" baseline="3000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</a:t>
            </a:r>
            <a:endParaRPr lang="en-US" sz="902" dirty="0"/>
          </a:p>
        </p:txBody>
      </p:sp>
      <p:sp>
        <p:nvSpPr>
          <p:cNvPr id="15" name="Text 12"/>
          <p:cNvSpPr/>
          <p:nvPr/>
        </p:nvSpPr>
        <p:spPr>
          <a:xfrm>
            <a:off x="5098852" y="1639407"/>
            <a:ext cx="60722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5273873" y="1596628"/>
            <a:ext cx="302180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Exponential time complexity.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 the worst case (no matches), we branch twice at every step.</a:t>
            </a:r>
            <a:endParaRPr lang="en-US" sz="727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4786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07231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LCS — DP Solution with Table</a:t>
            </a:r>
            <a:endParaRPr lang="en-US" sz="2016" dirty="0"/>
          </a:p>
        </p:txBody>
      </p:sp>
      <p:sp>
        <p:nvSpPr>
          <p:cNvPr id="6" name="Text 3"/>
          <p:cNvSpPr/>
          <p:nvPr/>
        </p:nvSpPr>
        <p:spPr>
          <a:xfrm>
            <a:off x="535781" y="807244"/>
            <a:ext cx="3911203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Applying the Recipe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742950" y="1269802"/>
            <a:ext cx="370403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42950" y="1491258"/>
            <a:ext cx="3704034" cy="46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dp[i][j]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= length of LCS between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text1[0..i-1]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and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text2[0..j-1]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742950" y="2174156"/>
            <a:ext cx="370403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RECURRENCE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742950" y="2395612"/>
            <a:ext cx="3704034" cy="11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If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text1[i-1] == text2[j-1]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+ dp[i-1][j-1]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(Match!)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Else: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max(dp[i-1][j], dp[i][j-1])</a:t>
            </a:r>
            <a:pPr algn="l" indent="0" marL="0">
              <a:lnSpc>
                <a:spcPts val="1700"/>
              </a:lnSpc>
              <a:buNone/>
            </a:pPr>
            <a:endParaRPr lang="en-US" sz="1159" dirty="0"/>
          </a:p>
        </p:txBody>
      </p:sp>
      <p:sp>
        <p:nvSpPr>
          <p:cNvPr id="11" name="Text 8"/>
          <p:cNvSpPr/>
          <p:nvPr/>
        </p:nvSpPr>
        <p:spPr>
          <a:xfrm>
            <a:off x="742950" y="3752813"/>
            <a:ext cx="370403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BASE CASE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742950" y="3974269"/>
            <a:ext cx="3704034" cy="46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dp[0][..] = 0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(Empty string)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dp[..][0] = 0</a:t>
            </a:r>
            <a:pPr algn="l" indent="0" marL="0">
              <a:lnSpc>
                <a:spcPts val="1700"/>
              </a:lnSpc>
              <a:buNone/>
            </a:pPr>
            <a:endParaRPr lang="en-US" sz="1159" dirty="0"/>
          </a:p>
        </p:txBody>
      </p:sp>
      <p:sp>
        <p:nvSpPr>
          <p:cNvPr id="13" name="Shape 10"/>
          <p:cNvSpPr/>
          <p:nvPr/>
        </p:nvSpPr>
        <p:spPr>
          <a:xfrm>
            <a:off x="4697016" y="807244"/>
            <a:ext cx="3911203" cy="103584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Text 11"/>
          <p:cNvSpPr/>
          <p:nvPr/>
        </p:nvSpPr>
        <p:spPr>
          <a:xfrm>
            <a:off x="4697016" y="807244"/>
            <a:ext cx="3911203" cy="1035844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longestCommonSubseq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t1,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t2) {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 =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(t1), n =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(t2);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dp[m+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][n+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memset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(dp,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(dp));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m; i++)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&lt;= n; j++) {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(t1[i-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t2[j-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dp[i][j] =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dp[i-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][j-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+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dp[i][j] = dp[i-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][j] &gt; dp[i][j-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dp[i-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][j] : dp[i][j-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}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dp[m][n]; }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4697016" y="1943100"/>
            <a:ext cx="3911203" cy="471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3"/>
          <p:cNvSpPr/>
          <p:nvPr/>
        </p:nvSpPr>
        <p:spPr>
          <a:xfrm>
            <a:off x="4697016" y="1943100"/>
            <a:ext cx="3911203" cy="14288"/>
          </a:xfrm>
          <a:prstGeom prst="rect">
            <a:avLst/>
          </a:prstGeom>
          <a:solidFill>
            <a:srgbClr val="E0E0E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700000">
            <a:off x="4829175" y="2096691"/>
            <a:ext cx="150019" cy="15001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39916" y="2089547"/>
            <a:ext cx="107692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Diagonal = Match</a:t>
            </a:r>
            <a:endParaRPr lang="en-US" sz="942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148" y="2085975"/>
            <a:ext cx="171450" cy="171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74036" y="2089547"/>
            <a:ext cx="94118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Top/Left = Skip</a:t>
            </a:r>
            <a:endParaRPr lang="en-US" sz="942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57238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LCS — Step-by-Step Table Construction</a:t>
            </a:r>
            <a:endParaRPr lang="en-US" sz="2226" dirty="0"/>
          </a:p>
        </p:txBody>
      </p:sp>
      <p:sp>
        <p:nvSpPr>
          <p:cNvPr id="6" name="Shape 3"/>
          <p:cNvSpPr/>
          <p:nvPr/>
        </p:nvSpPr>
        <p:spPr>
          <a:xfrm>
            <a:off x="535781" y="900113"/>
            <a:ext cx="8072438" cy="4089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535781" y="900113"/>
            <a:ext cx="28575" cy="4089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1022449"/>
            <a:ext cx="63579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S1 (ROWS)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1457325" y="1007269"/>
            <a:ext cx="58587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2" kern="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"GAC"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2328946" y="1022449"/>
            <a:ext cx="60543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S2 (COLS)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3041535" y="1007269"/>
            <a:ext cx="82022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2" kern="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"AGCAT"</a:t>
            </a:r>
            <a:endParaRPr lang="en-US" sz="1269" dirty="0"/>
          </a:p>
        </p:txBody>
      </p:sp>
      <p:sp>
        <p:nvSpPr>
          <p:cNvPr id="12" name="Shape 9"/>
          <p:cNvSpPr/>
          <p:nvPr/>
        </p:nvSpPr>
        <p:spPr>
          <a:xfrm>
            <a:off x="2218051" y="1526977"/>
            <a:ext cx="410096" cy="267891"/>
          </a:xfrm>
          <a:prstGeom prst="rect">
            <a:avLst/>
          </a:prstGeom>
          <a:solidFill>
            <a:srgbClr val="333333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18051" y="1526977"/>
            <a:ext cx="410096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2626361" y="1526977"/>
            <a:ext cx="262923" cy="267891"/>
          </a:xfrm>
          <a:prstGeom prst="rect">
            <a:avLst/>
          </a:prstGeom>
          <a:solidFill>
            <a:srgbClr val="333333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26361" y="1526977"/>
            <a:ext cx="262923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85" dirty="0"/>
          </a:p>
        </p:txBody>
      </p:sp>
      <p:sp>
        <p:nvSpPr>
          <p:cNvPr id="16" name="Shape 13"/>
          <p:cNvSpPr/>
          <p:nvPr/>
        </p:nvSpPr>
        <p:spPr>
          <a:xfrm>
            <a:off x="2887498" y="1526977"/>
            <a:ext cx="262923" cy="267891"/>
          </a:xfrm>
          <a:prstGeom prst="rect">
            <a:avLst/>
          </a:prstGeom>
          <a:solidFill>
            <a:srgbClr val="333333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87498" y="1526977"/>
            <a:ext cx="262923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885" dirty="0"/>
          </a:p>
        </p:txBody>
      </p:sp>
      <p:sp>
        <p:nvSpPr>
          <p:cNvPr id="18" name="Shape 15"/>
          <p:cNvSpPr/>
          <p:nvPr/>
        </p:nvSpPr>
        <p:spPr>
          <a:xfrm>
            <a:off x="3150422" y="1526977"/>
            <a:ext cx="259352" cy="267891"/>
          </a:xfrm>
          <a:prstGeom prst="rect">
            <a:avLst/>
          </a:prstGeom>
          <a:solidFill>
            <a:srgbClr val="333333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150422" y="1526977"/>
            <a:ext cx="259352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885" dirty="0"/>
          </a:p>
        </p:txBody>
      </p:sp>
      <p:sp>
        <p:nvSpPr>
          <p:cNvPr id="20" name="Shape 17"/>
          <p:cNvSpPr/>
          <p:nvPr/>
        </p:nvSpPr>
        <p:spPr>
          <a:xfrm>
            <a:off x="3409773" y="1526977"/>
            <a:ext cx="262923" cy="267891"/>
          </a:xfrm>
          <a:prstGeom prst="rect">
            <a:avLst/>
          </a:prstGeom>
          <a:solidFill>
            <a:srgbClr val="333333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09773" y="1526977"/>
            <a:ext cx="262923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85" dirty="0"/>
          </a:p>
        </p:txBody>
      </p:sp>
      <p:sp>
        <p:nvSpPr>
          <p:cNvPr id="22" name="Shape 19"/>
          <p:cNvSpPr/>
          <p:nvPr/>
        </p:nvSpPr>
        <p:spPr>
          <a:xfrm>
            <a:off x="3672697" y="1526977"/>
            <a:ext cx="259352" cy="267891"/>
          </a:xfrm>
          <a:prstGeom prst="rect">
            <a:avLst/>
          </a:prstGeom>
          <a:solidFill>
            <a:srgbClr val="333333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72697" y="1526977"/>
            <a:ext cx="259352" cy="2678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885" dirty="0"/>
          </a:p>
        </p:txBody>
      </p:sp>
      <p:sp>
        <p:nvSpPr>
          <p:cNvPr id="24" name="Shape 21"/>
          <p:cNvSpPr/>
          <p:nvPr/>
        </p:nvSpPr>
        <p:spPr>
          <a:xfrm>
            <a:off x="1811527" y="1787723"/>
            <a:ext cx="410096" cy="271463"/>
          </a:xfrm>
          <a:prstGeom prst="rect">
            <a:avLst/>
          </a:prstGeom>
          <a:solidFill>
            <a:srgbClr val="E0E0E0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811527" y="1787723"/>
            <a:ext cx="410096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2219837" y="1787723"/>
            <a:ext cx="402952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2622789" y="1787723"/>
            <a:ext cx="262923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2885712" y="1787723"/>
            <a:ext cx="262923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3148636" y="1787723"/>
            <a:ext cx="259352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3407987" y="1787723"/>
            <a:ext cx="262923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3670911" y="1787723"/>
            <a:ext cx="259352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42" dirty="0"/>
          </a:p>
        </p:txBody>
      </p:sp>
      <p:sp>
        <p:nvSpPr>
          <p:cNvPr id="32" name="Shape 29"/>
          <p:cNvSpPr/>
          <p:nvPr/>
        </p:nvSpPr>
        <p:spPr>
          <a:xfrm>
            <a:off x="1813313" y="2059186"/>
            <a:ext cx="406524" cy="275034"/>
          </a:xfrm>
          <a:prstGeom prst="rect">
            <a:avLst/>
          </a:prstGeom>
          <a:solidFill>
            <a:srgbClr val="E0E0E0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813313" y="2059186"/>
            <a:ext cx="406524" cy="27503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885" dirty="0"/>
          </a:p>
        </p:txBody>
      </p:sp>
      <p:sp>
        <p:nvSpPr>
          <p:cNvPr id="34" name="Text 31"/>
          <p:cNvSpPr/>
          <p:nvPr/>
        </p:nvSpPr>
        <p:spPr>
          <a:xfrm>
            <a:off x="2219837" y="2059186"/>
            <a:ext cx="402952" cy="27503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42" dirty="0"/>
          </a:p>
        </p:txBody>
      </p:sp>
      <p:sp>
        <p:nvSpPr>
          <p:cNvPr id="35" name="Shape 32"/>
          <p:cNvSpPr/>
          <p:nvPr/>
        </p:nvSpPr>
        <p:spPr>
          <a:xfrm>
            <a:off x="2622789" y="2059186"/>
            <a:ext cx="262923" cy="275034"/>
          </a:xfrm>
          <a:prstGeom prst="rect">
            <a:avLst/>
          </a:prstGeom>
          <a:solidFill>
            <a:srgbClr val="FFCDD2"/>
          </a:solidFill>
          <a:ln w="18288">
            <a:solidFill>
              <a:srgbClr val="C62828"/>
            </a:solidFill>
            <a:prstDash val="dash"/>
          </a:ln>
        </p:spPr>
      </p:sp>
      <p:sp>
        <p:nvSpPr>
          <p:cNvPr id="36" name="Text 33"/>
          <p:cNvSpPr/>
          <p:nvPr/>
        </p:nvSpPr>
        <p:spPr>
          <a:xfrm>
            <a:off x="2622789" y="2059186"/>
            <a:ext cx="262923" cy="27503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42" dirty="0"/>
          </a:p>
        </p:txBody>
      </p:sp>
      <p:sp>
        <p:nvSpPr>
          <p:cNvPr id="37" name="Shape 34"/>
          <p:cNvSpPr/>
          <p:nvPr/>
        </p:nvSpPr>
        <p:spPr>
          <a:xfrm>
            <a:off x="2885712" y="2059186"/>
            <a:ext cx="262923" cy="275034"/>
          </a:xfrm>
          <a:prstGeom prst="rect">
            <a:avLst/>
          </a:prstGeom>
          <a:solidFill>
            <a:srgbClr val="FFEBEE"/>
          </a:solidFill>
          <a:ln w="18288">
            <a:solidFill>
              <a:srgbClr val="C6282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885712" y="2059186"/>
            <a:ext cx="262923" cy="27503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42" dirty="0"/>
          </a:p>
        </p:txBody>
      </p:sp>
      <p:sp>
        <p:nvSpPr>
          <p:cNvPr id="39" name="Text 36"/>
          <p:cNvSpPr/>
          <p:nvPr/>
        </p:nvSpPr>
        <p:spPr>
          <a:xfrm>
            <a:off x="3148636" y="2059186"/>
            <a:ext cx="259352" cy="27503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42" dirty="0"/>
          </a:p>
        </p:txBody>
      </p:sp>
      <p:sp>
        <p:nvSpPr>
          <p:cNvPr id="40" name="Text 37"/>
          <p:cNvSpPr/>
          <p:nvPr/>
        </p:nvSpPr>
        <p:spPr>
          <a:xfrm>
            <a:off x="3407987" y="2059186"/>
            <a:ext cx="262923" cy="27503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42" dirty="0"/>
          </a:p>
        </p:txBody>
      </p:sp>
      <p:sp>
        <p:nvSpPr>
          <p:cNvPr id="41" name="Text 38"/>
          <p:cNvSpPr/>
          <p:nvPr/>
        </p:nvSpPr>
        <p:spPr>
          <a:xfrm>
            <a:off x="3670911" y="2059186"/>
            <a:ext cx="259352" cy="27503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42" dirty="0"/>
          </a:p>
        </p:txBody>
      </p:sp>
      <p:sp>
        <p:nvSpPr>
          <p:cNvPr id="42" name="Shape 39"/>
          <p:cNvSpPr/>
          <p:nvPr/>
        </p:nvSpPr>
        <p:spPr>
          <a:xfrm>
            <a:off x="1813313" y="2334220"/>
            <a:ext cx="406524" cy="275034"/>
          </a:xfrm>
          <a:prstGeom prst="rect">
            <a:avLst/>
          </a:prstGeom>
          <a:solidFill>
            <a:srgbClr val="E0E0E0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813313" y="2334220"/>
            <a:ext cx="406524" cy="27503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85" dirty="0"/>
          </a:p>
        </p:txBody>
      </p:sp>
      <p:sp>
        <p:nvSpPr>
          <p:cNvPr id="44" name="Text 41"/>
          <p:cNvSpPr/>
          <p:nvPr/>
        </p:nvSpPr>
        <p:spPr>
          <a:xfrm>
            <a:off x="2219837" y="2334220"/>
            <a:ext cx="402952" cy="27503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42" dirty="0"/>
          </a:p>
        </p:txBody>
      </p:sp>
      <p:sp>
        <p:nvSpPr>
          <p:cNvPr id="45" name="Shape 42"/>
          <p:cNvSpPr/>
          <p:nvPr/>
        </p:nvSpPr>
        <p:spPr>
          <a:xfrm>
            <a:off x="2622789" y="2334220"/>
            <a:ext cx="262923" cy="275034"/>
          </a:xfrm>
          <a:prstGeom prst="rect">
            <a:avLst/>
          </a:prstGeom>
          <a:solidFill>
            <a:srgbClr val="C8E6C9"/>
          </a:solidFill>
          <a:ln w="18288">
            <a:solidFill>
              <a:srgbClr val="2E7D32"/>
            </a:solidFill>
            <a:prstDash val="dash"/>
          </a:ln>
        </p:spPr>
      </p:sp>
      <p:sp>
        <p:nvSpPr>
          <p:cNvPr id="46" name="Text 43"/>
          <p:cNvSpPr/>
          <p:nvPr/>
        </p:nvSpPr>
        <p:spPr>
          <a:xfrm>
            <a:off x="2622789" y="2334220"/>
            <a:ext cx="262923" cy="27503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42" dirty="0"/>
          </a:p>
        </p:txBody>
      </p:sp>
      <p:sp>
        <p:nvSpPr>
          <p:cNvPr id="47" name="Text 44"/>
          <p:cNvSpPr/>
          <p:nvPr/>
        </p:nvSpPr>
        <p:spPr>
          <a:xfrm>
            <a:off x="2885712" y="2334220"/>
            <a:ext cx="262923" cy="27503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42" dirty="0"/>
          </a:p>
        </p:txBody>
      </p:sp>
      <p:sp>
        <p:nvSpPr>
          <p:cNvPr id="48" name="Text 45"/>
          <p:cNvSpPr/>
          <p:nvPr/>
        </p:nvSpPr>
        <p:spPr>
          <a:xfrm>
            <a:off x="3148636" y="2334220"/>
            <a:ext cx="259352" cy="27503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42" dirty="0"/>
          </a:p>
        </p:txBody>
      </p:sp>
      <p:sp>
        <p:nvSpPr>
          <p:cNvPr id="49" name="Shape 46"/>
          <p:cNvSpPr/>
          <p:nvPr/>
        </p:nvSpPr>
        <p:spPr>
          <a:xfrm>
            <a:off x="3407987" y="2334220"/>
            <a:ext cx="262923" cy="275034"/>
          </a:xfrm>
          <a:prstGeom prst="rect">
            <a:avLst/>
          </a:prstGeom>
          <a:solidFill>
            <a:srgbClr val="E8F5E9"/>
          </a:solidFill>
          <a:ln w="18288">
            <a:solidFill>
              <a:srgbClr val="2E7D3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407987" y="2334220"/>
            <a:ext cx="262923" cy="27503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85" dirty="0"/>
          </a:p>
        </p:txBody>
      </p:sp>
      <p:sp>
        <p:nvSpPr>
          <p:cNvPr id="51" name="Text 48"/>
          <p:cNvSpPr/>
          <p:nvPr/>
        </p:nvSpPr>
        <p:spPr>
          <a:xfrm>
            <a:off x="3670911" y="2334220"/>
            <a:ext cx="259352" cy="27503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42" dirty="0"/>
          </a:p>
        </p:txBody>
      </p:sp>
      <p:sp>
        <p:nvSpPr>
          <p:cNvPr id="52" name="Shape 49"/>
          <p:cNvSpPr/>
          <p:nvPr/>
        </p:nvSpPr>
        <p:spPr>
          <a:xfrm>
            <a:off x="1813313" y="2609255"/>
            <a:ext cx="406524" cy="271463"/>
          </a:xfrm>
          <a:prstGeom prst="rect">
            <a:avLst/>
          </a:prstGeom>
          <a:solidFill>
            <a:srgbClr val="E0E0E0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813313" y="2609255"/>
            <a:ext cx="406524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885" dirty="0"/>
          </a:p>
        </p:txBody>
      </p:sp>
      <p:sp>
        <p:nvSpPr>
          <p:cNvPr id="54" name="Text 51"/>
          <p:cNvSpPr/>
          <p:nvPr/>
        </p:nvSpPr>
        <p:spPr>
          <a:xfrm>
            <a:off x="2218051" y="2609255"/>
            <a:ext cx="402952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42" dirty="0"/>
          </a:p>
        </p:txBody>
      </p:sp>
      <p:sp>
        <p:nvSpPr>
          <p:cNvPr id="55" name="Text 52"/>
          <p:cNvSpPr/>
          <p:nvPr/>
        </p:nvSpPr>
        <p:spPr>
          <a:xfrm>
            <a:off x="2621003" y="2609255"/>
            <a:ext cx="262923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42" dirty="0"/>
          </a:p>
        </p:txBody>
      </p:sp>
      <p:sp>
        <p:nvSpPr>
          <p:cNvPr id="56" name="Text 53"/>
          <p:cNvSpPr/>
          <p:nvPr/>
        </p:nvSpPr>
        <p:spPr>
          <a:xfrm>
            <a:off x="2883926" y="2609255"/>
            <a:ext cx="262923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42" dirty="0"/>
          </a:p>
        </p:txBody>
      </p:sp>
      <p:sp>
        <p:nvSpPr>
          <p:cNvPr id="57" name="Text 54"/>
          <p:cNvSpPr/>
          <p:nvPr/>
        </p:nvSpPr>
        <p:spPr>
          <a:xfrm>
            <a:off x="3146850" y="2609255"/>
            <a:ext cx="259352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42" dirty="0"/>
          </a:p>
        </p:txBody>
      </p:sp>
      <p:sp>
        <p:nvSpPr>
          <p:cNvPr id="58" name="Text 55"/>
          <p:cNvSpPr/>
          <p:nvPr/>
        </p:nvSpPr>
        <p:spPr>
          <a:xfrm>
            <a:off x="3406201" y="2609255"/>
            <a:ext cx="262923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42" dirty="0"/>
          </a:p>
        </p:txBody>
      </p:sp>
      <p:sp>
        <p:nvSpPr>
          <p:cNvPr id="59" name="Text 56"/>
          <p:cNvSpPr/>
          <p:nvPr/>
        </p:nvSpPr>
        <p:spPr>
          <a:xfrm>
            <a:off x="3669125" y="2609255"/>
            <a:ext cx="259352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42" dirty="0"/>
          </a:p>
        </p:txBody>
      </p:sp>
      <p:sp>
        <p:nvSpPr>
          <p:cNvPr id="60" name="Shape 57"/>
          <p:cNvSpPr/>
          <p:nvPr/>
        </p:nvSpPr>
        <p:spPr>
          <a:xfrm>
            <a:off x="5493544" y="1523405"/>
            <a:ext cx="3114675" cy="1228725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61" name="Shape 58"/>
          <p:cNvSpPr/>
          <p:nvPr/>
        </p:nvSpPr>
        <p:spPr>
          <a:xfrm>
            <a:off x="5493544" y="1523405"/>
            <a:ext cx="42863" cy="1228725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2" name="Text 59"/>
          <p:cNvSpPr/>
          <p:nvPr/>
        </p:nvSpPr>
        <p:spPr>
          <a:xfrm>
            <a:off x="5636419" y="1666280"/>
            <a:ext cx="112514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6282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CASE 1: MISMATCH</a:t>
            </a:r>
            <a:endParaRPr lang="en-US" sz="885" dirty="0"/>
          </a:p>
        </p:txBody>
      </p:sp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977" y="1666280"/>
            <a:ext cx="80367" cy="164306"/>
          </a:xfrm>
          <a:prstGeom prst="rect">
            <a:avLst/>
          </a:prstGeom>
        </p:spPr>
      </p:pic>
      <p:sp>
        <p:nvSpPr>
          <p:cNvPr id="64" name="Text 60"/>
          <p:cNvSpPr/>
          <p:nvPr/>
        </p:nvSpPr>
        <p:spPr>
          <a:xfrm>
            <a:off x="5636419" y="1902023"/>
            <a:ext cx="2828925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S1[0]='G', S2[1]='A'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'G' != 'A'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dp[1][2] = max(dp[0][2], dp[1][1])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dp[1][2] = max(0, 0) =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400"/>
              </a:lnSpc>
              <a:buNone/>
            </a:pPr>
            <a:endParaRPr lang="en-US" sz="834" dirty="0"/>
          </a:p>
        </p:txBody>
      </p:sp>
      <p:sp>
        <p:nvSpPr>
          <p:cNvPr id="65" name="Shape 61"/>
          <p:cNvSpPr/>
          <p:nvPr/>
        </p:nvSpPr>
        <p:spPr>
          <a:xfrm>
            <a:off x="5493544" y="2930723"/>
            <a:ext cx="3114675" cy="1228725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66" name="Shape 62"/>
          <p:cNvSpPr/>
          <p:nvPr/>
        </p:nvSpPr>
        <p:spPr>
          <a:xfrm>
            <a:off x="5493544" y="2930723"/>
            <a:ext cx="42863" cy="1228725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7" name="Text 63"/>
          <p:cNvSpPr/>
          <p:nvPr/>
        </p:nvSpPr>
        <p:spPr>
          <a:xfrm>
            <a:off x="5636419" y="3073598"/>
            <a:ext cx="91618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E7D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CASE 2: MATCH</a:t>
            </a:r>
            <a:endParaRPr lang="en-US" sz="885" dirty="0"/>
          </a:p>
        </p:txBody>
      </p:sp>
      <p:pic>
        <p:nvPicPr>
          <p:cNvPr id="6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756" y="3073598"/>
            <a:ext cx="128588" cy="164306"/>
          </a:xfrm>
          <a:prstGeom prst="rect">
            <a:avLst/>
          </a:prstGeom>
        </p:spPr>
      </p:pic>
      <p:sp>
        <p:nvSpPr>
          <p:cNvPr id="69" name="Text 64"/>
          <p:cNvSpPr/>
          <p:nvPr/>
        </p:nvSpPr>
        <p:spPr>
          <a:xfrm>
            <a:off x="5636419" y="3309342"/>
            <a:ext cx="2828925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S1[1]='A', S2[0]='A'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'A' == 'A'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dp[2][1] = 1 + dp[1][0]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dp[2][1] = 1 + 0 =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400"/>
              </a:lnSpc>
              <a:buNone/>
            </a:pPr>
            <a:endParaRPr lang="en-US" sz="834" dirty="0"/>
          </a:p>
        </p:txBody>
      </p:sp>
      <p:sp>
        <p:nvSpPr>
          <p:cNvPr id="70" name="Text 65"/>
          <p:cNvSpPr/>
          <p:nvPr/>
        </p:nvSpPr>
        <p:spPr>
          <a:xfrm>
            <a:off x="5493544" y="4338042"/>
            <a:ext cx="3114675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*Table shows partial progress. Final answer is dp[3][5] = 2 ("AC").</a:t>
            </a:r>
            <a:endParaRPr lang="en-US" sz="834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1139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9286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1157288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928688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Classic Problem 5 — Longest Increasing Subsequence (LIS)</a:t>
            </a:r>
            <a:endParaRPr lang="en-US" sz="2226" dirty="0"/>
          </a:p>
        </p:txBody>
      </p:sp>
      <p:sp>
        <p:nvSpPr>
          <p:cNvPr id="6" name="Text 3"/>
          <p:cNvSpPr/>
          <p:nvPr/>
        </p:nvSpPr>
        <p:spPr>
          <a:xfrm>
            <a:off x="707231" y="1325166"/>
            <a:ext cx="72509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Problem: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1432322" y="1325166"/>
            <a:ext cx="190380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Given an integer array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3336131" y="1310878"/>
            <a:ext cx="41149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nums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3747622" y="1325166"/>
            <a:ext cx="59471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return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707231" y="1582341"/>
            <a:ext cx="365581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length of the longest strictly increasing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707231" y="1839516"/>
            <a:ext cx="116800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subsequence.</a:t>
            </a:r>
            <a:endParaRPr lang="en-US" sz="1269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2369939"/>
            <a:ext cx="171450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4388" y="2348508"/>
            <a:ext cx="361473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Subsequence: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Elements can be skipped, but relative 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order must be maintained.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81" y="2877145"/>
            <a:ext cx="171450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4388" y="2855714"/>
            <a:ext cx="3614738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Strictly Increasing: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Each element must be strictly 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greater than the previous one (no duplicates 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allowed in the chain).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14875" y="1300163"/>
            <a:ext cx="3893344" cy="2318147"/>
          </a:xfrm>
          <a:prstGeom prst="rect">
            <a:avLst/>
          </a:prstGeom>
          <a:solidFill>
            <a:srgbClr val="FAFAFA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857750" y="1443038"/>
            <a:ext cx="360759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</a:t>
            </a:r>
            <a:endParaRPr lang="en-US" sz="987" dirty="0"/>
          </a:p>
        </p:txBody>
      </p:sp>
      <p:sp>
        <p:nvSpPr>
          <p:cNvPr id="18" name="Shape 13"/>
          <p:cNvSpPr/>
          <p:nvPr/>
        </p:nvSpPr>
        <p:spPr>
          <a:xfrm>
            <a:off x="4857750" y="1768078"/>
            <a:ext cx="428625" cy="428625"/>
          </a:xfrm>
          <a:prstGeom prst="rect">
            <a:avLst/>
          </a:prstGeom>
          <a:solidFill>
            <a:srgbClr val="FFFFFF"/>
          </a:solidFill>
          <a:ln w="18288">
            <a:solidFill>
              <a:srgbClr val="CCCCC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857750" y="1768078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93" dirty="0"/>
          </a:p>
        </p:txBody>
      </p:sp>
      <p:sp>
        <p:nvSpPr>
          <p:cNvPr id="20" name="Shape 15"/>
          <p:cNvSpPr/>
          <p:nvPr/>
        </p:nvSpPr>
        <p:spPr>
          <a:xfrm>
            <a:off x="5357813" y="1768078"/>
            <a:ext cx="428625" cy="428625"/>
          </a:xfrm>
          <a:prstGeom prst="rect">
            <a:avLst/>
          </a:prstGeom>
          <a:solidFill>
            <a:srgbClr val="FFFFFF"/>
          </a:solidFill>
          <a:ln w="18288">
            <a:solidFill>
              <a:srgbClr val="CCCCC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57813" y="1768078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93" dirty="0"/>
          </a:p>
        </p:txBody>
      </p:sp>
      <p:sp>
        <p:nvSpPr>
          <p:cNvPr id="22" name="Shape 17"/>
          <p:cNvSpPr/>
          <p:nvPr/>
        </p:nvSpPr>
        <p:spPr>
          <a:xfrm>
            <a:off x="5857875" y="1732359"/>
            <a:ext cx="428625" cy="428625"/>
          </a:xfrm>
          <a:prstGeom prst="rect">
            <a:avLst/>
          </a:prstGeom>
          <a:solidFill>
            <a:srgbClr val="FF4500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857875" y="1732359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93" dirty="0"/>
          </a:p>
        </p:txBody>
      </p:sp>
      <p:sp>
        <p:nvSpPr>
          <p:cNvPr id="24" name="Shape 19"/>
          <p:cNvSpPr/>
          <p:nvPr/>
        </p:nvSpPr>
        <p:spPr>
          <a:xfrm>
            <a:off x="6357938" y="1732359"/>
            <a:ext cx="428625" cy="428625"/>
          </a:xfrm>
          <a:prstGeom prst="rect">
            <a:avLst/>
          </a:prstGeom>
          <a:solidFill>
            <a:srgbClr val="FF4500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357938" y="1732359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93" dirty="0"/>
          </a:p>
        </p:txBody>
      </p:sp>
      <p:sp>
        <p:nvSpPr>
          <p:cNvPr id="26" name="Shape 21"/>
          <p:cNvSpPr/>
          <p:nvPr/>
        </p:nvSpPr>
        <p:spPr>
          <a:xfrm>
            <a:off x="6858000" y="1768078"/>
            <a:ext cx="428625" cy="428625"/>
          </a:xfrm>
          <a:prstGeom prst="rect">
            <a:avLst/>
          </a:prstGeom>
          <a:solidFill>
            <a:srgbClr val="FFFFFF"/>
          </a:solidFill>
          <a:ln w="18288">
            <a:solidFill>
              <a:srgbClr val="CCCCC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858000" y="1768078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93" dirty="0"/>
          </a:p>
        </p:txBody>
      </p:sp>
      <p:sp>
        <p:nvSpPr>
          <p:cNvPr id="28" name="Shape 23"/>
          <p:cNvSpPr/>
          <p:nvPr/>
        </p:nvSpPr>
        <p:spPr>
          <a:xfrm>
            <a:off x="7358063" y="1732359"/>
            <a:ext cx="428625" cy="428625"/>
          </a:xfrm>
          <a:prstGeom prst="rect">
            <a:avLst/>
          </a:prstGeom>
          <a:solidFill>
            <a:srgbClr val="FF4500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358063" y="1732359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93" dirty="0"/>
          </a:p>
        </p:txBody>
      </p:sp>
      <p:sp>
        <p:nvSpPr>
          <p:cNvPr id="30" name="Shape 25"/>
          <p:cNvSpPr/>
          <p:nvPr/>
        </p:nvSpPr>
        <p:spPr>
          <a:xfrm>
            <a:off x="7858125" y="1768078"/>
            <a:ext cx="428625" cy="428625"/>
          </a:xfrm>
          <a:prstGeom prst="rect">
            <a:avLst/>
          </a:prstGeom>
          <a:solidFill>
            <a:srgbClr val="FFFFFF"/>
          </a:solidFill>
          <a:ln w="18288">
            <a:solidFill>
              <a:srgbClr val="CCCCC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858125" y="1768078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1193" dirty="0"/>
          </a:p>
        </p:txBody>
      </p:sp>
      <p:sp>
        <p:nvSpPr>
          <p:cNvPr id="32" name="Shape 27"/>
          <p:cNvSpPr/>
          <p:nvPr/>
        </p:nvSpPr>
        <p:spPr>
          <a:xfrm>
            <a:off x="4857750" y="2232422"/>
            <a:ext cx="428625" cy="428625"/>
          </a:xfrm>
          <a:prstGeom prst="rect">
            <a:avLst/>
          </a:prstGeom>
          <a:solidFill>
            <a:srgbClr val="FF4500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857750" y="223242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193" dirty="0"/>
          </a:p>
        </p:txBody>
      </p:sp>
      <p:sp>
        <p:nvSpPr>
          <p:cNvPr id="34" name="Text 29"/>
          <p:cNvSpPr/>
          <p:nvPr/>
        </p:nvSpPr>
        <p:spPr>
          <a:xfrm>
            <a:off x="4857750" y="2839641"/>
            <a:ext cx="3607594" cy="403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LIS: [2, 5, 7, 18]</a:t>
            </a:r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Length: 4</a:t>
            </a:r>
            <a:endParaRPr lang="en-US" sz="1090" dirty="0"/>
          </a:p>
        </p:txBody>
      </p:sp>
      <p:sp>
        <p:nvSpPr>
          <p:cNvPr id="35" name="Text 30"/>
          <p:cNvSpPr/>
          <p:nvPr/>
        </p:nvSpPr>
        <p:spPr>
          <a:xfrm>
            <a:off x="4857750" y="3314700"/>
            <a:ext cx="36075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(Note: [2, 3, 7, 101] is also valid)</a:t>
            </a:r>
            <a:endParaRPr lang="en-US" sz="834" dirty="0"/>
          </a:p>
        </p:txBody>
      </p:sp>
      <p:sp>
        <p:nvSpPr>
          <p:cNvPr id="36" name="Shape 31"/>
          <p:cNvSpPr/>
          <p:nvPr/>
        </p:nvSpPr>
        <p:spPr>
          <a:xfrm>
            <a:off x="4714875" y="3889772"/>
            <a:ext cx="3893344" cy="1193006"/>
          </a:xfrm>
          <a:prstGeom prst="rect">
            <a:avLst/>
          </a:prstGeom>
          <a:solidFill>
            <a:srgbClr val="FFF0E6"/>
          </a:solidFill>
          <a:ln/>
        </p:spPr>
      </p:sp>
      <p:sp>
        <p:nvSpPr>
          <p:cNvPr id="37" name="Shape 32"/>
          <p:cNvSpPr/>
          <p:nvPr/>
        </p:nvSpPr>
        <p:spPr>
          <a:xfrm>
            <a:off x="4714875" y="3889772"/>
            <a:ext cx="42863" cy="1193006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38" name="Text 33"/>
          <p:cNvSpPr/>
          <p:nvPr/>
        </p:nvSpPr>
        <p:spPr>
          <a:xfrm>
            <a:off x="4893469" y="4068366"/>
            <a:ext cx="35361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NOT JUST SORT?</a:t>
            </a:r>
            <a:endParaRPr lang="en-US" sz="885" dirty="0"/>
          </a:p>
        </p:txBody>
      </p:sp>
      <p:sp>
        <p:nvSpPr>
          <p:cNvPr id="39" name="Text 34"/>
          <p:cNvSpPr/>
          <p:nvPr/>
        </p:nvSpPr>
        <p:spPr>
          <a:xfrm>
            <a:off x="4893469" y="4304109"/>
            <a:ext cx="353615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If we sort the array, we lose the original relative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order of elements. The problem requires the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subsequence to exist in the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original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array.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0063" y="228600"/>
            <a:ext cx="8143875" cy="4464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00063" y="632222"/>
            <a:ext cx="8143875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00063" y="228600"/>
            <a:ext cx="8143875" cy="446484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12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LIS — DP Solution</a:t>
            </a:r>
            <a:endParaRPr lang="en-US" sz="1912" dirty="0"/>
          </a:p>
        </p:txBody>
      </p:sp>
      <p:sp>
        <p:nvSpPr>
          <p:cNvPr id="6" name="Text 3"/>
          <p:cNvSpPr/>
          <p:nvPr/>
        </p:nvSpPr>
        <p:spPr>
          <a:xfrm>
            <a:off x="500063" y="703659"/>
            <a:ext cx="814387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Applying the Recipe</a:t>
            </a:r>
            <a:endParaRPr lang="en-US" sz="1295" dirty="0"/>
          </a:p>
        </p:txBody>
      </p:sp>
      <p:sp>
        <p:nvSpPr>
          <p:cNvPr id="7" name="Text 4"/>
          <p:cNvSpPr/>
          <p:nvPr/>
        </p:nvSpPr>
        <p:spPr>
          <a:xfrm>
            <a:off x="671513" y="1010841"/>
            <a:ext cx="38004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STATE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671513" y="1159073"/>
            <a:ext cx="3800475" cy="1842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= length of LIS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ending at index i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671513" y="1429085"/>
            <a:ext cx="38004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RECURRENCE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71513" y="1577318"/>
            <a:ext cx="3800475" cy="368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all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&lt; i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where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nums[j] &lt; nums[i]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 = max(dp[i], 1 + dp[j])</a:t>
            </a:r>
            <a:pPr algn="l" indent="0" marL="0">
              <a:lnSpc>
                <a:spcPts val="1400"/>
              </a:lnSpc>
              <a:buNone/>
            </a:pP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671513" y="2031616"/>
            <a:ext cx="38004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BASE CASE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671513" y="2179848"/>
            <a:ext cx="3800475" cy="1842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 = 1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for all i (every element is an LIS of length 1)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71513" y="2449860"/>
            <a:ext cx="38004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FINAL ANSWER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671513" y="2598093"/>
            <a:ext cx="3800475" cy="1842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max(dp)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— the LIS could end at any index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672013" y="1010841"/>
            <a:ext cx="3971925" cy="79717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Text 13"/>
          <p:cNvSpPr/>
          <p:nvPr/>
        </p:nvSpPr>
        <p:spPr>
          <a:xfrm>
            <a:off x="4672013" y="1010841"/>
            <a:ext cx="3971925" cy="797170"/>
          </a:xfrm>
          <a:prstGeom prst="rect">
            <a:avLst/>
          </a:prstGeom>
          <a:noFill/>
          <a:ln/>
        </p:spPr>
        <p:txBody>
          <a:bodyPr wrap="square" lIns="110617" tIns="93599" rIns="110617" bIns="93599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lengthOfLIS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nums[],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 ==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dp[n];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n; i++) dp[i]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n; i++)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 i; j++)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(nums[j] &lt; nums[i] &amp;&amp;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dp[j]+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dp[i]) dp[i] = dp[j] +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ans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n; i++)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(dp[i] &gt; ans) ans = dp[i];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ans; }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4672013" y="1879448"/>
            <a:ext cx="3971925" cy="68599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Shape 15"/>
          <p:cNvSpPr/>
          <p:nvPr/>
        </p:nvSpPr>
        <p:spPr>
          <a:xfrm>
            <a:off x="4672013" y="1879448"/>
            <a:ext cx="3971925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Text 16"/>
          <p:cNvSpPr/>
          <p:nvPr/>
        </p:nvSpPr>
        <p:spPr>
          <a:xfrm>
            <a:off x="4772025" y="1990762"/>
            <a:ext cx="66079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Complexity: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5432822" y="1990762"/>
            <a:ext cx="21788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O(n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5650706" y="1970531"/>
            <a:ext cx="571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91" baseline="3000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691" dirty="0"/>
          </a:p>
        </p:txBody>
      </p:sp>
      <p:sp>
        <p:nvSpPr>
          <p:cNvPr id="22" name="Text 19"/>
          <p:cNvSpPr/>
          <p:nvPr/>
        </p:nvSpPr>
        <p:spPr>
          <a:xfrm>
            <a:off x="5707856" y="1990762"/>
            <a:ext cx="101441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 Time, O(n) Space.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4772025" y="2165059"/>
            <a:ext cx="364867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*There is a more advanced O(n log n) solution using Binary Search (Patience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4772025" y="2325067"/>
            <a:ext cx="263247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Sorting), but this DP approach is the foundational one.</a:t>
            </a:r>
            <a:endParaRPr lang="en-US" sz="727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4786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07231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Classic Problem 6 — Edit Distance</a:t>
            </a:r>
            <a:endParaRPr lang="en-US" sz="2016" dirty="0"/>
          </a:p>
        </p:txBody>
      </p:sp>
      <p:sp>
        <p:nvSpPr>
          <p:cNvPr id="6" name="Text 3"/>
          <p:cNvSpPr/>
          <p:nvPr/>
        </p:nvSpPr>
        <p:spPr>
          <a:xfrm>
            <a:off x="707231" y="823317"/>
            <a:ext cx="60364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Problem: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1310878" y="823317"/>
            <a:ext cx="278784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Find the minimum number of operations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07231" y="1041202"/>
            <a:ext cx="138053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required to convert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087761" y="1030486"/>
            <a:ext cx="428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word1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516386" y="1041202"/>
            <a:ext cx="22681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743200" y="1030486"/>
            <a:ext cx="428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word2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171825" y="1041202"/>
            <a:ext cx="357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35781" y="1339453"/>
            <a:ext cx="3911203" cy="156090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1"/>
          <p:cNvSpPr/>
          <p:nvPr/>
        </p:nvSpPr>
        <p:spPr>
          <a:xfrm>
            <a:off x="535781" y="1339453"/>
            <a:ext cx="3911203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64369" y="1468041"/>
            <a:ext cx="365402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ALLOWED OPERATIONS</a:t>
            </a:r>
            <a:endParaRPr lang="en-US" sz="987" dirty="0"/>
          </a:p>
        </p:txBody>
      </p:sp>
      <p:sp>
        <p:nvSpPr>
          <p:cNvPr id="16" name="Shape 13"/>
          <p:cNvSpPr/>
          <p:nvPr/>
        </p:nvSpPr>
        <p:spPr>
          <a:xfrm>
            <a:off x="664369" y="1757363"/>
            <a:ext cx="285750" cy="285750"/>
          </a:xfrm>
          <a:prstGeom prst="ellipse">
            <a:avLst/>
          </a:prstGeom>
          <a:solidFill>
            <a:srgbClr val="33333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87" y="1835944"/>
            <a:ext cx="112514" cy="128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57275" y="1813620"/>
            <a:ext cx="117514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96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Insert a character</a:t>
            </a:r>
            <a:endParaRPr lang="en-US" sz="996" dirty="0"/>
          </a:p>
        </p:txBody>
      </p:sp>
      <p:sp>
        <p:nvSpPr>
          <p:cNvPr id="19" name="Shape 15"/>
          <p:cNvSpPr/>
          <p:nvPr/>
        </p:nvSpPr>
        <p:spPr>
          <a:xfrm>
            <a:off x="664369" y="2114550"/>
            <a:ext cx="285750" cy="285750"/>
          </a:xfrm>
          <a:prstGeom prst="ellipse">
            <a:avLst/>
          </a:prstGeom>
          <a:solidFill>
            <a:srgbClr val="33333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87" y="2193131"/>
            <a:ext cx="112514" cy="128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7275" y="2170807"/>
            <a:ext cx="12144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96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Delete a character</a:t>
            </a:r>
            <a:endParaRPr lang="en-US" sz="996" dirty="0"/>
          </a:p>
        </p:txBody>
      </p:sp>
      <p:sp>
        <p:nvSpPr>
          <p:cNvPr id="22" name="Shape 17"/>
          <p:cNvSpPr/>
          <p:nvPr/>
        </p:nvSpPr>
        <p:spPr>
          <a:xfrm>
            <a:off x="664369" y="2471738"/>
            <a:ext cx="285750" cy="285750"/>
          </a:xfrm>
          <a:prstGeom prst="ellipse">
            <a:avLst/>
          </a:prstGeom>
          <a:solidFill>
            <a:srgbClr val="33333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550319"/>
            <a:ext cx="128588" cy="128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7275" y="2527995"/>
            <a:ext cx="13162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96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Replace a character</a:t>
            </a:r>
            <a:endParaRPr lang="en-US" sz="996" dirty="0"/>
          </a:p>
        </p:txBody>
      </p:sp>
      <p:sp>
        <p:nvSpPr>
          <p:cNvPr id="25" name="Shape 19"/>
          <p:cNvSpPr/>
          <p:nvPr/>
        </p:nvSpPr>
        <p:spPr>
          <a:xfrm>
            <a:off x="4697016" y="807244"/>
            <a:ext cx="3911203" cy="2212777"/>
          </a:xfrm>
          <a:prstGeom prst="rect">
            <a:avLst/>
          </a:prstGeom>
          <a:solidFill>
            <a:srgbClr val="FAFAFA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811316" y="921544"/>
            <a:ext cx="368260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EXAMPLE: HORSE → ROS</a:t>
            </a:r>
            <a:endParaRPr lang="en-US" sz="987" dirty="0"/>
          </a:p>
        </p:txBody>
      </p:sp>
      <p:sp>
        <p:nvSpPr>
          <p:cNvPr id="27" name="Text 21"/>
          <p:cNvSpPr/>
          <p:nvPr/>
        </p:nvSpPr>
        <p:spPr>
          <a:xfrm>
            <a:off x="4811316" y="1275159"/>
            <a:ext cx="8572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2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HORSE</a:t>
            </a:r>
            <a:endParaRPr lang="en-US" sz="1397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441" y="1313557"/>
            <a:ext cx="107156" cy="14287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811316" y="1601986"/>
            <a:ext cx="8572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2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RORSE</a:t>
            </a:r>
            <a:endParaRPr lang="en-US" sz="1397" dirty="0"/>
          </a:p>
        </p:txBody>
      </p:sp>
      <p:sp>
        <p:nvSpPr>
          <p:cNvPr id="30" name="Shape 23"/>
          <p:cNvSpPr/>
          <p:nvPr/>
        </p:nvSpPr>
        <p:spPr>
          <a:xfrm>
            <a:off x="5811441" y="1606451"/>
            <a:ext cx="1260872" cy="217884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1" name="Text 24"/>
          <p:cNvSpPr/>
          <p:nvPr/>
        </p:nvSpPr>
        <p:spPr>
          <a:xfrm>
            <a:off x="5811441" y="1606451"/>
            <a:ext cx="1260872" cy="21788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565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REPLACE 'H' WITH 'R'</a:t>
            </a:r>
            <a:endParaRPr lang="en-US" sz="784" dirty="0"/>
          </a:p>
        </p:txBody>
      </p:sp>
      <p:sp>
        <p:nvSpPr>
          <p:cNvPr id="32" name="Text 25"/>
          <p:cNvSpPr/>
          <p:nvPr/>
        </p:nvSpPr>
        <p:spPr>
          <a:xfrm>
            <a:off x="4811316" y="1928813"/>
            <a:ext cx="8572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2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ROSE</a:t>
            </a:r>
            <a:endParaRPr lang="en-US" sz="1397" dirty="0"/>
          </a:p>
        </p:txBody>
      </p:sp>
      <p:sp>
        <p:nvSpPr>
          <p:cNvPr id="33" name="Shape 26"/>
          <p:cNvSpPr/>
          <p:nvPr/>
        </p:nvSpPr>
        <p:spPr>
          <a:xfrm>
            <a:off x="5811441" y="1933277"/>
            <a:ext cx="705445" cy="217884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34" name="Text 27"/>
          <p:cNvSpPr/>
          <p:nvPr/>
        </p:nvSpPr>
        <p:spPr>
          <a:xfrm>
            <a:off x="5811441" y="1933277"/>
            <a:ext cx="705445" cy="21788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6282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DELETE 'R'</a:t>
            </a:r>
            <a:endParaRPr lang="en-US" sz="784" dirty="0"/>
          </a:p>
        </p:txBody>
      </p:sp>
      <p:sp>
        <p:nvSpPr>
          <p:cNvPr id="35" name="Text 28"/>
          <p:cNvSpPr/>
          <p:nvPr/>
        </p:nvSpPr>
        <p:spPr>
          <a:xfrm>
            <a:off x="4811316" y="2255639"/>
            <a:ext cx="8572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2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</a:t>
            </a:r>
            <a:endParaRPr lang="en-US" sz="1397" dirty="0"/>
          </a:p>
        </p:txBody>
      </p:sp>
      <p:sp>
        <p:nvSpPr>
          <p:cNvPr id="36" name="Shape 29"/>
          <p:cNvSpPr/>
          <p:nvPr/>
        </p:nvSpPr>
        <p:spPr>
          <a:xfrm>
            <a:off x="5811441" y="2260104"/>
            <a:ext cx="696516" cy="217884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37" name="Text 30"/>
          <p:cNvSpPr/>
          <p:nvPr/>
        </p:nvSpPr>
        <p:spPr>
          <a:xfrm>
            <a:off x="5811441" y="2260104"/>
            <a:ext cx="696516" cy="21788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6282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DELETE 'E'</a:t>
            </a:r>
            <a:endParaRPr lang="en-US" sz="784" dirty="0"/>
          </a:p>
        </p:txBody>
      </p:sp>
      <p:sp>
        <p:nvSpPr>
          <p:cNvPr id="38" name="Text 31"/>
          <p:cNvSpPr/>
          <p:nvPr/>
        </p:nvSpPr>
        <p:spPr>
          <a:xfrm>
            <a:off x="4811316" y="2689622"/>
            <a:ext cx="3682603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Operations: 3</a:t>
            </a:r>
            <a:endParaRPr lang="en-US" sz="1090" dirty="0"/>
          </a:p>
        </p:txBody>
      </p:sp>
      <p:sp>
        <p:nvSpPr>
          <p:cNvPr id="39" name="Text 32"/>
          <p:cNvSpPr/>
          <p:nvPr/>
        </p:nvSpPr>
        <p:spPr>
          <a:xfrm>
            <a:off x="4697016" y="3105745"/>
            <a:ext cx="3911203" cy="442913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Applications: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Spell checking (autocorrect), DNA sequence 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alignment, Natural Language Processing.</a:t>
            </a:r>
            <a:endParaRPr lang="en-US" sz="942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906" y="185738"/>
            <a:ext cx="8358188" cy="3821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92906" y="532209"/>
            <a:ext cx="8358188" cy="35719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392906" y="185738"/>
            <a:ext cx="8358188" cy="382191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5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Edit Distance — Recursive Formulation</a:t>
            </a:r>
            <a:endParaRPr lang="en-US" sz="1705" dirty="0"/>
          </a:p>
        </p:txBody>
      </p:sp>
      <p:sp>
        <p:nvSpPr>
          <p:cNvPr id="6" name="Text 3"/>
          <p:cNvSpPr/>
          <p:nvPr/>
        </p:nvSpPr>
        <p:spPr>
          <a:xfrm>
            <a:off x="521494" y="575072"/>
            <a:ext cx="39790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LOGIC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521494" y="759023"/>
            <a:ext cx="226992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Compare the last characters of strings A and B: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521494" y="1022617"/>
            <a:ext cx="8751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609005" y="1022617"/>
            <a:ext cx="33754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Match: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946547" y="1022617"/>
            <a:ext cx="10072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cost. Recurse on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1953816" y="1015473"/>
            <a:ext cx="6000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(i-1, j-1)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2553891" y="1022617"/>
            <a:ext cx="2500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521494" y="1152627"/>
            <a:ext cx="1071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628650" y="1152627"/>
            <a:ext cx="50184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Mismatch: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1130498" y="1152627"/>
            <a:ext cx="16752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Take min of 3 operations (+1 cost):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521494" y="1311213"/>
            <a:ext cx="3571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Insert: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878681" y="1311213"/>
            <a:ext cx="67329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Recurse on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1551980" y="1325500"/>
            <a:ext cx="44578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(i, j-1)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521494" y="1457660"/>
            <a:ext cx="38754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Delete: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909042" y="1457660"/>
            <a:ext cx="67329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Recurse on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1582341" y="1471947"/>
            <a:ext cx="44578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(i-1, j)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521494" y="1604107"/>
            <a:ext cx="47327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Replace: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994767" y="1604107"/>
            <a:ext cx="67329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Recurse on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1668066" y="1618394"/>
            <a:ext cx="55724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(i-1, j-1)</a:t>
            </a:r>
            <a:endParaRPr lang="en-US" sz="674" dirty="0"/>
          </a:p>
        </p:txBody>
      </p:sp>
      <p:sp>
        <p:nvSpPr>
          <p:cNvPr id="25" name="Shape 22"/>
          <p:cNvSpPr/>
          <p:nvPr/>
        </p:nvSpPr>
        <p:spPr>
          <a:xfrm>
            <a:off x="392906" y="1821991"/>
            <a:ext cx="4107656" cy="1019994"/>
          </a:xfrm>
          <a:prstGeom prst="rect">
            <a:avLst/>
          </a:prstGeom>
          <a:solidFill>
            <a:srgbClr val="F5F5F5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92906" y="1821991"/>
            <a:ext cx="4107656" cy="1019994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Recurrence Relation: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match: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ED(i-1, j-1)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mismatch: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+ min(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ED(i, j-1),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Insert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ED(i-1, j),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Delete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ED(i-1, j-1)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Replace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621" dirty="0"/>
          </a:p>
        </p:txBody>
      </p:sp>
      <p:sp>
        <p:nvSpPr>
          <p:cNvPr id="27" name="Shape 24"/>
          <p:cNvSpPr/>
          <p:nvPr/>
        </p:nvSpPr>
        <p:spPr>
          <a:xfrm>
            <a:off x="4643438" y="575072"/>
            <a:ext cx="4107656" cy="73145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8" name="Text 25"/>
          <p:cNvSpPr/>
          <p:nvPr/>
        </p:nvSpPr>
        <p:spPr>
          <a:xfrm>
            <a:off x="4643438" y="575072"/>
            <a:ext cx="4107656" cy="73145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min3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b,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c) {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 &lt; b)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&lt; c ? a : c;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&lt; c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b : c; }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minDistance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w1,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w2,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i,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j) {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==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j;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Insert remaining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(j ==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i;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remaining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(w1[i-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w2[j-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minDistance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(w1, w2, i-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j-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min3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minDistance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(w1, w2, i, j-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Insert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minDistance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(w1, w2, i-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j),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minDistance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(w1, w2, i-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j-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Replace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); }</a:t>
            </a:r>
            <a:endParaRPr lang="en-US" sz="621" dirty="0"/>
          </a:p>
        </p:txBody>
      </p:sp>
      <p:sp>
        <p:nvSpPr>
          <p:cNvPr id="29" name="Shape 26"/>
          <p:cNvSpPr/>
          <p:nvPr/>
        </p:nvSpPr>
        <p:spPr>
          <a:xfrm>
            <a:off x="4643438" y="1349387"/>
            <a:ext cx="4107656" cy="375047"/>
          </a:xfrm>
          <a:prstGeom prst="rect">
            <a:avLst/>
          </a:prstGeom>
          <a:solidFill>
            <a:srgbClr val="FFF0E6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9163" y="1444628"/>
            <a:ext cx="24110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O(3</a:t>
            </a:r>
            <a:endParaRPr lang="en-US" sz="987" dirty="0"/>
          </a:p>
        </p:txBody>
      </p:sp>
      <p:sp>
        <p:nvSpPr>
          <p:cNvPr id="31" name="Text 28"/>
          <p:cNvSpPr/>
          <p:nvPr/>
        </p:nvSpPr>
        <p:spPr>
          <a:xfrm>
            <a:off x="4970264" y="1418453"/>
            <a:ext cx="10179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18" b="1" baseline="3000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</a:t>
            </a:r>
            <a:endParaRPr lang="en-US" sz="818" dirty="0"/>
          </a:p>
        </p:txBody>
      </p:sp>
      <p:sp>
        <p:nvSpPr>
          <p:cNvPr id="32" name="Text 29"/>
          <p:cNvSpPr/>
          <p:nvPr/>
        </p:nvSpPr>
        <p:spPr>
          <a:xfrm>
            <a:off x="5072063" y="1444628"/>
            <a:ext cx="5536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</a:t>
            </a:r>
            <a:endParaRPr lang="en-US" sz="987" dirty="0"/>
          </a:p>
        </p:txBody>
      </p:sp>
      <p:sp>
        <p:nvSpPr>
          <p:cNvPr id="33" name="Text 30"/>
          <p:cNvSpPr/>
          <p:nvPr/>
        </p:nvSpPr>
        <p:spPr>
          <a:xfrm>
            <a:off x="5227439" y="1406537"/>
            <a:ext cx="19288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Exponential time complexity.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Worse than LCS — 3 branches at each step.</a:t>
            </a:r>
            <a:endParaRPr lang="en-US" sz="674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0063" y="228600"/>
            <a:ext cx="8143875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00063" y="646509"/>
            <a:ext cx="8143875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00063" y="228600"/>
            <a:ext cx="8143875" cy="460772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12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Edit Distance — DP Solution</a:t>
            </a:r>
            <a:endParaRPr lang="en-US" sz="1912" dirty="0"/>
          </a:p>
        </p:txBody>
      </p:sp>
      <p:sp>
        <p:nvSpPr>
          <p:cNvPr id="6" name="Text 3"/>
          <p:cNvSpPr/>
          <p:nvPr/>
        </p:nvSpPr>
        <p:spPr>
          <a:xfrm>
            <a:off x="500063" y="717947"/>
            <a:ext cx="397192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Applying the Recipe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707231" y="1151930"/>
            <a:ext cx="37647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07231" y="1373386"/>
            <a:ext cx="3764756" cy="46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dp[i][j]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= min operations to convert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word1[0..i]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to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word2[0..j]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707231" y="1927696"/>
            <a:ext cx="37647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RECURRENCE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707231" y="2149153"/>
            <a:ext cx="3764756" cy="140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If match: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dp[i-1][j-1]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Else: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+ min(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dp[i][j-1]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(Insert),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dp[i-1][j]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(Delete),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dp[i-1][j-1]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(Replace)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ts val="1700"/>
              </a:lnSpc>
              <a:buNone/>
            </a:pPr>
            <a:endParaRPr lang="en-US" sz="1159" dirty="0"/>
          </a:p>
        </p:txBody>
      </p:sp>
      <p:sp>
        <p:nvSpPr>
          <p:cNvPr id="11" name="Text 8"/>
          <p:cNvSpPr/>
          <p:nvPr/>
        </p:nvSpPr>
        <p:spPr>
          <a:xfrm>
            <a:off x="707231" y="3640634"/>
            <a:ext cx="37647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BASE CASE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707231" y="3862090"/>
            <a:ext cx="3764756" cy="46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dp[i][0] = i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(Delete all)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dp[0][j] = j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(Insert all)</a:t>
            </a:r>
            <a:endParaRPr lang="en-US" sz="1159" dirty="0"/>
          </a:p>
        </p:txBody>
      </p:sp>
      <p:sp>
        <p:nvSpPr>
          <p:cNvPr id="13" name="Shape 10"/>
          <p:cNvSpPr/>
          <p:nvPr/>
        </p:nvSpPr>
        <p:spPr>
          <a:xfrm>
            <a:off x="4672013" y="717947"/>
            <a:ext cx="3971925" cy="105317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Text 11"/>
          <p:cNvSpPr/>
          <p:nvPr/>
        </p:nvSpPr>
        <p:spPr>
          <a:xfrm>
            <a:off x="4672013" y="717947"/>
            <a:ext cx="3971925" cy="1053173"/>
          </a:xfrm>
          <a:prstGeom prst="rect">
            <a:avLst/>
          </a:prstGeom>
          <a:noFill/>
          <a:ln/>
        </p:spPr>
        <p:txBody>
          <a:bodyPr wrap="square" lIns="110617" tIns="93599" rIns="110617" bIns="93599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minDistance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w1,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w2) {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(w1), n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(w2);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dp[m+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][n+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m; i++)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i;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&lt;= n; j++) dp[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][j] = j;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m; i++)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&lt;= n; j++) {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(w1[i-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w2[j-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dp[i][j] = dp[i-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][j-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dp[i][j]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min3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dp[i][j-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dp[i-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][j], dp[i-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][j-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 }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dp[m]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[n]; }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4672013" y="1842557"/>
            <a:ext cx="3971925" cy="7000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3"/>
          <p:cNvSpPr/>
          <p:nvPr/>
        </p:nvSpPr>
        <p:spPr>
          <a:xfrm>
            <a:off x="4672013" y="1842557"/>
            <a:ext cx="3971925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4"/>
          <p:cNvSpPr/>
          <p:nvPr/>
        </p:nvSpPr>
        <p:spPr>
          <a:xfrm>
            <a:off x="4814888" y="1985432"/>
            <a:ext cx="1714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↖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5057775" y="1985432"/>
            <a:ext cx="88939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Replace / Match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6711553" y="1985432"/>
            <a:ext cx="1714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←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6954441" y="1985432"/>
            <a:ext cx="32146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Insert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4814888" y="2239035"/>
            <a:ext cx="1714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↑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5057775" y="2239035"/>
            <a:ext cx="35540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Delete</a:t>
            </a:r>
            <a:endParaRPr lang="en-US" sz="834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952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57238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Edit Distance — Table Walkthrough</a:t>
            </a:r>
            <a:endParaRPr lang="en-US" sz="2226" dirty="0"/>
          </a:p>
        </p:txBody>
      </p:sp>
      <p:sp>
        <p:nvSpPr>
          <p:cNvPr id="6" name="Shape 3"/>
          <p:cNvSpPr/>
          <p:nvPr/>
        </p:nvSpPr>
        <p:spPr>
          <a:xfrm>
            <a:off x="535781" y="900113"/>
            <a:ext cx="8072438" cy="4089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535781" y="900113"/>
            <a:ext cx="28575" cy="4089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1022449"/>
            <a:ext cx="9286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WORD1 (ROWS)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1750219" y="1007269"/>
            <a:ext cx="82022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2" kern="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"HORSE"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2856188" y="1022449"/>
            <a:ext cx="89832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WORD2 (COLS)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3861671" y="1007269"/>
            <a:ext cx="58587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2" kern="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"ROS"</a:t>
            </a:r>
            <a:endParaRPr lang="en-US" sz="1269" dirty="0"/>
          </a:p>
        </p:txBody>
      </p:sp>
      <p:sp>
        <p:nvSpPr>
          <p:cNvPr id="12" name="Shape 9"/>
          <p:cNvSpPr/>
          <p:nvPr/>
        </p:nvSpPr>
        <p:spPr>
          <a:xfrm>
            <a:off x="2405965" y="1526977"/>
            <a:ext cx="452958" cy="296466"/>
          </a:xfrm>
          <a:prstGeom prst="rect">
            <a:avLst/>
          </a:prstGeom>
          <a:solidFill>
            <a:srgbClr val="333333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05965" y="1526977"/>
            <a:ext cx="452958" cy="29646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2857137" y="1526977"/>
            <a:ext cx="305786" cy="296466"/>
          </a:xfrm>
          <a:prstGeom prst="rect">
            <a:avLst/>
          </a:prstGeom>
          <a:solidFill>
            <a:srgbClr val="333333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57137" y="1526977"/>
            <a:ext cx="305786" cy="29646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885" dirty="0"/>
          </a:p>
        </p:txBody>
      </p:sp>
      <p:sp>
        <p:nvSpPr>
          <p:cNvPr id="16" name="Shape 13"/>
          <p:cNvSpPr/>
          <p:nvPr/>
        </p:nvSpPr>
        <p:spPr>
          <a:xfrm>
            <a:off x="3161137" y="1526977"/>
            <a:ext cx="305786" cy="296466"/>
          </a:xfrm>
          <a:prstGeom prst="rect">
            <a:avLst/>
          </a:prstGeom>
          <a:solidFill>
            <a:srgbClr val="333333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61137" y="1526977"/>
            <a:ext cx="305786" cy="29646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885" dirty="0"/>
          </a:p>
        </p:txBody>
      </p:sp>
      <p:sp>
        <p:nvSpPr>
          <p:cNvPr id="18" name="Shape 15"/>
          <p:cNvSpPr/>
          <p:nvPr/>
        </p:nvSpPr>
        <p:spPr>
          <a:xfrm>
            <a:off x="3466923" y="1526977"/>
            <a:ext cx="312930" cy="296466"/>
          </a:xfrm>
          <a:prstGeom prst="rect">
            <a:avLst/>
          </a:prstGeom>
          <a:solidFill>
            <a:srgbClr val="333333"/>
          </a:solidFill>
          <a:ln w="9144">
            <a:solidFill>
              <a:srgbClr val="5555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66923" y="1526977"/>
            <a:ext cx="312930" cy="29646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885" dirty="0"/>
          </a:p>
        </p:txBody>
      </p:sp>
      <p:sp>
        <p:nvSpPr>
          <p:cNvPr id="20" name="Shape 17"/>
          <p:cNvSpPr/>
          <p:nvPr/>
        </p:nvSpPr>
        <p:spPr>
          <a:xfrm>
            <a:off x="1956578" y="1816298"/>
            <a:ext cx="452958" cy="300038"/>
          </a:xfrm>
          <a:prstGeom prst="rect">
            <a:avLst/>
          </a:prstGeom>
          <a:solidFill>
            <a:srgbClr val="E0E0E0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956578" y="1816298"/>
            <a:ext cx="452958" cy="30003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endParaRPr lang="en-US" sz="885" dirty="0"/>
          </a:p>
        </p:txBody>
      </p:sp>
      <p:sp>
        <p:nvSpPr>
          <p:cNvPr id="22" name="Shape 19"/>
          <p:cNvSpPr/>
          <p:nvPr/>
        </p:nvSpPr>
        <p:spPr>
          <a:xfrm>
            <a:off x="2407751" y="1816298"/>
            <a:ext cx="445815" cy="300038"/>
          </a:xfrm>
          <a:prstGeom prst="rect">
            <a:avLst/>
          </a:prstGeom>
          <a:solidFill>
            <a:srgbClr val="F5F5F5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407751" y="1816298"/>
            <a:ext cx="445815" cy="30003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42" dirty="0"/>
          </a:p>
        </p:txBody>
      </p:sp>
      <p:sp>
        <p:nvSpPr>
          <p:cNvPr id="24" name="Shape 21"/>
          <p:cNvSpPr/>
          <p:nvPr/>
        </p:nvSpPr>
        <p:spPr>
          <a:xfrm>
            <a:off x="2851779" y="1816298"/>
            <a:ext cx="305786" cy="300038"/>
          </a:xfrm>
          <a:prstGeom prst="rect">
            <a:avLst/>
          </a:prstGeom>
          <a:solidFill>
            <a:srgbClr val="F5F5F5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851779" y="1816298"/>
            <a:ext cx="305786" cy="30003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42" dirty="0"/>
          </a:p>
        </p:txBody>
      </p:sp>
      <p:sp>
        <p:nvSpPr>
          <p:cNvPr id="26" name="Shape 23"/>
          <p:cNvSpPr/>
          <p:nvPr/>
        </p:nvSpPr>
        <p:spPr>
          <a:xfrm>
            <a:off x="3157565" y="1816298"/>
            <a:ext cx="305786" cy="296466"/>
          </a:xfrm>
          <a:prstGeom prst="rect">
            <a:avLst/>
          </a:prstGeom>
          <a:solidFill>
            <a:srgbClr val="F5F5F5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57565" y="1816298"/>
            <a:ext cx="305786" cy="29646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42" dirty="0"/>
          </a:p>
        </p:txBody>
      </p:sp>
      <p:sp>
        <p:nvSpPr>
          <p:cNvPr id="28" name="Shape 25"/>
          <p:cNvSpPr/>
          <p:nvPr/>
        </p:nvSpPr>
        <p:spPr>
          <a:xfrm>
            <a:off x="3463351" y="1816298"/>
            <a:ext cx="312930" cy="296466"/>
          </a:xfrm>
          <a:prstGeom prst="rect">
            <a:avLst/>
          </a:prstGeom>
          <a:solidFill>
            <a:srgbClr val="F5F5F5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63351" y="1816298"/>
            <a:ext cx="312930" cy="29646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42" dirty="0"/>
          </a:p>
        </p:txBody>
      </p:sp>
      <p:sp>
        <p:nvSpPr>
          <p:cNvPr id="30" name="Shape 27"/>
          <p:cNvSpPr/>
          <p:nvPr/>
        </p:nvSpPr>
        <p:spPr>
          <a:xfrm>
            <a:off x="1960150" y="2109192"/>
            <a:ext cx="445815" cy="303609"/>
          </a:xfrm>
          <a:prstGeom prst="rect">
            <a:avLst/>
          </a:prstGeom>
          <a:solidFill>
            <a:srgbClr val="E0E0E0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960150" y="2109192"/>
            <a:ext cx="445815" cy="30360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885" dirty="0"/>
          </a:p>
        </p:txBody>
      </p:sp>
      <p:sp>
        <p:nvSpPr>
          <p:cNvPr id="32" name="Shape 29"/>
          <p:cNvSpPr/>
          <p:nvPr/>
        </p:nvSpPr>
        <p:spPr>
          <a:xfrm>
            <a:off x="2405965" y="2109192"/>
            <a:ext cx="445815" cy="303609"/>
          </a:xfrm>
          <a:prstGeom prst="rect">
            <a:avLst/>
          </a:prstGeom>
          <a:solidFill>
            <a:srgbClr val="F5F5F5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05965" y="2109192"/>
            <a:ext cx="445815" cy="30360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42" dirty="0"/>
          </a:p>
        </p:txBody>
      </p:sp>
      <p:sp>
        <p:nvSpPr>
          <p:cNvPr id="34" name="Shape 31"/>
          <p:cNvSpPr/>
          <p:nvPr/>
        </p:nvSpPr>
        <p:spPr>
          <a:xfrm>
            <a:off x="2851779" y="2109192"/>
            <a:ext cx="305786" cy="303609"/>
          </a:xfrm>
          <a:prstGeom prst="rect">
            <a:avLst/>
          </a:prstGeom>
          <a:solidFill>
            <a:srgbClr val="FFEBEE"/>
          </a:solidFill>
          <a:ln w="18288">
            <a:solidFill>
              <a:srgbClr val="C6282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851779" y="2109192"/>
            <a:ext cx="305786" cy="30360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42" dirty="0"/>
          </a:p>
        </p:txBody>
      </p:sp>
      <p:sp>
        <p:nvSpPr>
          <p:cNvPr id="36" name="Text 33"/>
          <p:cNvSpPr/>
          <p:nvPr/>
        </p:nvSpPr>
        <p:spPr>
          <a:xfrm>
            <a:off x="3157565" y="2109192"/>
            <a:ext cx="305786" cy="30360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42" dirty="0"/>
          </a:p>
        </p:txBody>
      </p:sp>
      <p:sp>
        <p:nvSpPr>
          <p:cNvPr id="37" name="Text 34"/>
          <p:cNvSpPr/>
          <p:nvPr/>
        </p:nvSpPr>
        <p:spPr>
          <a:xfrm>
            <a:off x="3463351" y="2109192"/>
            <a:ext cx="312930" cy="30360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42" dirty="0"/>
          </a:p>
        </p:txBody>
      </p:sp>
      <p:sp>
        <p:nvSpPr>
          <p:cNvPr id="38" name="Shape 35"/>
          <p:cNvSpPr/>
          <p:nvPr/>
        </p:nvSpPr>
        <p:spPr>
          <a:xfrm>
            <a:off x="1960150" y="2412802"/>
            <a:ext cx="445815" cy="303609"/>
          </a:xfrm>
          <a:prstGeom prst="rect">
            <a:avLst/>
          </a:prstGeom>
          <a:solidFill>
            <a:srgbClr val="E0E0E0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960150" y="2412802"/>
            <a:ext cx="445815" cy="30360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885" dirty="0"/>
          </a:p>
        </p:txBody>
      </p:sp>
      <p:sp>
        <p:nvSpPr>
          <p:cNvPr id="40" name="Shape 37"/>
          <p:cNvSpPr/>
          <p:nvPr/>
        </p:nvSpPr>
        <p:spPr>
          <a:xfrm>
            <a:off x="2405965" y="2412802"/>
            <a:ext cx="445815" cy="303609"/>
          </a:xfrm>
          <a:prstGeom prst="rect">
            <a:avLst/>
          </a:prstGeom>
          <a:solidFill>
            <a:srgbClr val="F5F5F5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405965" y="2412802"/>
            <a:ext cx="445815" cy="30360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42" dirty="0"/>
          </a:p>
        </p:txBody>
      </p:sp>
      <p:sp>
        <p:nvSpPr>
          <p:cNvPr id="42" name="Text 39"/>
          <p:cNvSpPr/>
          <p:nvPr/>
        </p:nvSpPr>
        <p:spPr>
          <a:xfrm>
            <a:off x="2851779" y="2412802"/>
            <a:ext cx="305786" cy="30360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42" dirty="0"/>
          </a:p>
        </p:txBody>
      </p:sp>
      <p:sp>
        <p:nvSpPr>
          <p:cNvPr id="43" name="Shape 40"/>
          <p:cNvSpPr/>
          <p:nvPr/>
        </p:nvSpPr>
        <p:spPr>
          <a:xfrm>
            <a:off x="3157565" y="2412802"/>
            <a:ext cx="305786" cy="303609"/>
          </a:xfrm>
          <a:prstGeom prst="rect">
            <a:avLst/>
          </a:prstGeom>
          <a:solidFill>
            <a:srgbClr val="E8F5E9"/>
          </a:solidFill>
          <a:ln w="18288">
            <a:solidFill>
              <a:srgbClr val="2E7D3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157565" y="2412802"/>
            <a:ext cx="305786" cy="30360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85" dirty="0"/>
          </a:p>
        </p:txBody>
      </p:sp>
      <p:sp>
        <p:nvSpPr>
          <p:cNvPr id="45" name="Text 42"/>
          <p:cNvSpPr/>
          <p:nvPr/>
        </p:nvSpPr>
        <p:spPr>
          <a:xfrm>
            <a:off x="3463351" y="2412802"/>
            <a:ext cx="312930" cy="30360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42" dirty="0"/>
          </a:p>
        </p:txBody>
      </p:sp>
      <p:sp>
        <p:nvSpPr>
          <p:cNvPr id="46" name="Shape 43"/>
          <p:cNvSpPr/>
          <p:nvPr/>
        </p:nvSpPr>
        <p:spPr>
          <a:xfrm>
            <a:off x="1960150" y="2716411"/>
            <a:ext cx="445815" cy="300038"/>
          </a:xfrm>
          <a:prstGeom prst="rect">
            <a:avLst/>
          </a:prstGeom>
          <a:solidFill>
            <a:srgbClr val="E0E0E0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960150" y="2716411"/>
            <a:ext cx="445815" cy="30003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885" dirty="0"/>
          </a:p>
        </p:txBody>
      </p:sp>
      <p:sp>
        <p:nvSpPr>
          <p:cNvPr id="48" name="Shape 45"/>
          <p:cNvSpPr/>
          <p:nvPr/>
        </p:nvSpPr>
        <p:spPr>
          <a:xfrm>
            <a:off x="2405965" y="2716411"/>
            <a:ext cx="445815" cy="300038"/>
          </a:xfrm>
          <a:prstGeom prst="rect">
            <a:avLst/>
          </a:prstGeom>
          <a:solidFill>
            <a:srgbClr val="F5F5F5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405965" y="2716411"/>
            <a:ext cx="445815" cy="30003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42" dirty="0"/>
          </a:p>
        </p:txBody>
      </p:sp>
      <p:sp>
        <p:nvSpPr>
          <p:cNvPr id="50" name="Text 47"/>
          <p:cNvSpPr/>
          <p:nvPr/>
        </p:nvSpPr>
        <p:spPr>
          <a:xfrm>
            <a:off x="2851779" y="2716411"/>
            <a:ext cx="305786" cy="30003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42" dirty="0"/>
          </a:p>
        </p:txBody>
      </p:sp>
      <p:sp>
        <p:nvSpPr>
          <p:cNvPr id="51" name="Text 48"/>
          <p:cNvSpPr/>
          <p:nvPr/>
        </p:nvSpPr>
        <p:spPr>
          <a:xfrm>
            <a:off x="3157565" y="2716411"/>
            <a:ext cx="305786" cy="30003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42" dirty="0"/>
          </a:p>
        </p:txBody>
      </p:sp>
      <p:sp>
        <p:nvSpPr>
          <p:cNvPr id="52" name="Text 49"/>
          <p:cNvSpPr/>
          <p:nvPr/>
        </p:nvSpPr>
        <p:spPr>
          <a:xfrm>
            <a:off x="3463351" y="2716411"/>
            <a:ext cx="312930" cy="30003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42" dirty="0"/>
          </a:p>
        </p:txBody>
      </p:sp>
      <p:sp>
        <p:nvSpPr>
          <p:cNvPr id="53" name="Shape 50"/>
          <p:cNvSpPr/>
          <p:nvPr/>
        </p:nvSpPr>
        <p:spPr>
          <a:xfrm>
            <a:off x="1960150" y="3016448"/>
            <a:ext cx="445815" cy="303609"/>
          </a:xfrm>
          <a:prstGeom prst="rect">
            <a:avLst/>
          </a:prstGeom>
          <a:solidFill>
            <a:srgbClr val="E0E0E0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960150" y="3016448"/>
            <a:ext cx="445815" cy="30360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885" dirty="0"/>
          </a:p>
        </p:txBody>
      </p:sp>
      <p:sp>
        <p:nvSpPr>
          <p:cNvPr id="55" name="Shape 52"/>
          <p:cNvSpPr/>
          <p:nvPr/>
        </p:nvSpPr>
        <p:spPr>
          <a:xfrm>
            <a:off x="2405965" y="3016448"/>
            <a:ext cx="445815" cy="303609"/>
          </a:xfrm>
          <a:prstGeom prst="rect">
            <a:avLst/>
          </a:prstGeom>
          <a:solidFill>
            <a:srgbClr val="F5F5F5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405965" y="3016448"/>
            <a:ext cx="445815" cy="30360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42" dirty="0"/>
          </a:p>
        </p:txBody>
      </p:sp>
      <p:sp>
        <p:nvSpPr>
          <p:cNvPr id="57" name="Text 54"/>
          <p:cNvSpPr/>
          <p:nvPr/>
        </p:nvSpPr>
        <p:spPr>
          <a:xfrm>
            <a:off x="2851779" y="3016448"/>
            <a:ext cx="305786" cy="30360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42" dirty="0"/>
          </a:p>
        </p:txBody>
      </p:sp>
      <p:sp>
        <p:nvSpPr>
          <p:cNvPr id="58" name="Text 55"/>
          <p:cNvSpPr/>
          <p:nvPr/>
        </p:nvSpPr>
        <p:spPr>
          <a:xfrm>
            <a:off x="3157565" y="3016448"/>
            <a:ext cx="305786" cy="30360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42" dirty="0"/>
          </a:p>
        </p:txBody>
      </p:sp>
      <p:sp>
        <p:nvSpPr>
          <p:cNvPr id="59" name="Text 56"/>
          <p:cNvSpPr/>
          <p:nvPr/>
        </p:nvSpPr>
        <p:spPr>
          <a:xfrm>
            <a:off x="3463351" y="3016448"/>
            <a:ext cx="312930" cy="30360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42" dirty="0"/>
          </a:p>
        </p:txBody>
      </p:sp>
      <p:sp>
        <p:nvSpPr>
          <p:cNvPr id="60" name="Shape 57"/>
          <p:cNvSpPr/>
          <p:nvPr/>
        </p:nvSpPr>
        <p:spPr>
          <a:xfrm>
            <a:off x="1960150" y="3320058"/>
            <a:ext cx="445815" cy="310753"/>
          </a:xfrm>
          <a:prstGeom prst="rect">
            <a:avLst/>
          </a:prstGeom>
          <a:solidFill>
            <a:srgbClr val="E0E0E0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960150" y="3320058"/>
            <a:ext cx="445815" cy="31075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885" dirty="0"/>
          </a:p>
        </p:txBody>
      </p:sp>
      <p:sp>
        <p:nvSpPr>
          <p:cNvPr id="62" name="Shape 59"/>
          <p:cNvSpPr/>
          <p:nvPr/>
        </p:nvSpPr>
        <p:spPr>
          <a:xfrm>
            <a:off x="2404179" y="3320058"/>
            <a:ext cx="445815" cy="310753"/>
          </a:xfrm>
          <a:prstGeom prst="rect">
            <a:avLst/>
          </a:prstGeom>
          <a:solidFill>
            <a:srgbClr val="F5F5F5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2404179" y="3320058"/>
            <a:ext cx="445815" cy="31075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42" dirty="0"/>
          </a:p>
        </p:txBody>
      </p:sp>
      <p:sp>
        <p:nvSpPr>
          <p:cNvPr id="64" name="Text 61"/>
          <p:cNvSpPr/>
          <p:nvPr/>
        </p:nvSpPr>
        <p:spPr>
          <a:xfrm>
            <a:off x="2849993" y="3320058"/>
            <a:ext cx="305786" cy="31075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42" dirty="0"/>
          </a:p>
        </p:txBody>
      </p:sp>
      <p:sp>
        <p:nvSpPr>
          <p:cNvPr id="65" name="Text 62"/>
          <p:cNvSpPr/>
          <p:nvPr/>
        </p:nvSpPr>
        <p:spPr>
          <a:xfrm>
            <a:off x="3155779" y="3320058"/>
            <a:ext cx="305786" cy="31075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42" dirty="0"/>
          </a:p>
        </p:txBody>
      </p:sp>
      <p:sp>
        <p:nvSpPr>
          <p:cNvPr id="66" name="Shape 63"/>
          <p:cNvSpPr/>
          <p:nvPr/>
        </p:nvSpPr>
        <p:spPr>
          <a:xfrm>
            <a:off x="3461565" y="3320058"/>
            <a:ext cx="312930" cy="310753"/>
          </a:xfrm>
          <a:prstGeom prst="rect">
            <a:avLst/>
          </a:prstGeom>
          <a:solidFill>
            <a:srgbClr val="FFF3E0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461565" y="3320058"/>
            <a:ext cx="312930" cy="31075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85" dirty="0"/>
          </a:p>
        </p:txBody>
      </p:sp>
      <p:sp>
        <p:nvSpPr>
          <p:cNvPr id="68" name="Shape 65"/>
          <p:cNvSpPr/>
          <p:nvPr/>
        </p:nvSpPr>
        <p:spPr>
          <a:xfrm>
            <a:off x="5493544" y="1523405"/>
            <a:ext cx="3114675" cy="1057275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69" name="Shape 66"/>
          <p:cNvSpPr/>
          <p:nvPr/>
        </p:nvSpPr>
        <p:spPr>
          <a:xfrm>
            <a:off x="5493544" y="1523405"/>
            <a:ext cx="42863" cy="1057275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0" name="Text 67"/>
          <p:cNvSpPr/>
          <p:nvPr/>
        </p:nvSpPr>
        <p:spPr>
          <a:xfrm>
            <a:off x="5636419" y="1666280"/>
            <a:ext cx="125194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6282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MISMATCH EXAMPLE</a:t>
            </a:r>
            <a:endParaRPr lang="en-US" sz="885" dirty="0"/>
          </a:p>
        </p:txBody>
      </p:sp>
      <p:pic>
        <p:nvPicPr>
          <p:cNvPr id="7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977" y="1666280"/>
            <a:ext cx="80367" cy="164306"/>
          </a:xfrm>
          <a:prstGeom prst="rect">
            <a:avLst/>
          </a:prstGeom>
        </p:spPr>
      </p:pic>
      <p:sp>
        <p:nvSpPr>
          <p:cNvPr id="72" name="Text 68"/>
          <p:cNvSpPr/>
          <p:nvPr/>
        </p:nvSpPr>
        <p:spPr>
          <a:xfrm>
            <a:off x="5636419" y="1902023"/>
            <a:ext cx="2828925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'H' vs 'R'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+ min(0, 1, 1) =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(Replace 'H' with 'R')</a:t>
            </a:r>
            <a:pPr algn="l" indent="0" marL="0">
              <a:lnSpc>
                <a:spcPts val="1400"/>
              </a:lnSpc>
              <a:buNone/>
            </a:pPr>
            <a:endParaRPr lang="en-US" sz="834" dirty="0"/>
          </a:p>
        </p:txBody>
      </p:sp>
      <p:sp>
        <p:nvSpPr>
          <p:cNvPr id="73" name="Shape 69"/>
          <p:cNvSpPr/>
          <p:nvPr/>
        </p:nvSpPr>
        <p:spPr>
          <a:xfrm>
            <a:off x="5493544" y="2759273"/>
            <a:ext cx="3114675" cy="1057275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74" name="Shape 70"/>
          <p:cNvSpPr/>
          <p:nvPr/>
        </p:nvSpPr>
        <p:spPr>
          <a:xfrm>
            <a:off x="5493544" y="2759273"/>
            <a:ext cx="42863" cy="1057275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5" name="Text 71"/>
          <p:cNvSpPr/>
          <p:nvPr/>
        </p:nvSpPr>
        <p:spPr>
          <a:xfrm>
            <a:off x="5636419" y="2902148"/>
            <a:ext cx="102512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E7D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MATCH EXAMPLE</a:t>
            </a:r>
            <a:endParaRPr lang="en-US" sz="885" dirty="0"/>
          </a:p>
        </p:txBody>
      </p:sp>
      <p:pic>
        <p:nvPicPr>
          <p:cNvPr id="7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756" y="2902148"/>
            <a:ext cx="128588" cy="164306"/>
          </a:xfrm>
          <a:prstGeom prst="rect">
            <a:avLst/>
          </a:prstGeom>
        </p:spPr>
      </p:pic>
      <p:sp>
        <p:nvSpPr>
          <p:cNvPr id="77" name="Text 72"/>
          <p:cNvSpPr/>
          <p:nvPr/>
        </p:nvSpPr>
        <p:spPr>
          <a:xfrm>
            <a:off x="5636419" y="3137892"/>
            <a:ext cx="2828925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'O' vs 'O'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Take diagonal value directly.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dp[2][2] = dp[1][1] =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400"/>
              </a:lnSpc>
              <a:buNone/>
            </a:pPr>
            <a:endParaRPr lang="en-US" sz="834" dirty="0"/>
          </a:p>
        </p:txBody>
      </p:sp>
      <p:sp>
        <p:nvSpPr>
          <p:cNvPr id="78" name="Shape 73"/>
          <p:cNvSpPr/>
          <p:nvPr/>
        </p:nvSpPr>
        <p:spPr>
          <a:xfrm>
            <a:off x="5493544" y="3995142"/>
            <a:ext cx="3114675" cy="885825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79" name="Shape 74"/>
          <p:cNvSpPr/>
          <p:nvPr/>
        </p:nvSpPr>
        <p:spPr>
          <a:xfrm>
            <a:off x="5493544" y="3995142"/>
            <a:ext cx="42863" cy="885825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80" name="Text 75"/>
          <p:cNvSpPr/>
          <p:nvPr/>
        </p:nvSpPr>
        <p:spPr>
          <a:xfrm>
            <a:off x="5636419" y="4138017"/>
            <a:ext cx="88225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FINAL ANSWER</a:t>
            </a:r>
            <a:endParaRPr lang="en-US" sz="885" dirty="0"/>
          </a:p>
        </p:txBody>
      </p:sp>
      <p:pic>
        <p:nvPicPr>
          <p:cNvPr id="8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0683" y="4138017"/>
            <a:ext cx="144661" cy="164306"/>
          </a:xfrm>
          <a:prstGeom prst="rect">
            <a:avLst/>
          </a:prstGeom>
        </p:spPr>
      </p:pic>
      <p:sp>
        <p:nvSpPr>
          <p:cNvPr id="82" name="Text 76"/>
          <p:cNvSpPr/>
          <p:nvPr/>
        </p:nvSpPr>
        <p:spPr>
          <a:xfrm>
            <a:off x="5636419" y="4373761"/>
            <a:ext cx="282892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dp[5][3] =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(HORSE → ROS)</a:t>
            </a:r>
            <a:endParaRPr lang="en-US" sz="834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0063" y="228600"/>
            <a:ext cx="8143875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00063" y="646509"/>
            <a:ext cx="8143875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00063" y="228600"/>
            <a:ext cx="8143875" cy="460772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12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Classic Problem 7 — Grid Paths with Obstacles</a:t>
            </a:r>
            <a:endParaRPr lang="en-US" sz="1912" dirty="0"/>
          </a:p>
        </p:txBody>
      </p:sp>
      <p:sp>
        <p:nvSpPr>
          <p:cNvPr id="6" name="Text 3"/>
          <p:cNvSpPr/>
          <p:nvPr/>
        </p:nvSpPr>
        <p:spPr>
          <a:xfrm>
            <a:off x="500063" y="717947"/>
            <a:ext cx="3971925" cy="800100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Problem: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 robot starts at top-left (0,0) and wants to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reach bottom-right. It can only move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Down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or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Right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Some cells are obstacles. How many unique paths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exist?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00063" y="1589484"/>
            <a:ext cx="3971925" cy="1507331"/>
          </a:xfrm>
          <a:prstGeom prst="rect">
            <a:avLst/>
          </a:prstGeom>
          <a:solidFill>
            <a:srgbClr val="F5F5F5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4363" y="1703784"/>
            <a:ext cx="37433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RECURRENCE LOGIC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614363" y="1939528"/>
            <a:ext cx="374332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grid[i][j] is obstacle: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dp[i][j] = 0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dp[i][j] = dp[i-1][j] + dp[i][j-1]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(Sum of paths from top and left)</a:t>
            </a:r>
            <a:pPr algn="l" indent="0" marL="0">
              <a:lnSpc>
                <a:spcPts val="1400"/>
              </a:lnSpc>
              <a:buNone/>
            </a:pP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4672013" y="717947"/>
            <a:ext cx="3971925" cy="925171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8"/>
          <p:cNvSpPr/>
          <p:nvPr/>
        </p:nvSpPr>
        <p:spPr>
          <a:xfrm>
            <a:off x="4672013" y="717947"/>
            <a:ext cx="3971925" cy="925171"/>
          </a:xfrm>
          <a:prstGeom prst="rect">
            <a:avLst/>
          </a:prstGeom>
          <a:noFill/>
          <a:ln/>
        </p:spPr>
        <p:txBody>
          <a:bodyPr wrap="square" lIns="110617" tIns="93599" rIns="110617" bIns="93599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uniquePathsWithObstacles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grid[][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m,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dp[m][n];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memset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(dp,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(dp));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(grid[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m; i++)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n; j++) {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(grid[i][j] ==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dp[i][j]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&gt;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dp[i][j] += dp[i-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][j];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(j &gt;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dp[i][j] += dp[i][j-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} }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dp[m-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][n-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}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4672013" y="1714556"/>
            <a:ext cx="397192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 DP Table (1 = Path Count)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4672013" y="1918153"/>
            <a:ext cx="342900" cy="342900"/>
          </a:xfrm>
          <a:prstGeom prst="rect">
            <a:avLst/>
          </a:prstGeom>
          <a:solidFill>
            <a:srgbClr val="C8E6C9"/>
          </a:solidFill>
          <a:ln w="9144">
            <a:solidFill>
              <a:srgbClr val="81C78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72013" y="1918153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E7D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885" dirty="0"/>
          </a:p>
        </p:txBody>
      </p:sp>
      <p:sp>
        <p:nvSpPr>
          <p:cNvPr id="15" name="Shape 12"/>
          <p:cNvSpPr/>
          <p:nvPr/>
        </p:nvSpPr>
        <p:spPr>
          <a:xfrm>
            <a:off x="5043488" y="1918153"/>
            <a:ext cx="342900" cy="342900"/>
          </a:xfrm>
          <a:prstGeom prst="rect">
            <a:avLst/>
          </a:prstGeom>
          <a:solidFill>
            <a:srgbClr val="E3F2FD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43488" y="1918153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565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5414963" y="1918153"/>
            <a:ext cx="342900" cy="342900"/>
          </a:xfrm>
          <a:prstGeom prst="rect">
            <a:avLst/>
          </a:prstGeom>
          <a:solidFill>
            <a:srgbClr val="E3F2FD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14963" y="1918153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565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4672013" y="2289628"/>
            <a:ext cx="342900" cy="342900"/>
          </a:xfrm>
          <a:prstGeom prst="rect">
            <a:avLst/>
          </a:prstGeom>
          <a:solidFill>
            <a:srgbClr val="E3F2FD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72013" y="2289628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565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885" dirty="0"/>
          </a:p>
        </p:txBody>
      </p:sp>
      <p:sp>
        <p:nvSpPr>
          <p:cNvPr id="21" name="Shape 18"/>
          <p:cNvSpPr/>
          <p:nvPr/>
        </p:nvSpPr>
        <p:spPr>
          <a:xfrm>
            <a:off x="5043488" y="2289628"/>
            <a:ext cx="342900" cy="342900"/>
          </a:xfrm>
          <a:prstGeom prst="rect">
            <a:avLst/>
          </a:prstGeom>
          <a:solidFill>
            <a:srgbClr val="424242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43488" y="2289628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</a:t>
            </a:r>
            <a:endParaRPr lang="en-US" sz="885" dirty="0"/>
          </a:p>
        </p:txBody>
      </p:sp>
      <p:sp>
        <p:nvSpPr>
          <p:cNvPr id="23" name="Shape 20"/>
          <p:cNvSpPr/>
          <p:nvPr/>
        </p:nvSpPr>
        <p:spPr>
          <a:xfrm>
            <a:off x="5414963" y="2289628"/>
            <a:ext cx="342900" cy="342900"/>
          </a:xfrm>
          <a:prstGeom prst="rect">
            <a:avLst/>
          </a:prstGeom>
          <a:solidFill>
            <a:srgbClr val="E3F2FD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14963" y="2289628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565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885" dirty="0"/>
          </a:p>
        </p:txBody>
      </p:sp>
      <p:sp>
        <p:nvSpPr>
          <p:cNvPr id="25" name="Shape 22"/>
          <p:cNvSpPr/>
          <p:nvPr/>
        </p:nvSpPr>
        <p:spPr>
          <a:xfrm>
            <a:off x="4672013" y="2661103"/>
            <a:ext cx="342900" cy="342900"/>
          </a:xfrm>
          <a:prstGeom prst="rect">
            <a:avLst/>
          </a:prstGeom>
          <a:solidFill>
            <a:srgbClr val="E3F2FD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72013" y="2661103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565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885" dirty="0"/>
          </a:p>
        </p:txBody>
      </p:sp>
      <p:sp>
        <p:nvSpPr>
          <p:cNvPr id="27" name="Shape 24"/>
          <p:cNvSpPr/>
          <p:nvPr/>
        </p:nvSpPr>
        <p:spPr>
          <a:xfrm>
            <a:off x="5043488" y="2661103"/>
            <a:ext cx="342900" cy="342900"/>
          </a:xfrm>
          <a:prstGeom prst="rect">
            <a:avLst/>
          </a:prstGeom>
          <a:solidFill>
            <a:srgbClr val="E3F2FD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43488" y="2661103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565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885" dirty="0"/>
          </a:p>
        </p:txBody>
      </p:sp>
      <p:sp>
        <p:nvSpPr>
          <p:cNvPr id="29" name="Shape 26"/>
          <p:cNvSpPr/>
          <p:nvPr/>
        </p:nvSpPr>
        <p:spPr>
          <a:xfrm>
            <a:off x="5414963" y="2661103"/>
            <a:ext cx="342900" cy="342900"/>
          </a:xfrm>
          <a:prstGeom prst="rect">
            <a:avLst/>
          </a:prstGeom>
          <a:solidFill>
            <a:srgbClr val="FFCCBC"/>
          </a:solidFill>
          <a:ln w="9144">
            <a:solidFill>
              <a:srgbClr val="FF8A6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14963" y="2661103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843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88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0063" y="228600"/>
            <a:ext cx="8143875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00063" y="646509"/>
            <a:ext cx="8143875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00063" y="228600"/>
            <a:ext cx="8143875" cy="460772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12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Classic Problem 8 — Minimum Path Sum</a:t>
            </a:r>
            <a:endParaRPr lang="en-US" sz="1912" dirty="0"/>
          </a:p>
        </p:txBody>
      </p:sp>
      <p:sp>
        <p:nvSpPr>
          <p:cNvPr id="6" name="Text 3"/>
          <p:cNvSpPr/>
          <p:nvPr/>
        </p:nvSpPr>
        <p:spPr>
          <a:xfrm>
            <a:off x="500063" y="717947"/>
            <a:ext cx="3971925" cy="600075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Problem: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Find a path from top-left to bottom-right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which minimizes the sum of all numbers along its path.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can only move either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down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or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right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00063" y="1475184"/>
            <a:ext cx="392906" cy="392906"/>
          </a:xfrm>
          <a:prstGeom prst="rect">
            <a:avLst/>
          </a:prstGeom>
          <a:solidFill>
            <a:srgbClr val="FFE5D9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0063" y="1475184"/>
            <a:ext cx="392906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090" dirty="0"/>
          </a:p>
        </p:txBody>
      </p:sp>
      <p:sp>
        <p:nvSpPr>
          <p:cNvPr id="9" name="Shape 6"/>
          <p:cNvSpPr/>
          <p:nvPr/>
        </p:nvSpPr>
        <p:spPr>
          <a:xfrm>
            <a:off x="935831" y="1475184"/>
            <a:ext cx="392906" cy="392906"/>
          </a:xfrm>
          <a:prstGeom prst="rect">
            <a:avLst/>
          </a:prstGeom>
          <a:solidFill>
            <a:srgbClr val="FFE5D9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5831" y="1475184"/>
            <a:ext cx="392906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090" dirty="0"/>
          </a:p>
        </p:txBody>
      </p:sp>
      <p:sp>
        <p:nvSpPr>
          <p:cNvPr id="11" name="Shape 8"/>
          <p:cNvSpPr/>
          <p:nvPr/>
        </p:nvSpPr>
        <p:spPr>
          <a:xfrm>
            <a:off x="1371600" y="1475184"/>
            <a:ext cx="392906" cy="392906"/>
          </a:xfrm>
          <a:prstGeom prst="rect">
            <a:avLst/>
          </a:prstGeom>
          <a:solidFill>
            <a:srgbClr val="FFE5D9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1475184"/>
            <a:ext cx="392906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090" dirty="0"/>
          </a:p>
        </p:txBody>
      </p:sp>
      <p:sp>
        <p:nvSpPr>
          <p:cNvPr id="13" name="Shape 10"/>
          <p:cNvSpPr/>
          <p:nvPr/>
        </p:nvSpPr>
        <p:spPr>
          <a:xfrm>
            <a:off x="500063" y="1910953"/>
            <a:ext cx="392906" cy="392906"/>
          </a:xfrm>
          <a:prstGeom prst="rect">
            <a:avLst/>
          </a:prstGeom>
          <a:solidFill>
            <a:srgbClr val="FFFFFF"/>
          </a:solidFill>
          <a:ln w="18288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0063" y="1910953"/>
            <a:ext cx="392906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9999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090" dirty="0"/>
          </a:p>
        </p:txBody>
      </p:sp>
      <p:sp>
        <p:nvSpPr>
          <p:cNvPr id="15" name="Shape 12"/>
          <p:cNvSpPr/>
          <p:nvPr/>
        </p:nvSpPr>
        <p:spPr>
          <a:xfrm>
            <a:off x="935831" y="1910953"/>
            <a:ext cx="392906" cy="392906"/>
          </a:xfrm>
          <a:prstGeom prst="rect">
            <a:avLst/>
          </a:prstGeom>
          <a:solidFill>
            <a:srgbClr val="FFFFFF"/>
          </a:solidFill>
          <a:ln w="18288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5831" y="1910953"/>
            <a:ext cx="392906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9999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090" dirty="0"/>
          </a:p>
        </p:txBody>
      </p:sp>
      <p:sp>
        <p:nvSpPr>
          <p:cNvPr id="17" name="Shape 14"/>
          <p:cNvSpPr/>
          <p:nvPr/>
        </p:nvSpPr>
        <p:spPr>
          <a:xfrm>
            <a:off x="1371600" y="1910953"/>
            <a:ext cx="392906" cy="392906"/>
          </a:xfrm>
          <a:prstGeom prst="rect">
            <a:avLst/>
          </a:prstGeom>
          <a:solidFill>
            <a:srgbClr val="FFE5D9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0" y="1910953"/>
            <a:ext cx="392906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090" dirty="0"/>
          </a:p>
        </p:txBody>
      </p:sp>
      <p:sp>
        <p:nvSpPr>
          <p:cNvPr id="19" name="Shape 16"/>
          <p:cNvSpPr/>
          <p:nvPr/>
        </p:nvSpPr>
        <p:spPr>
          <a:xfrm>
            <a:off x="500063" y="2346722"/>
            <a:ext cx="392906" cy="392906"/>
          </a:xfrm>
          <a:prstGeom prst="rect">
            <a:avLst/>
          </a:prstGeom>
          <a:solidFill>
            <a:srgbClr val="FFFFFF"/>
          </a:solidFill>
          <a:ln w="18288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063" y="2346722"/>
            <a:ext cx="392906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9999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090" dirty="0"/>
          </a:p>
        </p:txBody>
      </p:sp>
      <p:sp>
        <p:nvSpPr>
          <p:cNvPr id="21" name="Shape 18"/>
          <p:cNvSpPr/>
          <p:nvPr/>
        </p:nvSpPr>
        <p:spPr>
          <a:xfrm>
            <a:off x="935831" y="2346722"/>
            <a:ext cx="392906" cy="392906"/>
          </a:xfrm>
          <a:prstGeom prst="rect">
            <a:avLst/>
          </a:prstGeom>
          <a:solidFill>
            <a:srgbClr val="FFFFFF"/>
          </a:solidFill>
          <a:ln w="18288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5831" y="2346722"/>
            <a:ext cx="392906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9999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090" dirty="0"/>
          </a:p>
        </p:txBody>
      </p:sp>
      <p:sp>
        <p:nvSpPr>
          <p:cNvPr id="23" name="Shape 20"/>
          <p:cNvSpPr/>
          <p:nvPr/>
        </p:nvSpPr>
        <p:spPr>
          <a:xfrm>
            <a:off x="1371600" y="2346722"/>
            <a:ext cx="392906" cy="392906"/>
          </a:xfrm>
          <a:prstGeom prst="rect">
            <a:avLst/>
          </a:prstGeom>
          <a:solidFill>
            <a:srgbClr val="FFE5D9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71600" y="2346722"/>
            <a:ext cx="392906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090" dirty="0"/>
          </a:p>
        </p:txBody>
      </p:sp>
      <p:sp>
        <p:nvSpPr>
          <p:cNvPr id="25" name="Text 22"/>
          <p:cNvSpPr/>
          <p:nvPr/>
        </p:nvSpPr>
        <p:spPr>
          <a:xfrm>
            <a:off x="500063" y="2811066"/>
            <a:ext cx="39719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Path: 1 → 3 → 1 → 1 → 1 = 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pPr algn="l" indent="0" marL="0">
              <a:lnSpc>
                <a:spcPts val="1200"/>
              </a:lnSpc>
              <a:buNone/>
            </a:pPr>
            <a:endParaRPr lang="en-US" sz="885" dirty="0"/>
          </a:p>
        </p:txBody>
      </p:sp>
      <p:sp>
        <p:nvSpPr>
          <p:cNvPr id="26" name="Shape 23"/>
          <p:cNvSpPr/>
          <p:nvPr/>
        </p:nvSpPr>
        <p:spPr>
          <a:xfrm>
            <a:off x="4672013" y="717947"/>
            <a:ext cx="3971925" cy="113585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Shape 24"/>
          <p:cNvSpPr/>
          <p:nvPr/>
        </p:nvSpPr>
        <p:spPr>
          <a:xfrm>
            <a:off x="4672013" y="717947"/>
            <a:ext cx="28575" cy="113585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4786313" y="832247"/>
            <a:ext cx="37433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RECURRENCE RELATION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4786313" y="1053703"/>
            <a:ext cx="3743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dp[i][j] = grid[i][j] + min(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dp[i-1][j],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top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dp[i][j-1]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left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834" dirty="0"/>
          </a:p>
        </p:txBody>
      </p:sp>
      <p:sp>
        <p:nvSpPr>
          <p:cNvPr id="30" name="Shape 27"/>
          <p:cNvSpPr/>
          <p:nvPr/>
        </p:nvSpPr>
        <p:spPr>
          <a:xfrm>
            <a:off x="4672013" y="1925241"/>
            <a:ext cx="3971925" cy="925171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1" name="Text 28"/>
          <p:cNvSpPr/>
          <p:nvPr/>
        </p:nvSpPr>
        <p:spPr>
          <a:xfrm>
            <a:off x="4672013" y="1925241"/>
            <a:ext cx="3971925" cy="925171"/>
          </a:xfrm>
          <a:prstGeom prst="rect">
            <a:avLst/>
          </a:prstGeom>
          <a:noFill/>
          <a:ln/>
        </p:spPr>
        <p:txBody>
          <a:bodyPr wrap="square" lIns="110617" tIns="93599" rIns="110617" bIns="93599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minPathSum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grid[][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m,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 m; i++)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 n; j++) {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==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j ==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==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grid[i][j] += grid[i][j-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(j ==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grid[i][j] += grid[i-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][j];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mn = grid[i-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[j] &lt; grid[i][j-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? grid[i-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][j] : grid[i][j-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grid[i][j] +=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mn; } } 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grid[m-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][n-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}</a:t>
            </a:r>
            <a:endParaRPr lang="en-US" sz="727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4786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07231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Classic Problem 9 — House Robber</a:t>
            </a:r>
            <a:endParaRPr lang="en-US" sz="2016" dirty="0"/>
          </a:p>
        </p:txBody>
      </p:sp>
      <p:sp>
        <p:nvSpPr>
          <p:cNvPr id="6" name="Text 3"/>
          <p:cNvSpPr/>
          <p:nvPr/>
        </p:nvSpPr>
        <p:spPr>
          <a:xfrm>
            <a:off x="535781" y="807244"/>
            <a:ext cx="3911203" cy="6429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You are a robber planning to rob houses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along a street. Each house has a certain amount of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money stashed.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35781" y="1550194"/>
            <a:ext cx="3911203" cy="1082278"/>
          </a:xfrm>
          <a:prstGeom prst="rect">
            <a:avLst/>
          </a:prstGeom>
          <a:solidFill>
            <a:srgbClr val="F5F5F5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8656" y="1693069"/>
            <a:ext cx="362545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CONSTRAINT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678656" y="1928813"/>
            <a:ext cx="3625453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Adjacent houses have connected security systems. 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cannot rob two adjacent houses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on the same 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night.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35781" y="2718197"/>
            <a:ext cx="3911203" cy="1253728"/>
          </a:xfrm>
          <a:prstGeom prst="rect">
            <a:avLst/>
          </a:prstGeom>
          <a:solidFill>
            <a:srgbClr val="FFF0E6"/>
          </a:solidFill>
          <a:ln/>
        </p:spPr>
      </p:sp>
      <p:sp>
        <p:nvSpPr>
          <p:cNvPr id="11" name="Shape 8"/>
          <p:cNvSpPr/>
          <p:nvPr/>
        </p:nvSpPr>
        <p:spPr>
          <a:xfrm>
            <a:off x="535781" y="2718197"/>
            <a:ext cx="28575" cy="1253728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2" name="Text 9"/>
          <p:cNvSpPr/>
          <p:nvPr/>
        </p:nvSpPr>
        <p:spPr>
          <a:xfrm>
            <a:off x="664369" y="2846784"/>
            <a:ext cx="365402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Choice (Recurrence)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664369" y="3136106"/>
            <a:ext cx="3654028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 = max(</a:t>
            </a:r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dp[i-1],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Skip house i</a:t>
            </a:r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nums[i] + dp[i-2]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Rob house i</a:t>
            </a:r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4697016" y="807244"/>
            <a:ext cx="3911203" cy="1091431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Text 12"/>
          <p:cNvSpPr/>
          <p:nvPr/>
        </p:nvSpPr>
        <p:spPr>
          <a:xfrm>
            <a:off x="4697016" y="807244"/>
            <a:ext cx="3911203" cy="109143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nums[],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 ==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 ==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nums[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dp[n]; dp[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nums[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nums[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 nums[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? nums[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: nums[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n; i++) {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take = nums[i] + dp[i-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dp[i] = take &gt; dp[i-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? take : dp[i-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}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dp[n-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}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4697016" y="1998687"/>
            <a:ext cx="391120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Example: [2, 7, 9, 3, 1]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4697016" y="2252290"/>
            <a:ext cx="428625" cy="428625"/>
          </a:xfrm>
          <a:prstGeom prst="rect">
            <a:avLst/>
          </a:prstGeom>
          <a:solidFill>
            <a:srgbClr val="FF4500"/>
          </a:solidFill>
          <a:ln w="18288">
            <a:solidFill>
              <a:srgbClr val="D32F2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68466" y="2375520"/>
            <a:ext cx="8572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987" dirty="0"/>
          </a:p>
        </p:txBody>
      </p:sp>
      <p:sp>
        <p:nvSpPr>
          <p:cNvPr id="19" name="Shape 16"/>
          <p:cNvSpPr/>
          <p:nvPr/>
        </p:nvSpPr>
        <p:spPr>
          <a:xfrm>
            <a:off x="5232797" y="2252290"/>
            <a:ext cx="428625" cy="428625"/>
          </a:xfrm>
          <a:prstGeom prst="rect">
            <a:avLst/>
          </a:prstGeom>
          <a:solidFill>
            <a:srgbClr val="EEEEEE">
              <a:alpha val="40000"/>
            </a:srgbClr>
          </a:solidFill>
          <a:ln w="18288">
            <a:solidFill>
              <a:srgbClr val="999999">
                <a:alpha val="4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07819" y="2375520"/>
            <a:ext cx="7858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987" dirty="0"/>
          </a:p>
        </p:txBody>
      </p:sp>
      <p:sp>
        <p:nvSpPr>
          <p:cNvPr id="21" name="Shape 18"/>
          <p:cNvSpPr/>
          <p:nvPr/>
        </p:nvSpPr>
        <p:spPr>
          <a:xfrm>
            <a:off x="5768578" y="2252290"/>
            <a:ext cx="428625" cy="428625"/>
          </a:xfrm>
          <a:prstGeom prst="rect">
            <a:avLst/>
          </a:prstGeom>
          <a:solidFill>
            <a:srgbClr val="FF4500"/>
          </a:solidFill>
          <a:ln w="18288">
            <a:solidFill>
              <a:srgbClr val="D32F2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39135" y="2375520"/>
            <a:ext cx="8751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</a:t>
            </a:r>
            <a:endParaRPr lang="en-US" sz="987" dirty="0"/>
          </a:p>
        </p:txBody>
      </p:sp>
      <p:sp>
        <p:nvSpPr>
          <p:cNvPr id="23" name="Shape 20"/>
          <p:cNvSpPr/>
          <p:nvPr/>
        </p:nvSpPr>
        <p:spPr>
          <a:xfrm>
            <a:off x="6304359" y="2252290"/>
            <a:ext cx="428625" cy="428625"/>
          </a:xfrm>
          <a:prstGeom prst="rect">
            <a:avLst/>
          </a:prstGeom>
          <a:solidFill>
            <a:srgbClr val="EEEEEE">
              <a:alpha val="40000"/>
            </a:srgbClr>
          </a:solidFill>
          <a:ln w="18288">
            <a:solidFill>
              <a:srgbClr val="999999">
                <a:alpha val="4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74916" y="2375520"/>
            <a:ext cx="8751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987" dirty="0"/>
          </a:p>
        </p:txBody>
      </p:sp>
      <p:sp>
        <p:nvSpPr>
          <p:cNvPr id="25" name="Shape 22"/>
          <p:cNvSpPr/>
          <p:nvPr/>
        </p:nvSpPr>
        <p:spPr>
          <a:xfrm>
            <a:off x="6840141" y="2252290"/>
            <a:ext cx="428625" cy="428625"/>
          </a:xfrm>
          <a:prstGeom prst="rect">
            <a:avLst/>
          </a:prstGeom>
          <a:solidFill>
            <a:srgbClr val="FF4500"/>
          </a:solidFill>
          <a:ln w="18288">
            <a:solidFill>
              <a:srgbClr val="D32F2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22306" y="2375520"/>
            <a:ext cx="6429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4697016" y="2788072"/>
            <a:ext cx="391120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Total: 2 + 9 + 1 = 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</a:t>
            </a:r>
            <a:pPr algn="l" indent="0" marL="0">
              <a:lnSpc>
                <a:spcPts val="1200"/>
              </a:lnSpc>
              <a:buNone/>
            </a:pPr>
            <a:endParaRPr lang="en-US" sz="942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4786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07231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Classic Problem 10 — Maximum Subarray</a:t>
            </a:r>
            <a:endParaRPr lang="en-US" sz="2016" dirty="0"/>
          </a:p>
        </p:txBody>
      </p:sp>
      <p:sp>
        <p:nvSpPr>
          <p:cNvPr id="6" name="Text 3"/>
          <p:cNvSpPr/>
          <p:nvPr/>
        </p:nvSpPr>
        <p:spPr>
          <a:xfrm>
            <a:off x="535781" y="807244"/>
            <a:ext cx="3911203" cy="42862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Find the contiguous subarray (containing at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least one number) which has the largest sum.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35781" y="1335881"/>
            <a:ext cx="3911203" cy="186809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535781" y="1335881"/>
            <a:ext cx="3911203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35794" y="1435894"/>
            <a:ext cx="371117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CORE DECISION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635794" y="1737717"/>
            <a:ext cx="116443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 each element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800225" y="1727002"/>
            <a:ext cx="6000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nums[i]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400300" y="1737717"/>
            <a:ext cx="5715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we ask: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35794" y="1937742"/>
            <a:ext cx="34361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"Should I start a new subarray here, or extend the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35794" y="2137767"/>
            <a:ext cx="102691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previous one?"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35794" y="2436019"/>
            <a:ext cx="3711178" cy="65365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3"/>
          <p:cNvSpPr/>
          <p:nvPr/>
        </p:nvSpPr>
        <p:spPr>
          <a:xfrm>
            <a:off x="635794" y="2436019"/>
            <a:ext cx="3711178" cy="65365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current_sum = max(nums[i], current_sum + 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nums[i])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max_sum = max(max_sum, current_sum)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4697016" y="807244"/>
            <a:ext cx="391120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4697016" y="1078706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5089922" y="1078706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5482828" y="1078706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</a:t>
            </a:r>
            <a:endParaRPr lang="en-US" sz="987" dirty="0"/>
          </a:p>
        </p:txBody>
      </p:sp>
      <p:sp>
        <p:nvSpPr>
          <p:cNvPr id="21" name="Shape 18"/>
          <p:cNvSpPr/>
          <p:nvPr/>
        </p:nvSpPr>
        <p:spPr>
          <a:xfrm>
            <a:off x="5857875" y="1060847"/>
            <a:ext cx="392906" cy="392906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7875" y="1060847"/>
            <a:ext cx="392906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87" dirty="0"/>
          </a:p>
        </p:txBody>
      </p:sp>
      <p:sp>
        <p:nvSpPr>
          <p:cNvPr id="23" name="Shape 20"/>
          <p:cNvSpPr/>
          <p:nvPr/>
        </p:nvSpPr>
        <p:spPr>
          <a:xfrm>
            <a:off x="6250781" y="1060847"/>
            <a:ext cx="392906" cy="392906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50781" y="1060847"/>
            <a:ext cx="392906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987" dirty="0"/>
          </a:p>
        </p:txBody>
      </p:sp>
      <p:sp>
        <p:nvSpPr>
          <p:cNvPr id="25" name="Shape 22"/>
          <p:cNvSpPr/>
          <p:nvPr/>
        </p:nvSpPr>
        <p:spPr>
          <a:xfrm>
            <a:off x="6643688" y="1060847"/>
            <a:ext cx="392906" cy="392906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43688" y="1060847"/>
            <a:ext cx="392906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87" dirty="0"/>
          </a:p>
        </p:txBody>
      </p:sp>
      <p:sp>
        <p:nvSpPr>
          <p:cNvPr id="27" name="Shape 24"/>
          <p:cNvSpPr/>
          <p:nvPr/>
        </p:nvSpPr>
        <p:spPr>
          <a:xfrm>
            <a:off x="7036594" y="1060847"/>
            <a:ext cx="392906" cy="392906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36594" y="1060847"/>
            <a:ext cx="392906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87" dirty="0"/>
          </a:p>
        </p:txBody>
      </p:sp>
      <p:sp>
        <p:nvSpPr>
          <p:cNvPr id="29" name="Text 26"/>
          <p:cNvSpPr/>
          <p:nvPr/>
        </p:nvSpPr>
        <p:spPr>
          <a:xfrm>
            <a:off x="7447359" y="1078706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</a:t>
            </a:r>
            <a:endParaRPr lang="en-US" sz="987" dirty="0"/>
          </a:p>
        </p:txBody>
      </p:sp>
      <p:sp>
        <p:nvSpPr>
          <p:cNvPr id="30" name="Text 27"/>
          <p:cNvSpPr/>
          <p:nvPr/>
        </p:nvSpPr>
        <p:spPr>
          <a:xfrm>
            <a:off x="7840266" y="1078706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87" dirty="0"/>
          </a:p>
        </p:txBody>
      </p:sp>
      <p:sp>
        <p:nvSpPr>
          <p:cNvPr id="31" name="Text 28"/>
          <p:cNvSpPr/>
          <p:nvPr/>
        </p:nvSpPr>
        <p:spPr>
          <a:xfrm>
            <a:off x="4697016" y="1578769"/>
            <a:ext cx="391120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Max Sum: 6 (from [4, -1, 2, 1])</a:t>
            </a:r>
            <a:endParaRPr lang="en-US" sz="987" dirty="0"/>
          </a:p>
        </p:txBody>
      </p:sp>
      <p:sp>
        <p:nvSpPr>
          <p:cNvPr id="32" name="Shape 29"/>
          <p:cNvSpPr/>
          <p:nvPr/>
        </p:nvSpPr>
        <p:spPr>
          <a:xfrm>
            <a:off x="4697016" y="1860947"/>
            <a:ext cx="3911203" cy="1091431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3" name="Text 30"/>
          <p:cNvSpPr/>
          <p:nvPr/>
        </p:nvSpPr>
        <p:spPr>
          <a:xfrm>
            <a:off x="4697016" y="1860947"/>
            <a:ext cx="3911203" cy="109143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maxSubArray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nums[],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max_sum =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nums[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current = nums[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n;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i++) {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Extend or start fresh?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current = nums[i] &gt;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+ nums[i] ? nums[i] : current + nums[i];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(current &gt; max_sum) max_sum = current; } 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max_sum; }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4697016" y="3166690"/>
            <a:ext cx="62329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Time: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O(n)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5534620" y="3166690"/>
            <a:ext cx="68758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Space: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O(1)</a:t>
            </a:r>
            <a:endParaRPr lang="en-US" sz="88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57238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Advanced — Matrix Chain Multiplication</a:t>
            </a:r>
            <a:endParaRPr lang="en-US" sz="2226" dirty="0"/>
          </a:p>
        </p:txBody>
      </p:sp>
      <p:sp>
        <p:nvSpPr>
          <p:cNvPr id="6" name="Text 3"/>
          <p:cNvSpPr/>
          <p:nvPr/>
        </p:nvSpPr>
        <p:spPr>
          <a:xfrm>
            <a:off x="742950" y="900113"/>
            <a:ext cx="36861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42950" y="1225153"/>
            <a:ext cx="3686175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Matrix multiplication is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associative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(AB)C = A(BC).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However, the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(number of scalar multiplications)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depends heavily on the order of parenthesization.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2950" y="2425303"/>
            <a:ext cx="36861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COST MODEL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42950" y="2750344"/>
            <a:ext cx="3686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Multiplying a matrix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p×q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by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q×r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requires: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42950" y="3086100"/>
            <a:ext cx="3686175" cy="391120"/>
          </a:xfrm>
          <a:prstGeom prst="rect">
            <a:avLst/>
          </a:prstGeom>
          <a:solidFill>
            <a:srgbClr val="F5F5F5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2950" y="3086100"/>
            <a:ext cx="3686175" cy="39112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= p * q * r operations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14875" y="900113"/>
            <a:ext cx="38933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EXAMPLE: A, B, C</a:t>
            </a:r>
            <a:endParaRPr lang="en-US" sz="987" dirty="0"/>
          </a:p>
        </p:txBody>
      </p:sp>
      <p:sp>
        <p:nvSpPr>
          <p:cNvPr id="13" name="Shape 10"/>
          <p:cNvSpPr/>
          <p:nvPr/>
        </p:nvSpPr>
        <p:spPr>
          <a:xfrm>
            <a:off x="4714875" y="1153716"/>
            <a:ext cx="585843" cy="428625"/>
          </a:xfrm>
          <a:prstGeom prst="rect">
            <a:avLst/>
          </a:prstGeom>
          <a:solidFill>
            <a:srgbClr val="E3F2FD"/>
          </a:solidFill>
          <a:ln w="18288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14875" y="1153716"/>
            <a:ext cx="585843" cy="4286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10×30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5379300" y="1153716"/>
            <a:ext cx="517252" cy="428625"/>
          </a:xfrm>
          <a:prstGeom prst="rect">
            <a:avLst/>
          </a:prstGeom>
          <a:solidFill>
            <a:srgbClr val="E3F2FD"/>
          </a:solidFill>
          <a:ln w="18288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79300" y="1153716"/>
            <a:ext cx="517252" cy="4286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30×5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5975133" y="1153716"/>
            <a:ext cx="517252" cy="428625"/>
          </a:xfrm>
          <a:prstGeom prst="rect">
            <a:avLst/>
          </a:prstGeom>
          <a:solidFill>
            <a:srgbClr val="E3F2FD"/>
          </a:solidFill>
          <a:ln w="18288">
            <a:solidFill>
              <a:srgbClr val="1565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75133" y="1153716"/>
            <a:ext cx="517252" cy="4286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5×60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4714875" y="1825228"/>
            <a:ext cx="389334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Option 1: (AB)C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4714875" y="2046684"/>
            <a:ext cx="38933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(10*30*5) + (10*5*60) = 1500 + 3000</a:t>
            </a:r>
            <a:endParaRPr lang="en-US" sz="727" dirty="0"/>
          </a:p>
        </p:txBody>
      </p:sp>
      <p:sp>
        <p:nvSpPr>
          <p:cNvPr id="21" name="Shape 18"/>
          <p:cNvSpPr/>
          <p:nvPr/>
        </p:nvSpPr>
        <p:spPr>
          <a:xfrm>
            <a:off x="4714875" y="2218134"/>
            <a:ext cx="778669" cy="28575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19"/>
          <p:cNvSpPr/>
          <p:nvPr/>
        </p:nvSpPr>
        <p:spPr>
          <a:xfrm>
            <a:off x="4714875" y="2218134"/>
            <a:ext cx="778669" cy="285750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4,500 ops</a:t>
            </a:r>
            <a:endParaRPr lang="en-US" sz="784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2275284"/>
            <a:ext cx="171450" cy="17145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714875" y="2646759"/>
            <a:ext cx="389334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Option 2: A(BC)</a:t>
            </a:r>
            <a:endParaRPr lang="en-US" sz="885" dirty="0"/>
          </a:p>
        </p:txBody>
      </p:sp>
      <p:sp>
        <p:nvSpPr>
          <p:cNvPr id="25" name="Text 21"/>
          <p:cNvSpPr/>
          <p:nvPr/>
        </p:nvSpPr>
        <p:spPr>
          <a:xfrm>
            <a:off x="4714875" y="2868216"/>
            <a:ext cx="38933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(30*5*60) + (10*30*60) = 9000 + 18000</a:t>
            </a:r>
            <a:endParaRPr lang="en-US" sz="727" dirty="0"/>
          </a:p>
        </p:txBody>
      </p:sp>
      <p:sp>
        <p:nvSpPr>
          <p:cNvPr id="26" name="Shape 22"/>
          <p:cNvSpPr/>
          <p:nvPr/>
        </p:nvSpPr>
        <p:spPr>
          <a:xfrm>
            <a:off x="4714875" y="3039666"/>
            <a:ext cx="3679031" cy="28575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7" name="Text 23"/>
          <p:cNvSpPr/>
          <p:nvPr/>
        </p:nvSpPr>
        <p:spPr>
          <a:xfrm>
            <a:off x="4714875" y="3039666"/>
            <a:ext cx="3679031" cy="285750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27,000 ops</a:t>
            </a:r>
            <a:endParaRPr lang="en-US" sz="784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063" y="3096816"/>
            <a:ext cx="107156" cy="17145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714875" y="3539728"/>
            <a:ext cx="389334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6x Slower! Order matters.</a:t>
            </a:r>
            <a:endParaRPr lang="en-US" sz="88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00025"/>
            <a:ext cx="8286750" cy="4143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571500"/>
            <a:ext cx="8286750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00025"/>
            <a:ext cx="8286750" cy="414338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Matrix Chain Multiplication — DP Solution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5" y="628650"/>
            <a:ext cx="4057650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Applying the Recipe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85788" y="901898"/>
            <a:ext cx="390048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STATE</a:t>
            </a:r>
            <a:endParaRPr lang="en-US" sz="584" dirty="0"/>
          </a:p>
        </p:txBody>
      </p:sp>
      <p:sp>
        <p:nvSpPr>
          <p:cNvPr id="8" name="Text 5"/>
          <p:cNvSpPr/>
          <p:nvPr/>
        </p:nvSpPr>
        <p:spPr>
          <a:xfrm>
            <a:off x="585788" y="1050131"/>
            <a:ext cx="4801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dp[i][j]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1065926" y="1035844"/>
            <a:ext cx="221277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= min scalar multiplications needed for chain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3278702" y="1050131"/>
            <a:ext cx="6002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3338726" y="1087971"/>
            <a:ext cx="50006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7" b="1" baseline="-40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567" dirty="0"/>
          </a:p>
        </p:txBody>
      </p:sp>
      <p:sp>
        <p:nvSpPr>
          <p:cNvPr id="12" name="Text 9"/>
          <p:cNvSpPr/>
          <p:nvPr/>
        </p:nvSpPr>
        <p:spPr>
          <a:xfrm>
            <a:off x="3388733" y="1050131"/>
            <a:ext cx="2400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...A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3628802" y="1087971"/>
            <a:ext cx="50006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7" b="1" baseline="-40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endParaRPr lang="en-US" sz="567" dirty="0"/>
          </a:p>
        </p:txBody>
      </p:sp>
      <p:sp>
        <p:nvSpPr>
          <p:cNvPr id="14" name="Text 11"/>
          <p:cNvSpPr/>
          <p:nvPr/>
        </p:nvSpPr>
        <p:spPr>
          <a:xfrm>
            <a:off x="3678808" y="1035844"/>
            <a:ext cx="2500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585788" y="1234418"/>
            <a:ext cx="390048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RECURRENCE</a:t>
            </a:r>
            <a:endParaRPr lang="en-US" sz="584" dirty="0"/>
          </a:p>
        </p:txBody>
      </p:sp>
      <p:sp>
        <p:nvSpPr>
          <p:cNvPr id="16" name="Text 13"/>
          <p:cNvSpPr/>
          <p:nvPr/>
        </p:nvSpPr>
        <p:spPr>
          <a:xfrm>
            <a:off x="585788" y="1364791"/>
            <a:ext cx="3900488" cy="71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Try every split point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between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and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dp[i][j] = min(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dp[i][k] + dp[k+1][j]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p[i-1]*p[k]*p[j]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ts val="1100"/>
              </a:lnSpc>
              <a:buNone/>
            </a:pP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585788" y="2127331"/>
            <a:ext cx="390048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BASE CASE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585788" y="2257704"/>
            <a:ext cx="3900488" cy="278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dp[i][i] = 0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(Single matrix requires 0 ops)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4657725" y="628650"/>
            <a:ext cx="4057650" cy="839391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0" name="Text 17"/>
          <p:cNvSpPr/>
          <p:nvPr/>
        </p:nvSpPr>
        <p:spPr>
          <a:xfrm>
            <a:off x="4657725" y="628650"/>
            <a:ext cx="4057650" cy="83939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matrixChainOrder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p[],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size) {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 size -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dp[n+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][n+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memset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(dp,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(dp));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 =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l &lt;= n; l++)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chain length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n-l+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 {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i + l -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dp[i][j] = INT_MAX;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 = i; k &lt; j; k++) {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cost = dp[i][k]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dp[k+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][j] + p[i-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]*p[k]*p[j];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(cost &lt; dp[i][j]) dp[i][j] =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cost; } }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][n]; }</a:t>
            </a:r>
            <a:endParaRPr lang="en-US" sz="674" dirty="0"/>
          </a:p>
        </p:txBody>
      </p:sp>
      <p:sp>
        <p:nvSpPr>
          <p:cNvPr id="21" name="Shape 18"/>
          <p:cNvSpPr/>
          <p:nvPr/>
        </p:nvSpPr>
        <p:spPr>
          <a:xfrm>
            <a:off x="4657725" y="1525191"/>
            <a:ext cx="4057650" cy="431471"/>
          </a:xfrm>
          <a:prstGeom prst="rect">
            <a:avLst/>
          </a:prstGeom>
          <a:solidFill>
            <a:srgbClr val="FFF0E6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7738" y="1639407"/>
            <a:ext cx="264319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O(n</a:t>
            </a:r>
            <a:endParaRPr lang="en-US" sz="1090" dirty="0"/>
          </a:p>
        </p:txBody>
      </p:sp>
      <p:sp>
        <p:nvSpPr>
          <p:cNvPr id="23" name="Text 20"/>
          <p:cNvSpPr/>
          <p:nvPr/>
        </p:nvSpPr>
        <p:spPr>
          <a:xfrm>
            <a:off x="5022056" y="1612032"/>
            <a:ext cx="8036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2" b="1" baseline="3000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902" dirty="0"/>
          </a:p>
        </p:txBody>
      </p:sp>
      <p:sp>
        <p:nvSpPr>
          <p:cNvPr id="24" name="Text 21"/>
          <p:cNvSpPr/>
          <p:nvPr/>
        </p:nvSpPr>
        <p:spPr>
          <a:xfrm>
            <a:off x="5102423" y="1639407"/>
            <a:ext cx="60722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</a:t>
            </a:r>
            <a:endParaRPr lang="en-US" sz="1090" dirty="0"/>
          </a:p>
        </p:txBody>
      </p:sp>
      <p:sp>
        <p:nvSpPr>
          <p:cNvPr id="25" name="Text 22"/>
          <p:cNvSpPr/>
          <p:nvPr/>
        </p:nvSpPr>
        <p:spPr>
          <a:xfrm>
            <a:off x="5277445" y="1596628"/>
            <a:ext cx="2480667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Interval DP Pattern.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Three nested loops: Length, Start Index, Split Point.</a:t>
            </a:r>
            <a:endParaRPr lang="en-US" sz="727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57238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Recognizing DP Problems</a:t>
            </a:r>
            <a:endParaRPr lang="en-US" sz="2226" dirty="0"/>
          </a:p>
        </p:txBody>
      </p:sp>
      <p:sp>
        <p:nvSpPr>
          <p:cNvPr id="6" name="Text 3"/>
          <p:cNvSpPr/>
          <p:nvPr/>
        </p:nvSpPr>
        <p:spPr>
          <a:xfrm>
            <a:off x="535781" y="900113"/>
            <a:ext cx="2547919" cy="273248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OPTIMIZATION</a:t>
            </a:r>
            <a:endParaRPr lang="en-US" sz="109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1324273"/>
            <a:ext cx="87511" cy="1000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30" y="1287661"/>
            <a:ext cx="10001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96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Maximize Value</a:t>
            </a:r>
            <a:endParaRPr lang="en-US" sz="996" dirty="0"/>
          </a:p>
        </p:txBody>
      </p:sp>
      <p:sp>
        <p:nvSpPr>
          <p:cNvPr id="9" name="Text 5"/>
          <p:cNvSpPr/>
          <p:nvPr/>
        </p:nvSpPr>
        <p:spPr>
          <a:xfrm>
            <a:off x="707231" y="1518047"/>
            <a:ext cx="2376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Profit, Loot, Subsequence Length</a:t>
            </a:r>
            <a:endParaRPr lang="en-US" sz="727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81" y="1738610"/>
            <a:ext cx="87511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4730" y="1701998"/>
            <a:ext cx="90904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96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Minimize Cost</a:t>
            </a:r>
            <a:endParaRPr lang="en-US" sz="996" dirty="0"/>
          </a:p>
        </p:txBody>
      </p:sp>
      <p:sp>
        <p:nvSpPr>
          <p:cNvPr id="12" name="Text 7"/>
          <p:cNvSpPr/>
          <p:nvPr/>
        </p:nvSpPr>
        <p:spPr>
          <a:xfrm>
            <a:off x="707231" y="1932384"/>
            <a:ext cx="2376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Path Sum, Edit Distance, Coins</a:t>
            </a:r>
            <a:endParaRPr lang="en-US" sz="727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81" y="2152948"/>
            <a:ext cx="87511" cy="1000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730" y="2116336"/>
            <a:ext cx="146982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96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"Longest" / "Shortest"</a:t>
            </a:r>
            <a:endParaRPr lang="en-US" sz="996" dirty="0"/>
          </a:p>
        </p:txBody>
      </p:sp>
      <p:sp>
        <p:nvSpPr>
          <p:cNvPr id="15" name="Text 9"/>
          <p:cNvSpPr/>
          <p:nvPr/>
        </p:nvSpPr>
        <p:spPr>
          <a:xfrm>
            <a:off x="3298013" y="900113"/>
            <a:ext cx="2547947" cy="273248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COUNTING</a:t>
            </a:r>
            <a:endParaRPr lang="en-US" sz="109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8013" y="1324273"/>
            <a:ext cx="87511" cy="10001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456961" y="1287661"/>
            <a:ext cx="107156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96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Number of Ways</a:t>
            </a:r>
            <a:endParaRPr lang="en-US" sz="996" dirty="0"/>
          </a:p>
        </p:txBody>
      </p:sp>
      <p:sp>
        <p:nvSpPr>
          <p:cNvPr id="18" name="Text 11"/>
          <p:cNvSpPr/>
          <p:nvPr/>
        </p:nvSpPr>
        <p:spPr>
          <a:xfrm>
            <a:off x="3469463" y="1518047"/>
            <a:ext cx="237649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Grid Paths, Climbing Stairs</a:t>
            </a:r>
            <a:endParaRPr lang="en-US" sz="727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8013" y="1738610"/>
            <a:ext cx="87511" cy="10001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456961" y="1701998"/>
            <a:ext cx="95011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96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Count Distinct</a:t>
            </a:r>
            <a:endParaRPr lang="en-US" sz="996" dirty="0"/>
          </a:p>
        </p:txBody>
      </p:sp>
      <p:sp>
        <p:nvSpPr>
          <p:cNvPr id="21" name="Text 13"/>
          <p:cNvSpPr/>
          <p:nvPr/>
        </p:nvSpPr>
        <p:spPr>
          <a:xfrm>
            <a:off x="3469463" y="1932384"/>
            <a:ext cx="237649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Arrangements, Partitions</a:t>
            </a:r>
            <a:endParaRPr lang="en-US" sz="727" dirty="0"/>
          </a:p>
        </p:txBody>
      </p:sp>
      <p:sp>
        <p:nvSpPr>
          <p:cNvPr id="22" name="Text 14"/>
          <p:cNvSpPr/>
          <p:nvPr/>
        </p:nvSpPr>
        <p:spPr>
          <a:xfrm>
            <a:off x="6060272" y="900113"/>
            <a:ext cx="2547919" cy="273248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FEASIBILITY</a:t>
            </a:r>
            <a:endParaRPr lang="en-US" sz="109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0272" y="1324273"/>
            <a:ext cx="87511" cy="10001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219220" y="1287661"/>
            <a:ext cx="90189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96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it possible?</a:t>
            </a:r>
            <a:endParaRPr lang="en-US" sz="996" dirty="0"/>
          </a:p>
        </p:txBody>
      </p:sp>
      <p:sp>
        <p:nvSpPr>
          <p:cNvPr id="25" name="Text 16"/>
          <p:cNvSpPr/>
          <p:nvPr/>
        </p:nvSpPr>
        <p:spPr>
          <a:xfrm>
            <a:off x="6231722" y="1518047"/>
            <a:ext cx="2376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Subset Sum, Interleaving String</a:t>
            </a:r>
            <a:endParaRPr lang="en-US" sz="727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0272" y="1738610"/>
            <a:ext cx="87511" cy="10001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219220" y="1701998"/>
            <a:ext cx="95904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96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Can we reach?</a:t>
            </a:r>
            <a:endParaRPr lang="en-US" sz="996" dirty="0"/>
          </a:p>
        </p:txBody>
      </p:sp>
      <p:sp>
        <p:nvSpPr>
          <p:cNvPr id="28" name="Text 18"/>
          <p:cNvSpPr/>
          <p:nvPr/>
        </p:nvSpPr>
        <p:spPr>
          <a:xfrm>
            <a:off x="6231722" y="1932384"/>
            <a:ext cx="2376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Jump Game (often Greedy, but DP too)</a:t>
            </a:r>
            <a:endParaRPr lang="en-US" sz="727" dirty="0"/>
          </a:p>
        </p:txBody>
      </p:sp>
      <p:sp>
        <p:nvSpPr>
          <p:cNvPr id="29" name="Shape 19"/>
          <p:cNvSpPr/>
          <p:nvPr/>
        </p:nvSpPr>
        <p:spPr>
          <a:xfrm>
            <a:off x="535781" y="2468166"/>
            <a:ext cx="8072438" cy="106679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Shape 20"/>
          <p:cNvSpPr/>
          <p:nvPr/>
        </p:nvSpPr>
        <p:spPr>
          <a:xfrm>
            <a:off x="535781" y="2468166"/>
            <a:ext cx="42863" cy="1066791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656" y="2628900"/>
            <a:ext cx="128588" cy="12858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78681" y="2611041"/>
            <a:ext cx="235029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CONSTRAINT CHECK (INPUT SIZE N)</a:t>
            </a:r>
            <a:endParaRPr lang="en-US" sz="885" dirty="0"/>
          </a:p>
        </p:txBody>
      </p:sp>
      <p:sp>
        <p:nvSpPr>
          <p:cNvPr id="33" name="Text 22"/>
          <p:cNvSpPr/>
          <p:nvPr/>
        </p:nvSpPr>
        <p:spPr>
          <a:xfrm>
            <a:off x="678656" y="2861072"/>
            <a:ext cx="2500313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~ 10-20</a:t>
            </a:r>
            <a:endParaRPr lang="en-US" sz="1090" dirty="0"/>
          </a:p>
        </p:txBody>
      </p:sp>
      <p:sp>
        <p:nvSpPr>
          <p:cNvPr id="34" name="Text 23"/>
          <p:cNvSpPr/>
          <p:nvPr/>
        </p:nvSpPr>
        <p:spPr>
          <a:xfrm>
            <a:off x="678656" y="3086686"/>
            <a:ext cx="18930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O(2</a:t>
            </a:r>
            <a:endParaRPr lang="en-US" sz="834" dirty="0"/>
          </a:p>
        </p:txBody>
      </p:sp>
      <p:sp>
        <p:nvSpPr>
          <p:cNvPr id="35" name="Text 24"/>
          <p:cNvSpPr/>
          <p:nvPr/>
        </p:nvSpPr>
        <p:spPr>
          <a:xfrm>
            <a:off x="867966" y="3066455"/>
            <a:ext cx="6250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91" baseline="300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</a:t>
            </a:r>
            <a:endParaRPr lang="en-US" sz="691" dirty="0"/>
          </a:p>
        </p:txBody>
      </p:sp>
      <p:sp>
        <p:nvSpPr>
          <p:cNvPr id="36" name="Text 25"/>
          <p:cNvSpPr/>
          <p:nvPr/>
        </p:nvSpPr>
        <p:spPr>
          <a:xfrm>
            <a:off x="930473" y="3086686"/>
            <a:ext cx="48220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 or O(N!)</a:t>
            </a:r>
            <a:endParaRPr lang="en-US" sz="834" dirty="0"/>
          </a:p>
        </p:txBody>
      </p:sp>
      <p:sp>
        <p:nvSpPr>
          <p:cNvPr id="37" name="Text 26"/>
          <p:cNvSpPr/>
          <p:nvPr/>
        </p:nvSpPr>
        <p:spPr>
          <a:xfrm>
            <a:off x="678656" y="3233133"/>
            <a:ext cx="13733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Recursion / Backtracking</a:t>
            </a:r>
            <a:endParaRPr lang="en-US" sz="834" dirty="0"/>
          </a:p>
        </p:txBody>
      </p:sp>
      <p:sp>
        <p:nvSpPr>
          <p:cNvPr id="38" name="Text 27"/>
          <p:cNvSpPr/>
          <p:nvPr/>
        </p:nvSpPr>
        <p:spPr>
          <a:xfrm>
            <a:off x="3321844" y="2861072"/>
            <a:ext cx="2500313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~ 100-1000</a:t>
            </a:r>
            <a:endParaRPr lang="en-US" sz="1090" dirty="0"/>
          </a:p>
        </p:txBody>
      </p:sp>
      <p:sp>
        <p:nvSpPr>
          <p:cNvPr id="39" name="Text 28"/>
          <p:cNvSpPr/>
          <p:nvPr/>
        </p:nvSpPr>
        <p:spPr>
          <a:xfrm>
            <a:off x="3321844" y="3086686"/>
            <a:ext cx="19823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O(N</a:t>
            </a:r>
            <a:endParaRPr lang="en-US" sz="784" dirty="0"/>
          </a:p>
        </p:txBody>
      </p:sp>
      <p:sp>
        <p:nvSpPr>
          <p:cNvPr id="40" name="Text 29"/>
          <p:cNvSpPr/>
          <p:nvPr/>
        </p:nvSpPr>
        <p:spPr>
          <a:xfrm>
            <a:off x="3520083" y="3066455"/>
            <a:ext cx="571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b="1" baseline="3000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650" dirty="0"/>
          </a:p>
        </p:txBody>
      </p:sp>
      <p:sp>
        <p:nvSpPr>
          <p:cNvPr id="41" name="Text 30"/>
          <p:cNvSpPr/>
          <p:nvPr/>
        </p:nvSpPr>
        <p:spPr>
          <a:xfrm>
            <a:off x="3577233" y="3086686"/>
            <a:ext cx="4143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 or O(N</a:t>
            </a:r>
            <a:endParaRPr lang="en-US" sz="784" dirty="0"/>
          </a:p>
        </p:txBody>
      </p:sp>
      <p:sp>
        <p:nvSpPr>
          <p:cNvPr id="42" name="Text 31"/>
          <p:cNvSpPr/>
          <p:nvPr/>
        </p:nvSpPr>
        <p:spPr>
          <a:xfrm>
            <a:off x="3991570" y="3066455"/>
            <a:ext cx="571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b="1" baseline="3000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650" dirty="0"/>
          </a:p>
        </p:txBody>
      </p:sp>
      <p:sp>
        <p:nvSpPr>
          <p:cNvPr id="43" name="Text 32"/>
          <p:cNvSpPr/>
          <p:nvPr/>
        </p:nvSpPr>
        <p:spPr>
          <a:xfrm>
            <a:off x="4048720" y="3086686"/>
            <a:ext cx="4464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</a:t>
            </a:r>
            <a:endParaRPr lang="en-US" sz="784" dirty="0"/>
          </a:p>
        </p:txBody>
      </p:sp>
      <p:sp>
        <p:nvSpPr>
          <p:cNvPr id="44" name="Text 33"/>
          <p:cNvSpPr/>
          <p:nvPr/>
        </p:nvSpPr>
        <p:spPr>
          <a:xfrm>
            <a:off x="3321844" y="3233133"/>
            <a:ext cx="124122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Dynamic Programming</a:t>
            </a:r>
            <a:endParaRPr lang="en-US" sz="784" dirty="0"/>
          </a:p>
        </p:txBody>
      </p:sp>
      <p:sp>
        <p:nvSpPr>
          <p:cNvPr id="45" name="Text 34"/>
          <p:cNvSpPr/>
          <p:nvPr/>
        </p:nvSpPr>
        <p:spPr>
          <a:xfrm>
            <a:off x="5965031" y="2893805"/>
            <a:ext cx="565891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~ 10</a:t>
            </a:r>
            <a:endParaRPr lang="en-US" sz="1090" dirty="0"/>
          </a:p>
        </p:txBody>
      </p:sp>
      <p:sp>
        <p:nvSpPr>
          <p:cNvPr id="46" name="Text 35"/>
          <p:cNvSpPr/>
          <p:nvPr/>
        </p:nvSpPr>
        <p:spPr>
          <a:xfrm>
            <a:off x="6530922" y="2861072"/>
            <a:ext cx="7860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2" b="1" baseline="30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2" dirty="0"/>
          </a:p>
        </p:txBody>
      </p:sp>
      <p:sp>
        <p:nvSpPr>
          <p:cNvPr id="47" name="Text 36"/>
          <p:cNvSpPr/>
          <p:nvPr/>
        </p:nvSpPr>
        <p:spPr>
          <a:xfrm>
            <a:off x="6609531" y="2893805"/>
            <a:ext cx="94320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090" dirty="0"/>
          </a:p>
        </p:txBody>
      </p:sp>
      <p:sp>
        <p:nvSpPr>
          <p:cNvPr id="48" name="Text 37"/>
          <p:cNvSpPr/>
          <p:nvPr/>
        </p:nvSpPr>
        <p:spPr>
          <a:xfrm>
            <a:off x="5965031" y="3099188"/>
            <a:ext cx="2500313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O(N) or O(N log N)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Greedy / Divide &amp; Conquer</a:t>
            </a:r>
            <a:endParaRPr lang="en-US" sz="834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613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57238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Common DP Patterns — A Reference Table</a:t>
            </a:r>
            <a:endParaRPr lang="en-US" sz="2226" dirty="0"/>
          </a:p>
        </p:txBody>
      </p:sp>
      <p:sp>
        <p:nvSpPr>
          <p:cNvPr id="6" name="Shape 3"/>
          <p:cNvSpPr/>
          <p:nvPr/>
        </p:nvSpPr>
        <p:spPr>
          <a:xfrm>
            <a:off x="535781" y="900113"/>
            <a:ext cx="1614488" cy="39647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535781" y="900113"/>
            <a:ext cx="1614488" cy="396478"/>
          </a:xfrm>
          <a:prstGeom prst="rect">
            <a:avLst/>
          </a:prstGeom>
          <a:noFill/>
          <a:ln/>
        </p:spPr>
        <p:txBody>
          <a:bodyPr wrap="square" lIns="102108" tIns="85090" rIns="102108" bIns="170053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PATTERN</a:t>
            </a:r>
            <a:endParaRPr lang="en-US" sz="987" dirty="0"/>
          </a:p>
        </p:txBody>
      </p:sp>
      <p:sp>
        <p:nvSpPr>
          <p:cNvPr id="8" name="Shape 5"/>
          <p:cNvSpPr/>
          <p:nvPr/>
        </p:nvSpPr>
        <p:spPr>
          <a:xfrm>
            <a:off x="2150269" y="900113"/>
            <a:ext cx="2825353" cy="39647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2150269" y="900113"/>
            <a:ext cx="2825353" cy="396478"/>
          </a:xfrm>
          <a:prstGeom prst="rect">
            <a:avLst/>
          </a:prstGeom>
          <a:noFill/>
          <a:ln/>
        </p:spPr>
        <p:txBody>
          <a:bodyPr wrap="square" lIns="102108" tIns="85090" rIns="102108" bIns="170053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STATE</a:t>
            </a:r>
            <a:endParaRPr lang="en-US" sz="987" dirty="0"/>
          </a:p>
        </p:txBody>
      </p:sp>
      <p:sp>
        <p:nvSpPr>
          <p:cNvPr id="10" name="Shape 7"/>
          <p:cNvSpPr/>
          <p:nvPr/>
        </p:nvSpPr>
        <p:spPr>
          <a:xfrm>
            <a:off x="4975622" y="900113"/>
            <a:ext cx="1210866" cy="39647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4975622" y="900113"/>
            <a:ext cx="1210866" cy="396478"/>
          </a:xfrm>
          <a:prstGeom prst="rect">
            <a:avLst/>
          </a:prstGeom>
          <a:noFill/>
          <a:ln/>
        </p:spPr>
        <p:txBody>
          <a:bodyPr wrap="square" lIns="102108" tIns="85090" rIns="102108" bIns="170053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COMPLEXITY</a:t>
            </a:r>
            <a:endParaRPr lang="en-US" sz="987" dirty="0"/>
          </a:p>
        </p:txBody>
      </p:sp>
      <p:sp>
        <p:nvSpPr>
          <p:cNvPr id="12" name="Shape 9"/>
          <p:cNvSpPr/>
          <p:nvPr/>
        </p:nvSpPr>
        <p:spPr>
          <a:xfrm>
            <a:off x="6186488" y="900113"/>
            <a:ext cx="2421731" cy="39647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6186488" y="900113"/>
            <a:ext cx="2421731" cy="396478"/>
          </a:xfrm>
          <a:prstGeom prst="rect">
            <a:avLst/>
          </a:prstGeom>
          <a:noFill/>
          <a:ln/>
        </p:spPr>
        <p:txBody>
          <a:bodyPr wrap="square" lIns="102108" tIns="85090" rIns="102108" bIns="170053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EXAMPLES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535781" y="1296591"/>
            <a:ext cx="1614488" cy="589359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Linear (1D)</a:t>
            </a:r>
            <a:endParaRPr lang="en-US" sz="987" dirty="0"/>
          </a:p>
        </p:txBody>
      </p:sp>
      <p:sp>
        <p:nvSpPr>
          <p:cNvPr id="15" name="Shape 12"/>
          <p:cNvSpPr/>
          <p:nvPr/>
        </p:nvSpPr>
        <p:spPr>
          <a:xfrm>
            <a:off x="2293144" y="1496616"/>
            <a:ext cx="528721" cy="2178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3"/>
          <p:cNvSpPr/>
          <p:nvPr/>
        </p:nvSpPr>
        <p:spPr>
          <a:xfrm>
            <a:off x="2293144" y="1496616"/>
            <a:ext cx="528721" cy="217884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2821865" y="1498402"/>
            <a:ext cx="89654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depends 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718406" y="1496616"/>
            <a:ext cx="683037" cy="2178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6"/>
          <p:cNvSpPr/>
          <p:nvPr/>
        </p:nvSpPr>
        <p:spPr>
          <a:xfrm>
            <a:off x="3718406" y="1496616"/>
            <a:ext cx="683037" cy="217884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dp[i-k]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4975622" y="1296591"/>
            <a:ext cx="1210866" cy="589359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6186488" y="1296591"/>
            <a:ext cx="2421731" cy="589359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Climbing Stairs, House Robber, Fibonacci</a:t>
            </a:r>
            <a:endParaRPr lang="en-US" sz="942" dirty="0"/>
          </a:p>
        </p:txBody>
      </p:sp>
      <p:sp>
        <p:nvSpPr>
          <p:cNvPr id="22" name="Shape 19"/>
          <p:cNvSpPr/>
          <p:nvPr/>
        </p:nvSpPr>
        <p:spPr>
          <a:xfrm>
            <a:off x="535781" y="1885950"/>
            <a:ext cx="8072438" cy="62865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0"/>
          <p:cNvSpPr/>
          <p:nvPr/>
        </p:nvSpPr>
        <p:spPr>
          <a:xfrm>
            <a:off x="535781" y="1885950"/>
            <a:ext cx="1614488" cy="628650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Grid (2D)</a:t>
            </a:r>
            <a:endParaRPr lang="en-US" sz="987" dirty="0"/>
          </a:p>
        </p:txBody>
      </p:sp>
      <p:sp>
        <p:nvSpPr>
          <p:cNvPr id="24" name="Shape 21"/>
          <p:cNvSpPr/>
          <p:nvPr/>
        </p:nvSpPr>
        <p:spPr>
          <a:xfrm>
            <a:off x="2293144" y="2016323"/>
            <a:ext cx="760195" cy="2178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2"/>
          <p:cNvSpPr/>
          <p:nvPr/>
        </p:nvSpPr>
        <p:spPr>
          <a:xfrm>
            <a:off x="2293144" y="2016323"/>
            <a:ext cx="760195" cy="217884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dp[i][j]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3053339" y="2018109"/>
            <a:ext cx="89654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depends on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293144" y="2016323"/>
            <a:ext cx="2268336" cy="40005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Text 25"/>
          <p:cNvSpPr/>
          <p:nvPr/>
        </p:nvSpPr>
        <p:spPr>
          <a:xfrm>
            <a:off x="2293144" y="2016323"/>
            <a:ext cx="2268336" cy="400050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dp[i-1][j]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2596083" y="2200275"/>
            <a:ext cx="6786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663949" y="2198489"/>
            <a:ext cx="914540" cy="2178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Text 28"/>
          <p:cNvSpPr/>
          <p:nvPr/>
        </p:nvSpPr>
        <p:spPr>
          <a:xfrm>
            <a:off x="2663949" y="2198489"/>
            <a:ext cx="914540" cy="217884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dp[i][j-1]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4975622" y="1885950"/>
            <a:ext cx="1210866" cy="628650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O(N*M)</a:t>
            </a:r>
            <a:endParaRPr lang="en-US" sz="987" dirty="0"/>
          </a:p>
        </p:txBody>
      </p:sp>
      <p:sp>
        <p:nvSpPr>
          <p:cNvPr id="33" name="Text 30"/>
          <p:cNvSpPr/>
          <p:nvPr/>
        </p:nvSpPr>
        <p:spPr>
          <a:xfrm>
            <a:off x="6186488" y="1885950"/>
            <a:ext cx="2421731" cy="628650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Unique Paths, Min Path Sum</a:t>
            </a:r>
            <a:endParaRPr lang="en-US" sz="942" dirty="0"/>
          </a:p>
        </p:txBody>
      </p:sp>
      <p:sp>
        <p:nvSpPr>
          <p:cNvPr id="34" name="Text 31"/>
          <p:cNvSpPr/>
          <p:nvPr/>
        </p:nvSpPr>
        <p:spPr>
          <a:xfrm>
            <a:off x="535781" y="2514600"/>
            <a:ext cx="1614488" cy="59293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Knapsack</a:t>
            </a:r>
            <a:endParaRPr lang="en-US" sz="987" dirty="0"/>
          </a:p>
        </p:txBody>
      </p:sp>
      <p:sp>
        <p:nvSpPr>
          <p:cNvPr id="35" name="Shape 32"/>
          <p:cNvSpPr/>
          <p:nvPr/>
        </p:nvSpPr>
        <p:spPr>
          <a:xfrm>
            <a:off x="2293144" y="2718197"/>
            <a:ext cx="760195" cy="2178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6" name="Text 33"/>
          <p:cNvSpPr/>
          <p:nvPr/>
        </p:nvSpPr>
        <p:spPr>
          <a:xfrm>
            <a:off x="2293144" y="2718197"/>
            <a:ext cx="760195" cy="217884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dp[i][w]</a:t>
            </a:r>
            <a:endParaRPr lang="en-US" sz="885" dirty="0"/>
          </a:p>
        </p:txBody>
      </p:sp>
      <p:sp>
        <p:nvSpPr>
          <p:cNvPr id="37" name="Text 34"/>
          <p:cNvSpPr/>
          <p:nvPr/>
        </p:nvSpPr>
        <p:spPr>
          <a:xfrm>
            <a:off x="3053339" y="2719983"/>
            <a:ext cx="121979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(item i, weight w)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975622" y="2514600"/>
            <a:ext cx="1210866" cy="59293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O(N*W)</a:t>
            </a:r>
            <a:endParaRPr lang="en-US" sz="987" dirty="0"/>
          </a:p>
        </p:txBody>
      </p:sp>
      <p:sp>
        <p:nvSpPr>
          <p:cNvPr id="39" name="Text 36"/>
          <p:cNvSpPr/>
          <p:nvPr/>
        </p:nvSpPr>
        <p:spPr>
          <a:xfrm>
            <a:off x="6186488" y="2514600"/>
            <a:ext cx="2421731" cy="59293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0/1 Knapsack, Subset Sum, Partition Equal Subset</a:t>
            </a:r>
            <a:endParaRPr lang="en-US" sz="942" dirty="0"/>
          </a:p>
        </p:txBody>
      </p:sp>
      <p:sp>
        <p:nvSpPr>
          <p:cNvPr id="40" name="Shape 37"/>
          <p:cNvSpPr/>
          <p:nvPr/>
        </p:nvSpPr>
        <p:spPr>
          <a:xfrm>
            <a:off x="535781" y="3107531"/>
            <a:ext cx="8072438" cy="592931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1" name="Text 38"/>
          <p:cNvSpPr/>
          <p:nvPr/>
        </p:nvSpPr>
        <p:spPr>
          <a:xfrm>
            <a:off x="535781" y="3107531"/>
            <a:ext cx="1614488" cy="59293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String Alignment</a:t>
            </a:r>
            <a:endParaRPr lang="en-US" sz="987" dirty="0"/>
          </a:p>
        </p:txBody>
      </p:sp>
      <p:sp>
        <p:nvSpPr>
          <p:cNvPr id="42" name="Shape 39"/>
          <p:cNvSpPr/>
          <p:nvPr/>
        </p:nvSpPr>
        <p:spPr>
          <a:xfrm>
            <a:off x="2293144" y="3311128"/>
            <a:ext cx="760195" cy="2178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3" name="Text 40"/>
          <p:cNvSpPr/>
          <p:nvPr/>
        </p:nvSpPr>
        <p:spPr>
          <a:xfrm>
            <a:off x="2293144" y="3311128"/>
            <a:ext cx="760195" cy="217884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dp[i][j]</a:t>
            </a:r>
            <a:endParaRPr lang="en-US" sz="885" dirty="0"/>
          </a:p>
        </p:txBody>
      </p:sp>
      <p:sp>
        <p:nvSpPr>
          <p:cNvPr id="44" name="Text 41"/>
          <p:cNvSpPr/>
          <p:nvPr/>
        </p:nvSpPr>
        <p:spPr>
          <a:xfrm>
            <a:off x="3053339" y="3312914"/>
            <a:ext cx="116621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(suffix/prefix i, j)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4975622" y="3107531"/>
            <a:ext cx="1210866" cy="59293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O(N*M)</a:t>
            </a:r>
            <a:endParaRPr lang="en-US" sz="987" dirty="0"/>
          </a:p>
        </p:txBody>
      </p:sp>
      <p:sp>
        <p:nvSpPr>
          <p:cNvPr id="46" name="Text 43"/>
          <p:cNvSpPr/>
          <p:nvPr/>
        </p:nvSpPr>
        <p:spPr>
          <a:xfrm>
            <a:off x="6186488" y="3107531"/>
            <a:ext cx="2421731" cy="59293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LCS, Edit Distance, Interleaving String</a:t>
            </a:r>
            <a:endParaRPr lang="en-US" sz="942" dirty="0"/>
          </a:p>
        </p:txBody>
      </p:sp>
      <p:sp>
        <p:nvSpPr>
          <p:cNvPr id="47" name="Text 44"/>
          <p:cNvSpPr/>
          <p:nvPr/>
        </p:nvSpPr>
        <p:spPr>
          <a:xfrm>
            <a:off x="535781" y="3700463"/>
            <a:ext cx="1614488" cy="628650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Unbounded Knapsack</a:t>
            </a:r>
            <a:endParaRPr lang="en-US" sz="987" dirty="0"/>
          </a:p>
        </p:txBody>
      </p:sp>
      <p:sp>
        <p:nvSpPr>
          <p:cNvPr id="48" name="Shape 45"/>
          <p:cNvSpPr/>
          <p:nvPr/>
        </p:nvSpPr>
        <p:spPr>
          <a:xfrm>
            <a:off x="2293144" y="3921919"/>
            <a:ext cx="528721" cy="2178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9" name="Text 46"/>
          <p:cNvSpPr/>
          <p:nvPr/>
        </p:nvSpPr>
        <p:spPr>
          <a:xfrm>
            <a:off x="2293144" y="3921919"/>
            <a:ext cx="528721" cy="217884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dp[w]</a:t>
            </a:r>
            <a:endParaRPr lang="en-US" sz="885" dirty="0"/>
          </a:p>
        </p:txBody>
      </p:sp>
      <p:sp>
        <p:nvSpPr>
          <p:cNvPr id="50" name="Text 47"/>
          <p:cNvSpPr/>
          <p:nvPr/>
        </p:nvSpPr>
        <p:spPr>
          <a:xfrm>
            <a:off x="2821865" y="3923705"/>
            <a:ext cx="91082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(capacity w)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4975622" y="3700463"/>
            <a:ext cx="1210866" cy="628650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O(N*W) or O(W)</a:t>
            </a:r>
            <a:endParaRPr lang="en-US" sz="987" dirty="0"/>
          </a:p>
        </p:txBody>
      </p:sp>
      <p:sp>
        <p:nvSpPr>
          <p:cNvPr id="52" name="Text 49"/>
          <p:cNvSpPr/>
          <p:nvPr/>
        </p:nvSpPr>
        <p:spPr>
          <a:xfrm>
            <a:off x="6186488" y="3700463"/>
            <a:ext cx="2421731" cy="628650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Coin Change, Rod Cutting</a:t>
            </a:r>
            <a:endParaRPr lang="en-US" sz="942" dirty="0"/>
          </a:p>
        </p:txBody>
      </p:sp>
      <p:sp>
        <p:nvSpPr>
          <p:cNvPr id="53" name="Shape 50"/>
          <p:cNvSpPr/>
          <p:nvPr/>
        </p:nvSpPr>
        <p:spPr>
          <a:xfrm>
            <a:off x="535781" y="4329113"/>
            <a:ext cx="8072438" cy="60364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4" name="Text 51"/>
          <p:cNvSpPr/>
          <p:nvPr/>
        </p:nvSpPr>
        <p:spPr>
          <a:xfrm>
            <a:off x="535781" y="4329113"/>
            <a:ext cx="1614488" cy="603647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Interval / MCM</a:t>
            </a:r>
            <a:endParaRPr lang="en-US" sz="987" dirty="0"/>
          </a:p>
        </p:txBody>
      </p:sp>
      <p:sp>
        <p:nvSpPr>
          <p:cNvPr id="55" name="Shape 52"/>
          <p:cNvSpPr/>
          <p:nvPr/>
        </p:nvSpPr>
        <p:spPr>
          <a:xfrm>
            <a:off x="2293144" y="4532709"/>
            <a:ext cx="760195" cy="2178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6" name="Text 53"/>
          <p:cNvSpPr/>
          <p:nvPr/>
        </p:nvSpPr>
        <p:spPr>
          <a:xfrm>
            <a:off x="2293144" y="4532709"/>
            <a:ext cx="760195" cy="217884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dp[i][j]</a:t>
            </a:r>
            <a:endParaRPr lang="en-US" sz="885" dirty="0"/>
          </a:p>
        </p:txBody>
      </p:sp>
      <p:sp>
        <p:nvSpPr>
          <p:cNvPr id="57" name="Text 54"/>
          <p:cNvSpPr/>
          <p:nvPr/>
        </p:nvSpPr>
        <p:spPr>
          <a:xfrm>
            <a:off x="3053339" y="4534495"/>
            <a:ext cx="87689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(range i to j)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5118497" y="4558299"/>
            <a:ext cx="25723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</a:t>
            </a:r>
            <a:endParaRPr lang="en-US" sz="987" dirty="0"/>
          </a:p>
        </p:txBody>
      </p:sp>
      <p:sp>
        <p:nvSpPr>
          <p:cNvPr id="59" name="Text 56"/>
          <p:cNvSpPr/>
          <p:nvPr/>
        </p:nvSpPr>
        <p:spPr>
          <a:xfrm>
            <a:off x="5375728" y="4530337"/>
            <a:ext cx="71465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18" b="1" baseline="30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18" dirty="0"/>
          </a:p>
        </p:txBody>
      </p:sp>
      <p:sp>
        <p:nvSpPr>
          <p:cNvPr id="60" name="Text 57"/>
          <p:cNvSpPr/>
          <p:nvPr/>
        </p:nvSpPr>
        <p:spPr>
          <a:xfrm>
            <a:off x="5447193" y="4558299"/>
            <a:ext cx="8575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87" dirty="0"/>
          </a:p>
        </p:txBody>
      </p:sp>
      <p:sp>
        <p:nvSpPr>
          <p:cNvPr id="61" name="Text 58"/>
          <p:cNvSpPr/>
          <p:nvPr/>
        </p:nvSpPr>
        <p:spPr>
          <a:xfrm>
            <a:off x="6186488" y="4329113"/>
            <a:ext cx="2421731" cy="603647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Matrix Chain Mult, Burst Balloons, Palindromic Subseq</a:t>
            </a:r>
            <a:endParaRPr lang="en-US" sz="942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4786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07231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Bonus Problem — Longest Palindromic Subsequence</a:t>
            </a:r>
            <a:endParaRPr lang="en-US" sz="2016" dirty="0"/>
          </a:p>
        </p:txBody>
      </p:sp>
      <p:sp>
        <p:nvSpPr>
          <p:cNvPr id="6" name="Shape 3"/>
          <p:cNvSpPr/>
          <p:nvPr/>
        </p:nvSpPr>
        <p:spPr>
          <a:xfrm>
            <a:off x="535781" y="807244"/>
            <a:ext cx="1326952" cy="27860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7" name="Text 4"/>
          <p:cNvSpPr/>
          <p:nvPr/>
        </p:nvSpPr>
        <p:spPr>
          <a:xfrm>
            <a:off x="535781" y="807244"/>
            <a:ext cx="1326952" cy="278606"/>
          </a:xfrm>
          <a:prstGeom prst="rect">
            <a:avLst/>
          </a:prstGeom>
          <a:noFill/>
          <a:ln/>
        </p:spPr>
        <p:txBody>
          <a:bodyPr wrap="square" lIns="127508" tIns="68072" rIns="1275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565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Pattern: Range DP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07231" y="1212652"/>
            <a:ext cx="60364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Problem: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310878" y="1212652"/>
            <a:ext cx="101441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Given a string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325291" y="1201936"/>
            <a:ext cx="857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411016" y="1212652"/>
            <a:ext cx="156626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find the length of the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07231" y="1426964"/>
            <a:ext cx="238065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longest palindromic subsequence.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35781" y="1725216"/>
            <a:ext cx="3911203" cy="2000808"/>
          </a:xfrm>
          <a:prstGeom prst="rect">
            <a:avLst/>
          </a:prstGeom>
          <a:solidFill>
            <a:srgbClr val="F5F5F5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4369" y="1853803"/>
            <a:ext cx="365402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RECURRENCE RELATION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664369" y="2143125"/>
            <a:ext cx="3654028" cy="144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dp[i][j] = LPS length in s[i...j]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s[i] == s[j]: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+ dp[i+1][j-1]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max(dp[i+1][j], dp[i][j-1])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4697016" y="807244"/>
            <a:ext cx="3911203" cy="103584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7" name="Text 14"/>
          <p:cNvSpPr/>
          <p:nvPr/>
        </p:nvSpPr>
        <p:spPr>
          <a:xfrm>
            <a:off x="4697016" y="807244"/>
            <a:ext cx="3911203" cy="1035844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longestPalinSubseq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s) {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(s);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dp[n][n];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memset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(dp,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(dp));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n-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i--) { dp[i][i] =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i+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 n; j++)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(s[i] == s[j]) dp[i][j] = dp[i+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][j-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+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dp[i][j] = dp[i+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][j] &gt; dp[i][j-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? dp[i+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][j] : dp[i]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[j-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} }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][n-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}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4697016" y="1943100"/>
            <a:ext cx="391120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Example: "bbbab"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4697016" y="2196703"/>
            <a:ext cx="357188" cy="357188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97016" y="2196703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93" dirty="0"/>
          </a:p>
        </p:txBody>
      </p:sp>
      <p:sp>
        <p:nvSpPr>
          <p:cNvPr id="21" name="Shape 18"/>
          <p:cNvSpPr/>
          <p:nvPr/>
        </p:nvSpPr>
        <p:spPr>
          <a:xfrm>
            <a:off x="5089922" y="2196703"/>
            <a:ext cx="357188" cy="357188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89922" y="2196703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93" dirty="0"/>
          </a:p>
        </p:txBody>
      </p:sp>
      <p:sp>
        <p:nvSpPr>
          <p:cNvPr id="23" name="Shape 20"/>
          <p:cNvSpPr/>
          <p:nvPr/>
        </p:nvSpPr>
        <p:spPr>
          <a:xfrm>
            <a:off x="5482828" y="2196703"/>
            <a:ext cx="357188" cy="357188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2828" y="2196703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5875734" y="2196703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93" dirty="0"/>
          </a:p>
        </p:txBody>
      </p:sp>
      <p:sp>
        <p:nvSpPr>
          <p:cNvPr id="26" name="Shape 23"/>
          <p:cNvSpPr/>
          <p:nvPr/>
        </p:nvSpPr>
        <p:spPr>
          <a:xfrm>
            <a:off x="6268641" y="2196703"/>
            <a:ext cx="357188" cy="357188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8641" y="2196703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93" dirty="0"/>
          </a:p>
        </p:txBody>
      </p:sp>
      <p:sp>
        <p:nvSpPr>
          <p:cNvPr id="28" name="Text 25"/>
          <p:cNvSpPr/>
          <p:nvPr/>
        </p:nvSpPr>
        <p:spPr>
          <a:xfrm>
            <a:off x="4697016" y="2661047"/>
            <a:ext cx="391120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LPS: "bbbb" (Length 4)</a:t>
            </a:r>
            <a:endParaRPr lang="en-US" sz="942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4786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07231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Bonus Problem — Subset Sum</a:t>
            </a:r>
            <a:endParaRPr lang="en-US" sz="2016" dirty="0"/>
          </a:p>
        </p:txBody>
      </p:sp>
      <p:sp>
        <p:nvSpPr>
          <p:cNvPr id="6" name="Shape 3"/>
          <p:cNvSpPr/>
          <p:nvPr/>
        </p:nvSpPr>
        <p:spPr>
          <a:xfrm>
            <a:off x="535781" y="807244"/>
            <a:ext cx="2344936" cy="27860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" name="Text 4"/>
          <p:cNvSpPr/>
          <p:nvPr/>
        </p:nvSpPr>
        <p:spPr>
          <a:xfrm>
            <a:off x="535781" y="807244"/>
            <a:ext cx="2344936" cy="278606"/>
          </a:xfrm>
          <a:prstGeom prst="rect">
            <a:avLst/>
          </a:prstGeom>
          <a:noFill/>
          <a:ln/>
        </p:spPr>
        <p:txBody>
          <a:bodyPr wrap="square" lIns="127508" tIns="68072" rIns="1275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E7D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Pattern: 0/1 Knapsack (Feasibility)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07231" y="1209080"/>
            <a:ext cx="60364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Problem: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310878" y="1209080"/>
            <a:ext cx="296644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Given a set of non-negative integers and 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07231" y="1426964"/>
            <a:ext cx="40183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09067" y="1416248"/>
            <a:ext cx="2571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sum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366242" y="1426964"/>
            <a:ext cx="297001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determine if there is a subset of the given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07231" y="1644848"/>
            <a:ext cx="194131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 with sum equal to given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648545" y="1634133"/>
            <a:ext cx="2571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905720" y="1644848"/>
            <a:ext cx="357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35781" y="1943100"/>
            <a:ext cx="3911203" cy="2206526"/>
          </a:xfrm>
          <a:prstGeom prst="rect">
            <a:avLst/>
          </a:prstGeom>
          <a:solidFill>
            <a:srgbClr val="F5F5F5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4369" y="2071688"/>
            <a:ext cx="365402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RECURRENCE RELATION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664369" y="2361009"/>
            <a:ext cx="3654028" cy="16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dp[i][j] = True if sum 'j' is possible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first 'i' items.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dp[i][j] =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dp[i-1][j]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Exclude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dp[i-1][j - nums[i]]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Include</a:t>
            </a:r>
            <a:pPr algn="l" indent="0" marL="0">
              <a:lnSpc>
                <a:spcPts val="1600"/>
              </a:lnSpc>
              <a:buNone/>
            </a:pP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4697016" y="807244"/>
            <a:ext cx="3911203" cy="103584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0" name="Text 17"/>
          <p:cNvSpPr/>
          <p:nvPr/>
        </p:nvSpPr>
        <p:spPr>
          <a:xfrm>
            <a:off x="4697016" y="807244"/>
            <a:ext cx="3911203" cy="1035844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&lt;stdbool.h&gt;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isSubsetSum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nums[],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n,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target) {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dp[j] = true if sum j is possible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dp[target +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memset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(dp,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(dp)); dp[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Sum 0 always possible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n;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i++)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target; j &gt;= nums[i]; j--)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(dp[j -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nums[i]]) dp[j] =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dp[target]; }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4697016" y="1943100"/>
            <a:ext cx="391120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Example: Target = 9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4697016" y="2196703"/>
            <a:ext cx="314353" cy="31968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5082806" y="2196703"/>
            <a:ext cx="400078" cy="31968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987" dirty="0"/>
          </a:p>
        </p:txBody>
      </p:sp>
      <p:sp>
        <p:nvSpPr>
          <p:cNvPr id="24" name="Shape 21"/>
          <p:cNvSpPr/>
          <p:nvPr/>
        </p:nvSpPr>
        <p:spPr>
          <a:xfrm>
            <a:off x="5554321" y="2196703"/>
            <a:ext cx="314353" cy="319683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54321" y="2196703"/>
            <a:ext cx="314353" cy="31968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5925824" y="2196703"/>
            <a:ext cx="400078" cy="31968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87" dirty="0"/>
          </a:p>
        </p:txBody>
      </p:sp>
      <p:sp>
        <p:nvSpPr>
          <p:cNvPr id="27" name="Shape 24"/>
          <p:cNvSpPr/>
          <p:nvPr/>
        </p:nvSpPr>
        <p:spPr>
          <a:xfrm>
            <a:off x="6397340" y="2196703"/>
            <a:ext cx="314353" cy="319683"/>
          </a:xfrm>
          <a:prstGeom prst="rect">
            <a:avLst/>
          </a:prstGeom>
          <a:solidFill>
            <a:srgbClr val="FF4500"/>
          </a:solidFill>
          <a:ln w="9144">
            <a:solidFill>
              <a:srgbClr val="FF45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97340" y="2196703"/>
            <a:ext cx="314353" cy="31968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87" dirty="0"/>
          </a:p>
        </p:txBody>
      </p:sp>
      <p:sp>
        <p:nvSpPr>
          <p:cNvPr id="29" name="Text 26"/>
          <p:cNvSpPr/>
          <p:nvPr/>
        </p:nvSpPr>
        <p:spPr>
          <a:xfrm>
            <a:off x="6768843" y="2196703"/>
            <a:ext cx="314353" cy="31968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87" dirty="0"/>
          </a:p>
        </p:txBody>
      </p:sp>
      <p:sp>
        <p:nvSpPr>
          <p:cNvPr id="30" name="Text 27"/>
          <p:cNvSpPr/>
          <p:nvPr/>
        </p:nvSpPr>
        <p:spPr>
          <a:xfrm>
            <a:off x="4697016" y="2623542"/>
            <a:ext cx="391120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Result: 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True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(4 + 5 = 9)</a:t>
            </a:r>
            <a:endParaRPr lang="en-US" sz="942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149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57238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Common Mistakes &amp; Pitfalls</a:t>
            </a:r>
            <a:endParaRPr lang="en-US" sz="2226" dirty="0"/>
          </a:p>
        </p:txBody>
      </p:sp>
      <p:sp>
        <p:nvSpPr>
          <p:cNvPr id="6" name="Shape 3"/>
          <p:cNvSpPr/>
          <p:nvPr/>
        </p:nvSpPr>
        <p:spPr>
          <a:xfrm>
            <a:off x="535781" y="900113"/>
            <a:ext cx="3893344" cy="2007394"/>
          </a:xfrm>
          <a:prstGeom prst="rect">
            <a:avLst/>
          </a:prstGeom>
          <a:solidFill>
            <a:srgbClr val="FFF0E6"/>
          </a:solidFill>
          <a:ln/>
        </p:spPr>
      </p:sp>
      <p:sp>
        <p:nvSpPr>
          <p:cNvPr id="7" name="Shape 4"/>
          <p:cNvSpPr/>
          <p:nvPr/>
        </p:nvSpPr>
        <p:spPr>
          <a:xfrm>
            <a:off x="535781" y="900113"/>
            <a:ext cx="42863" cy="2007394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8" name="Shape 5"/>
          <p:cNvSpPr/>
          <p:nvPr/>
        </p:nvSpPr>
        <p:spPr>
          <a:xfrm>
            <a:off x="678656" y="1042988"/>
            <a:ext cx="357188" cy="35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FF450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135856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1112639"/>
            <a:ext cx="143589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GREEDY TRAP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678656" y="1578769"/>
            <a:ext cx="360759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Assuming a locally optimal choice leads to a global optimum. DP is needed when future consequences matter.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678656" y="2264569"/>
            <a:ext cx="3607594" cy="500063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Coin Change with coins [1, 3, 4].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Target 6: Greedy takes 4+1+1 (3 coins).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Optimal is 3+3 (2 coins).</a:t>
            </a:r>
            <a:endParaRPr lang="en-US" sz="834" dirty="0"/>
          </a:p>
        </p:txBody>
      </p:sp>
      <p:sp>
        <p:nvSpPr>
          <p:cNvPr id="13" name="Shape 9"/>
          <p:cNvSpPr/>
          <p:nvPr/>
        </p:nvSpPr>
        <p:spPr>
          <a:xfrm>
            <a:off x="4714875" y="900113"/>
            <a:ext cx="3893344" cy="200739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Shape 10"/>
          <p:cNvSpPr/>
          <p:nvPr/>
        </p:nvSpPr>
        <p:spPr>
          <a:xfrm>
            <a:off x="4714875" y="900113"/>
            <a:ext cx="42863" cy="200739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Shape 11"/>
          <p:cNvSpPr/>
          <p:nvPr/>
        </p:nvSpPr>
        <p:spPr>
          <a:xfrm>
            <a:off x="4857750" y="1042988"/>
            <a:ext cx="357188" cy="35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619" y="1135856"/>
            <a:ext cx="171450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22094" y="1112639"/>
            <a:ext cx="154840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INCOMPLETE STATE</a:t>
            </a:r>
            <a:endParaRPr lang="en-US" sz="1193" dirty="0"/>
          </a:p>
        </p:txBody>
      </p:sp>
      <p:sp>
        <p:nvSpPr>
          <p:cNvPr id="18" name="Text 13"/>
          <p:cNvSpPr/>
          <p:nvPr/>
        </p:nvSpPr>
        <p:spPr>
          <a:xfrm>
            <a:off x="4857750" y="1578769"/>
            <a:ext cx="36075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Failing to include all changing parameters in the DP state key. If it affects the future, it must be in the state.</a:t>
            </a:r>
            <a:endParaRPr lang="en-US" sz="942" dirty="0"/>
          </a:p>
        </p:txBody>
      </p:sp>
      <p:sp>
        <p:nvSpPr>
          <p:cNvPr id="19" name="Text 14"/>
          <p:cNvSpPr/>
          <p:nvPr/>
        </p:nvSpPr>
        <p:spPr>
          <a:xfrm>
            <a:off x="4857750" y="2071688"/>
            <a:ext cx="3607594" cy="500063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"Buy/Sell Stock" problems.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Wrong: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dp[day]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Right: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dp[day][has_stock]</a:t>
            </a:r>
            <a:endParaRPr lang="en-US" sz="834" dirty="0"/>
          </a:p>
        </p:txBody>
      </p:sp>
      <p:sp>
        <p:nvSpPr>
          <p:cNvPr id="20" name="Shape 15"/>
          <p:cNvSpPr/>
          <p:nvPr/>
        </p:nvSpPr>
        <p:spPr>
          <a:xfrm>
            <a:off x="535781" y="3193256"/>
            <a:ext cx="3893344" cy="200739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6"/>
          <p:cNvSpPr/>
          <p:nvPr/>
        </p:nvSpPr>
        <p:spPr>
          <a:xfrm>
            <a:off x="535781" y="3193256"/>
            <a:ext cx="42863" cy="200739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Shape 17"/>
          <p:cNvSpPr/>
          <p:nvPr/>
        </p:nvSpPr>
        <p:spPr>
          <a:xfrm>
            <a:off x="678656" y="3336131"/>
            <a:ext cx="357188" cy="35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429000"/>
            <a:ext cx="171450" cy="171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3405783"/>
            <a:ext cx="165735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OFF-BY-ONE ERRORS</a:t>
            </a:r>
            <a:endParaRPr lang="en-US" sz="1193" dirty="0"/>
          </a:p>
        </p:txBody>
      </p:sp>
      <p:sp>
        <p:nvSpPr>
          <p:cNvPr id="25" name="Text 19"/>
          <p:cNvSpPr/>
          <p:nvPr/>
        </p:nvSpPr>
        <p:spPr>
          <a:xfrm>
            <a:off x="678656" y="3886200"/>
            <a:ext cx="356115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Incorrect table sizing or loop boundaries. DP tables often</a:t>
            </a:r>
            <a:endParaRPr lang="en-US" sz="942" dirty="0"/>
          </a:p>
        </p:txBody>
      </p:sp>
      <p:sp>
        <p:nvSpPr>
          <p:cNvPr id="26" name="Text 20"/>
          <p:cNvSpPr/>
          <p:nvPr/>
        </p:nvSpPr>
        <p:spPr>
          <a:xfrm>
            <a:off x="678656" y="4082653"/>
            <a:ext cx="62507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need size</a:t>
            </a:r>
            <a:endParaRPr lang="en-US" sz="942" dirty="0"/>
          </a:p>
        </p:txBody>
      </p:sp>
      <p:sp>
        <p:nvSpPr>
          <p:cNvPr id="27" name="Text 21"/>
          <p:cNvSpPr/>
          <p:nvPr/>
        </p:nvSpPr>
        <p:spPr>
          <a:xfrm>
            <a:off x="1303734" y="4073723"/>
            <a:ext cx="2314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N+1</a:t>
            </a:r>
            <a:endParaRPr lang="en-US" sz="942" dirty="0"/>
          </a:p>
        </p:txBody>
      </p:sp>
      <p:sp>
        <p:nvSpPr>
          <p:cNvPr id="28" name="Text 22"/>
          <p:cNvSpPr/>
          <p:nvPr/>
        </p:nvSpPr>
        <p:spPr>
          <a:xfrm>
            <a:off x="1535209" y="4082653"/>
            <a:ext cx="20859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handle base cases (like empty</a:t>
            </a:r>
            <a:endParaRPr lang="en-US" sz="942" dirty="0"/>
          </a:p>
        </p:txBody>
      </p:sp>
      <p:sp>
        <p:nvSpPr>
          <p:cNvPr id="29" name="Text 23"/>
          <p:cNvSpPr/>
          <p:nvPr/>
        </p:nvSpPr>
        <p:spPr>
          <a:xfrm>
            <a:off x="678656" y="4275534"/>
            <a:ext cx="81081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string/array).</a:t>
            </a:r>
            <a:endParaRPr lang="en-US" sz="942" dirty="0"/>
          </a:p>
        </p:txBody>
      </p:sp>
      <p:sp>
        <p:nvSpPr>
          <p:cNvPr id="30" name="Text 24"/>
          <p:cNvSpPr/>
          <p:nvPr/>
        </p:nvSpPr>
        <p:spPr>
          <a:xfrm>
            <a:off x="678656" y="4675584"/>
            <a:ext cx="322378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Edit Distance for strings of len M, N.</a:t>
            </a:r>
            <a:endParaRPr lang="en-US" sz="834" dirty="0"/>
          </a:p>
        </p:txBody>
      </p:sp>
      <p:sp>
        <p:nvSpPr>
          <p:cNvPr id="31" name="Text 25"/>
          <p:cNvSpPr/>
          <p:nvPr/>
        </p:nvSpPr>
        <p:spPr>
          <a:xfrm>
            <a:off x="678656" y="4832747"/>
            <a:ext cx="11660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needs size</a:t>
            </a:r>
            <a:endParaRPr lang="en-US" sz="834" dirty="0"/>
          </a:p>
        </p:txBody>
      </p:sp>
      <p:sp>
        <p:nvSpPr>
          <p:cNvPr id="32" name="Text 26"/>
          <p:cNvSpPr/>
          <p:nvPr/>
        </p:nvSpPr>
        <p:spPr>
          <a:xfrm>
            <a:off x="1844706" y="4804172"/>
            <a:ext cx="8915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(M+1) x (N+1)</a:t>
            </a:r>
            <a:endParaRPr lang="en-US" sz="834" dirty="0"/>
          </a:p>
        </p:txBody>
      </p:sp>
      <p:sp>
        <p:nvSpPr>
          <p:cNvPr id="33" name="Text 27"/>
          <p:cNvSpPr/>
          <p:nvPr/>
        </p:nvSpPr>
        <p:spPr>
          <a:xfrm>
            <a:off x="2736252" y="4832747"/>
            <a:ext cx="685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34" dirty="0"/>
          </a:p>
        </p:txBody>
      </p:sp>
      <p:sp>
        <p:nvSpPr>
          <p:cNvPr id="34" name="Shape 28"/>
          <p:cNvSpPr/>
          <p:nvPr/>
        </p:nvSpPr>
        <p:spPr>
          <a:xfrm>
            <a:off x="4714875" y="3193256"/>
            <a:ext cx="3893344" cy="2007394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5" name="Shape 29"/>
          <p:cNvSpPr/>
          <p:nvPr/>
        </p:nvSpPr>
        <p:spPr>
          <a:xfrm>
            <a:off x="4714875" y="3193256"/>
            <a:ext cx="42863" cy="200739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6" name="Shape 30"/>
          <p:cNvSpPr/>
          <p:nvPr/>
        </p:nvSpPr>
        <p:spPr>
          <a:xfrm>
            <a:off x="4857750" y="3336131"/>
            <a:ext cx="357188" cy="35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1565C0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0619" y="3429000"/>
            <a:ext cx="171450" cy="17145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322094" y="3405783"/>
            <a:ext cx="149661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565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WRONG DIRECTION</a:t>
            </a:r>
            <a:endParaRPr lang="en-US" sz="1193" dirty="0"/>
          </a:p>
        </p:txBody>
      </p:sp>
      <p:sp>
        <p:nvSpPr>
          <p:cNvPr id="39" name="Text 32"/>
          <p:cNvSpPr/>
          <p:nvPr/>
        </p:nvSpPr>
        <p:spPr>
          <a:xfrm>
            <a:off x="4857750" y="3871913"/>
            <a:ext cx="36075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Iterating in the wrong order. You cannot calculate a state if its dependencies haven't been computed yet.</a:t>
            </a:r>
            <a:endParaRPr lang="en-US" sz="942" dirty="0"/>
          </a:p>
        </p:txBody>
      </p:sp>
      <p:sp>
        <p:nvSpPr>
          <p:cNvPr id="40" name="Text 33"/>
          <p:cNvSpPr/>
          <p:nvPr/>
        </p:nvSpPr>
        <p:spPr>
          <a:xfrm>
            <a:off x="4857750" y="4364831"/>
            <a:ext cx="3607594" cy="500063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0/1 Knapsack with 1D array.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Must iterate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backwards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 avoid reusing items.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Iterating forwards turns it into Unbounded 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Knapsack.</a:t>
            </a:r>
            <a:endParaRPr lang="en-US" sz="834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4894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5781" y="757238"/>
            <a:ext cx="8072438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" y="271463"/>
            <a:ext cx="8072438" cy="528638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DP Mastery Roadmap</a:t>
            </a:r>
            <a:endParaRPr lang="en-US" sz="2226" dirty="0"/>
          </a:p>
        </p:txBody>
      </p:sp>
      <p:sp>
        <p:nvSpPr>
          <p:cNvPr id="6" name="Shape 3"/>
          <p:cNvSpPr/>
          <p:nvPr/>
        </p:nvSpPr>
        <p:spPr>
          <a:xfrm>
            <a:off x="707231" y="1007269"/>
            <a:ext cx="28575" cy="431303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Shape 4"/>
          <p:cNvSpPr/>
          <p:nvPr/>
        </p:nvSpPr>
        <p:spPr>
          <a:xfrm>
            <a:off x="728663" y="1127820"/>
            <a:ext cx="357188" cy="357188"/>
          </a:xfrm>
          <a:prstGeom prst="ellipse">
            <a:avLst/>
          </a:prstGeom>
          <a:solidFill>
            <a:srgbClr val="FFFFFF"/>
          </a:solidFill>
          <a:ln w="27432">
            <a:solidFill>
              <a:srgbClr val="FF45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8663" y="1127820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1300163" y="900113"/>
            <a:ext cx="4947047" cy="812602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0" name="Shape 7"/>
          <p:cNvSpPr/>
          <p:nvPr/>
        </p:nvSpPr>
        <p:spPr>
          <a:xfrm>
            <a:off x="1300163" y="900113"/>
            <a:ext cx="28575" cy="81260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8"/>
          <p:cNvSpPr/>
          <p:nvPr/>
        </p:nvSpPr>
        <p:spPr>
          <a:xfrm>
            <a:off x="1478756" y="1007269"/>
            <a:ext cx="4561284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RECURSION &amp; MEMOIZATION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1478756" y="1244798"/>
            <a:ext cx="456128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Understand the call stack, overlapping subproblems, and caching results.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1478756" y="1459111"/>
            <a:ext cx="456128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Fibonacci, Climbing Stairs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728663" y="2083296"/>
            <a:ext cx="357188" cy="357188"/>
          </a:xfrm>
          <a:prstGeom prst="ellipse">
            <a:avLst/>
          </a:prstGeom>
          <a:solidFill>
            <a:srgbClr val="FFFFFF"/>
          </a:solidFill>
          <a:ln w="27432">
            <a:solidFill>
              <a:srgbClr val="FF45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8663" y="2083296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987" dirty="0"/>
          </a:p>
        </p:txBody>
      </p:sp>
      <p:sp>
        <p:nvSpPr>
          <p:cNvPr id="16" name="Shape 13"/>
          <p:cNvSpPr/>
          <p:nvPr/>
        </p:nvSpPr>
        <p:spPr>
          <a:xfrm>
            <a:off x="1300163" y="1855589"/>
            <a:ext cx="3534370" cy="812602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7" name="Shape 14"/>
          <p:cNvSpPr/>
          <p:nvPr/>
        </p:nvSpPr>
        <p:spPr>
          <a:xfrm>
            <a:off x="1300163" y="1855589"/>
            <a:ext cx="28575" cy="81260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Text 15"/>
          <p:cNvSpPr/>
          <p:nvPr/>
        </p:nvSpPr>
        <p:spPr>
          <a:xfrm>
            <a:off x="1478756" y="1962745"/>
            <a:ext cx="314860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1D DYNAMIC PROGRAMMING</a:t>
            </a:r>
            <a:endParaRPr lang="en-US" sz="1090" dirty="0"/>
          </a:p>
        </p:txBody>
      </p:sp>
      <p:sp>
        <p:nvSpPr>
          <p:cNvPr id="19" name="Text 16"/>
          <p:cNvSpPr/>
          <p:nvPr/>
        </p:nvSpPr>
        <p:spPr>
          <a:xfrm>
            <a:off x="1478756" y="2200275"/>
            <a:ext cx="314860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Linear dependencies. Solving for i based on i-1, i-2.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1478756" y="2414588"/>
            <a:ext cx="314860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House Robber, Maximum Subarray</a:t>
            </a:r>
            <a:endParaRPr lang="en-US" sz="834" dirty="0"/>
          </a:p>
        </p:txBody>
      </p:sp>
      <p:sp>
        <p:nvSpPr>
          <p:cNvPr id="21" name="Shape 18"/>
          <p:cNvSpPr/>
          <p:nvPr/>
        </p:nvSpPr>
        <p:spPr>
          <a:xfrm>
            <a:off x="728663" y="3038773"/>
            <a:ext cx="357188" cy="357188"/>
          </a:xfrm>
          <a:prstGeom prst="ellipse">
            <a:avLst/>
          </a:prstGeom>
          <a:solidFill>
            <a:srgbClr val="FFFFFF"/>
          </a:solidFill>
          <a:ln w="27432">
            <a:solidFill>
              <a:srgbClr val="FF45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8663" y="3038773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987" dirty="0"/>
          </a:p>
        </p:txBody>
      </p:sp>
      <p:sp>
        <p:nvSpPr>
          <p:cNvPr id="23" name="Shape 20"/>
          <p:cNvSpPr/>
          <p:nvPr/>
        </p:nvSpPr>
        <p:spPr>
          <a:xfrm>
            <a:off x="1300163" y="2811066"/>
            <a:ext cx="3203972" cy="812602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4" name="Shape 21"/>
          <p:cNvSpPr/>
          <p:nvPr/>
        </p:nvSpPr>
        <p:spPr>
          <a:xfrm>
            <a:off x="1300163" y="2811066"/>
            <a:ext cx="28575" cy="81260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2"/>
          <p:cNvSpPr/>
          <p:nvPr/>
        </p:nvSpPr>
        <p:spPr>
          <a:xfrm>
            <a:off x="1478756" y="2918222"/>
            <a:ext cx="2818209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2D GRIDS &amp; MATRICES</a:t>
            </a:r>
            <a:endParaRPr lang="en-US" sz="1090" dirty="0"/>
          </a:p>
        </p:txBody>
      </p:sp>
      <p:sp>
        <p:nvSpPr>
          <p:cNvPr id="26" name="Text 23"/>
          <p:cNvSpPr/>
          <p:nvPr/>
        </p:nvSpPr>
        <p:spPr>
          <a:xfrm>
            <a:off x="1478756" y="3155752"/>
            <a:ext cx="281820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Spatial dependencies. Moving through a grid.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1478756" y="3370064"/>
            <a:ext cx="281820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Unique Paths, Min Path Sum</a:t>
            </a:r>
            <a:endParaRPr lang="en-US" sz="834" dirty="0"/>
          </a:p>
        </p:txBody>
      </p:sp>
      <p:sp>
        <p:nvSpPr>
          <p:cNvPr id="28" name="Shape 25"/>
          <p:cNvSpPr/>
          <p:nvPr/>
        </p:nvSpPr>
        <p:spPr>
          <a:xfrm>
            <a:off x="728663" y="3994249"/>
            <a:ext cx="357188" cy="357188"/>
          </a:xfrm>
          <a:prstGeom prst="ellipse">
            <a:avLst/>
          </a:prstGeom>
          <a:solidFill>
            <a:srgbClr val="FFFFFF"/>
          </a:solidFill>
          <a:ln w="27432">
            <a:solidFill>
              <a:srgbClr val="FF45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8663" y="3994249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987" dirty="0"/>
          </a:p>
        </p:txBody>
      </p:sp>
      <p:sp>
        <p:nvSpPr>
          <p:cNvPr id="30" name="Shape 27"/>
          <p:cNvSpPr/>
          <p:nvPr/>
        </p:nvSpPr>
        <p:spPr>
          <a:xfrm>
            <a:off x="1300163" y="3766542"/>
            <a:ext cx="3982641" cy="812602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1" name="Shape 28"/>
          <p:cNvSpPr/>
          <p:nvPr/>
        </p:nvSpPr>
        <p:spPr>
          <a:xfrm>
            <a:off x="1300163" y="3766542"/>
            <a:ext cx="28575" cy="81260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2" name="Text 29"/>
          <p:cNvSpPr/>
          <p:nvPr/>
        </p:nvSpPr>
        <p:spPr>
          <a:xfrm>
            <a:off x="1478756" y="3873698"/>
            <a:ext cx="359687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CLASSIC MULTI-VARIABLE PATTERNS</a:t>
            </a:r>
            <a:endParaRPr lang="en-US" sz="1090" dirty="0"/>
          </a:p>
        </p:txBody>
      </p:sp>
      <p:sp>
        <p:nvSpPr>
          <p:cNvPr id="33" name="Text 30"/>
          <p:cNvSpPr/>
          <p:nvPr/>
        </p:nvSpPr>
        <p:spPr>
          <a:xfrm>
            <a:off x="1478756" y="4111228"/>
            <a:ext cx="359687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strings, knapsack weights, complex state transitions.</a:t>
            </a:r>
            <a:endParaRPr lang="en-US" sz="942" dirty="0"/>
          </a:p>
        </p:txBody>
      </p:sp>
      <p:sp>
        <p:nvSpPr>
          <p:cNvPr id="34" name="Text 31"/>
          <p:cNvSpPr/>
          <p:nvPr/>
        </p:nvSpPr>
        <p:spPr>
          <a:xfrm>
            <a:off x="1478756" y="4325541"/>
            <a:ext cx="35968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LCS, Edit Distance, 0/1 Knapsack, LIS</a:t>
            </a:r>
            <a:endParaRPr lang="en-US" sz="834" dirty="0"/>
          </a:p>
        </p:txBody>
      </p:sp>
      <p:sp>
        <p:nvSpPr>
          <p:cNvPr id="35" name="Shape 32"/>
          <p:cNvSpPr/>
          <p:nvPr/>
        </p:nvSpPr>
        <p:spPr>
          <a:xfrm>
            <a:off x="728663" y="4949726"/>
            <a:ext cx="357188" cy="357188"/>
          </a:xfrm>
          <a:prstGeom prst="ellipse">
            <a:avLst/>
          </a:prstGeom>
          <a:solidFill>
            <a:srgbClr val="FF4500"/>
          </a:solidFill>
          <a:ln w="27432">
            <a:solidFill>
              <a:srgbClr val="FF45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28663" y="4949726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987" dirty="0"/>
          </a:p>
        </p:txBody>
      </p:sp>
      <p:sp>
        <p:nvSpPr>
          <p:cNvPr id="37" name="Shape 34"/>
          <p:cNvSpPr/>
          <p:nvPr/>
        </p:nvSpPr>
        <p:spPr>
          <a:xfrm>
            <a:off x="1300163" y="4722019"/>
            <a:ext cx="2975372" cy="812602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8" name="Shape 35"/>
          <p:cNvSpPr/>
          <p:nvPr/>
        </p:nvSpPr>
        <p:spPr>
          <a:xfrm>
            <a:off x="1300163" y="4722019"/>
            <a:ext cx="28575" cy="812602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39" name="Text 36"/>
          <p:cNvSpPr/>
          <p:nvPr/>
        </p:nvSpPr>
        <p:spPr>
          <a:xfrm>
            <a:off x="1478756" y="4829175"/>
            <a:ext cx="2589609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ADVANCED DP</a:t>
            </a:r>
            <a:endParaRPr lang="en-US" sz="1090" dirty="0"/>
          </a:p>
        </p:txBody>
      </p:sp>
      <p:sp>
        <p:nvSpPr>
          <p:cNvPr id="40" name="Text 37"/>
          <p:cNvSpPr/>
          <p:nvPr/>
        </p:nvSpPr>
        <p:spPr>
          <a:xfrm>
            <a:off x="1478756" y="5066705"/>
            <a:ext cx="258960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Intervals, Bitmasks, Trees, and Probability.</a:t>
            </a:r>
            <a:endParaRPr lang="en-US" sz="942" dirty="0"/>
          </a:p>
        </p:txBody>
      </p:sp>
      <p:sp>
        <p:nvSpPr>
          <p:cNvPr id="41" name="Text 38"/>
          <p:cNvSpPr/>
          <p:nvPr/>
        </p:nvSpPr>
        <p:spPr>
          <a:xfrm>
            <a:off x="1478756" y="5281017"/>
            <a:ext cx="258960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Matrix Chain Mult, TSP (Bitmask), Tree Diameter</a:t>
            </a:r>
            <a:endParaRPr lang="en-US" sz="834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906" y="185738"/>
            <a:ext cx="8358188" cy="3893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92906" y="539353"/>
            <a:ext cx="8358188" cy="35719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392906" y="185738"/>
            <a:ext cx="8358188" cy="389334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5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Summary — Key Takeaways</a:t>
            </a:r>
            <a:endParaRPr lang="en-US" sz="1705" dirty="0"/>
          </a:p>
        </p:txBody>
      </p:sp>
      <p:sp>
        <p:nvSpPr>
          <p:cNvPr id="6" name="Text 3"/>
          <p:cNvSpPr/>
          <p:nvPr/>
        </p:nvSpPr>
        <p:spPr>
          <a:xfrm>
            <a:off x="392906" y="596503"/>
            <a:ext cx="4054078" cy="16430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PHILOSOPHY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392906" y="846534"/>
            <a:ext cx="200025" cy="200025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84" y="900113"/>
            <a:ext cx="92869" cy="928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4369" y="868859"/>
            <a:ext cx="9661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 Recursion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392906" y="1075134"/>
            <a:ext cx="4054078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DP is essentially recursion with caching. We trade space for time to avoid re-calculating the same subproblems.</a:t>
            </a:r>
            <a:endParaRPr lang="en-US" sz="727" dirty="0"/>
          </a:p>
        </p:txBody>
      </p:sp>
      <p:sp>
        <p:nvSpPr>
          <p:cNvPr id="11" name="Shape 7"/>
          <p:cNvSpPr/>
          <p:nvPr/>
        </p:nvSpPr>
        <p:spPr>
          <a:xfrm>
            <a:off x="392906" y="1416583"/>
            <a:ext cx="200025" cy="200025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34" y="1470161"/>
            <a:ext cx="105370" cy="928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4369" y="1438908"/>
            <a:ext cx="6125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Pillars</a:t>
            </a:r>
            <a:endParaRPr lang="en-US" sz="834" dirty="0"/>
          </a:p>
        </p:txBody>
      </p:sp>
      <p:sp>
        <p:nvSpPr>
          <p:cNvPr id="14" name="Text 9"/>
          <p:cNvSpPr/>
          <p:nvPr/>
        </p:nvSpPr>
        <p:spPr>
          <a:xfrm>
            <a:off x="392906" y="1645183"/>
            <a:ext cx="4054078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Overlapping Subproblems: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The same small problems appear repeatedly.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Optimal Substructure: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Optimal solution can be built from optimal sub-solutions.</a:t>
            </a:r>
            <a:endParaRPr lang="en-US" sz="727" dirty="0"/>
          </a:p>
        </p:txBody>
      </p:sp>
      <p:sp>
        <p:nvSpPr>
          <p:cNvPr id="15" name="Shape 10"/>
          <p:cNvSpPr/>
          <p:nvPr/>
        </p:nvSpPr>
        <p:spPr>
          <a:xfrm>
            <a:off x="392906" y="1986632"/>
            <a:ext cx="200025" cy="200025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34" y="2040210"/>
            <a:ext cx="105370" cy="9286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4369" y="2008956"/>
            <a:ext cx="6518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Impact</a:t>
            </a:r>
            <a:endParaRPr lang="en-US" sz="834" dirty="0"/>
          </a:p>
        </p:txBody>
      </p:sp>
      <p:sp>
        <p:nvSpPr>
          <p:cNvPr id="18" name="Text 12"/>
          <p:cNvSpPr/>
          <p:nvPr/>
        </p:nvSpPr>
        <p:spPr>
          <a:xfrm>
            <a:off x="392906" y="2236050"/>
            <a:ext cx="20288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Reduces complexity from Exponential O(2</a:t>
            </a:r>
            <a:endParaRPr lang="en-US" sz="727" dirty="0"/>
          </a:p>
        </p:txBody>
      </p:sp>
      <p:sp>
        <p:nvSpPr>
          <p:cNvPr id="19" name="Text 13"/>
          <p:cNvSpPr/>
          <p:nvPr/>
        </p:nvSpPr>
        <p:spPr>
          <a:xfrm>
            <a:off x="2421731" y="2217018"/>
            <a:ext cx="5536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4" baseline="3000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</a:t>
            </a:r>
            <a:endParaRPr lang="en-US" sz="604" dirty="0"/>
          </a:p>
        </p:txBody>
      </p:sp>
      <p:sp>
        <p:nvSpPr>
          <p:cNvPr id="20" name="Text 14"/>
          <p:cNvSpPr/>
          <p:nvPr/>
        </p:nvSpPr>
        <p:spPr>
          <a:xfrm>
            <a:off x="2477095" y="2236050"/>
            <a:ext cx="9126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 to Polynomial O(N</a:t>
            </a:r>
            <a:endParaRPr lang="en-US" sz="727" dirty="0"/>
          </a:p>
        </p:txBody>
      </p:sp>
      <p:sp>
        <p:nvSpPr>
          <p:cNvPr id="21" name="Text 15"/>
          <p:cNvSpPr/>
          <p:nvPr/>
        </p:nvSpPr>
        <p:spPr>
          <a:xfrm>
            <a:off x="3389709" y="2217018"/>
            <a:ext cx="4464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4" baseline="30000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</a:t>
            </a:r>
            <a:endParaRPr lang="en-US" sz="604" dirty="0"/>
          </a:p>
        </p:txBody>
      </p:sp>
      <p:sp>
        <p:nvSpPr>
          <p:cNvPr id="22" name="Text 16"/>
          <p:cNvSpPr/>
          <p:nvPr/>
        </p:nvSpPr>
        <p:spPr>
          <a:xfrm>
            <a:off x="3434358" y="2236050"/>
            <a:ext cx="6250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).</a:t>
            </a:r>
            <a:endParaRPr lang="en-US" sz="727" dirty="0"/>
          </a:p>
        </p:txBody>
      </p:sp>
      <p:sp>
        <p:nvSpPr>
          <p:cNvPr id="23" name="Text 17"/>
          <p:cNvSpPr/>
          <p:nvPr/>
        </p:nvSpPr>
        <p:spPr>
          <a:xfrm>
            <a:off x="4697016" y="596503"/>
            <a:ext cx="4054078" cy="16430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METHODOLOGY</a:t>
            </a:r>
            <a:endParaRPr lang="en-US" sz="885" dirty="0"/>
          </a:p>
        </p:txBody>
      </p:sp>
      <p:sp>
        <p:nvSpPr>
          <p:cNvPr id="24" name="Shape 18"/>
          <p:cNvSpPr/>
          <p:nvPr/>
        </p:nvSpPr>
        <p:spPr>
          <a:xfrm>
            <a:off x="4697016" y="846534"/>
            <a:ext cx="200025" cy="200025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4343" y="900113"/>
            <a:ext cx="105370" cy="9286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68478" y="868859"/>
            <a:ext cx="10751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4-Step Recipe</a:t>
            </a:r>
            <a:endParaRPr lang="en-US" sz="834" dirty="0"/>
          </a:p>
        </p:txBody>
      </p:sp>
      <p:sp>
        <p:nvSpPr>
          <p:cNvPr id="27" name="Text 20"/>
          <p:cNvSpPr/>
          <p:nvPr/>
        </p:nvSpPr>
        <p:spPr>
          <a:xfrm>
            <a:off x="4697016" y="1075134"/>
            <a:ext cx="4054078" cy="54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Define the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(dp[i]).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2. Find the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Recurrence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(Transitions).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3. Identify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Base Cases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4. Determine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Order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of computation.</a:t>
            </a:r>
            <a:endParaRPr lang="en-US" sz="727" dirty="0"/>
          </a:p>
        </p:txBody>
      </p:sp>
      <p:sp>
        <p:nvSpPr>
          <p:cNvPr id="28" name="Shape 21"/>
          <p:cNvSpPr/>
          <p:nvPr/>
        </p:nvSpPr>
        <p:spPr>
          <a:xfrm>
            <a:off x="4697016" y="1686595"/>
            <a:ext cx="200025" cy="200025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0594" y="1740173"/>
            <a:ext cx="92869" cy="92869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68478" y="1708919"/>
            <a:ext cx="9608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Approaches</a:t>
            </a:r>
            <a:endParaRPr lang="en-US" sz="834" dirty="0"/>
          </a:p>
        </p:txBody>
      </p:sp>
      <p:sp>
        <p:nvSpPr>
          <p:cNvPr id="31" name="Text 23"/>
          <p:cNvSpPr/>
          <p:nvPr/>
        </p:nvSpPr>
        <p:spPr>
          <a:xfrm>
            <a:off x="4697016" y="1915195"/>
            <a:ext cx="4054078" cy="40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Memoization (Top-Down):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Easy to write, good for sparse states.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Tabulation (Bottom-Up):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Iterative, no recursion overhead, enables space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optimization.</a:t>
            </a:r>
            <a:endParaRPr lang="en-US" sz="727" dirty="0"/>
          </a:p>
        </p:txBody>
      </p:sp>
      <p:sp>
        <p:nvSpPr>
          <p:cNvPr id="32" name="Shape 24"/>
          <p:cNvSpPr/>
          <p:nvPr/>
        </p:nvSpPr>
        <p:spPr>
          <a:xfrm>
            <a:off x="4697016" y="2405937"/>
            <a:ext cx="4054078" cy="527912"/>
          </a:xfrm>
          <a:prstGeom prst="rect">
            <a:avLst/>
          </a:prstGeom>
          <a:solidFill>
            <a:srgbClr val="FFF3E0"/>
          </a:solidFill>
          <a:ln w="18288">
            <a:solidFill>
              <a:srgbClr val="FF4500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4811316" y="2491662"/>
            <a:ext cx="3825478" cy="327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E651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"Those who cannot remember the past are condemned to repeat it."</a:t>
            </a:r>
            <a:endParaRPr lang="en-US" sz="834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00025"/>
            <a:ext cx="8286750" cy="4143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571500"/>
            <a:ext cx="8286750" cy="4286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00025"/>
            <a:ext cx="8286750" cy="414338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Practice Problems &amp; Resources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5" y="628650"/>
            <a:ext cx="4869163" cy="200025"/>
          </a:xfrm>
          <a:prstGeom prst="rect">
            <a:avLst/>
          </a:prstGeom>
          <a:noFill/>
          <a:ln/>
        </p:spPr>
        <p:txBody>
          <a:bodyPr wrap="none" lIns="0" tIns="0" rIns="0" bIns="25527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LEVEL 1: WARM-UP (1D DP)</a:t>
            </a:r>
            <a:endParaRPr lang="en-US" sz="88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911721"/>
            <a:ext cx="107156" cy="857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2931" y="885825"/>
            <a:ext cx="77688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Climbing Stairs</a:t>
            </a:r>
            <a:endParaRPr lang="en-US" sz="78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199" y="911721"/>
            <a:ext cx="107156" cy="857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077505" y="885825"/>
            <a:ext cx="12573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Min Cost Climbing Stairs</a:t>
            </a:r>
            <a:endParaRPr lang="en-US" sz="78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084957"/>
            <a:ext cx="107156" cy="857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2931" y="1059061"/>
            <a:ext cx="7286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House Robber</a:t>
            </a:r>
            <a:endParaRPr lang="en-US" sz="78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3199" y="1084957"/>
            <a:ext cx="107156" cy="857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077505" y="1059061"/>
            <a:ext cx="99655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Maximum Subarray</a:t>
            </a:r>
            <a:endParaRPr lang="en-US" sz="780" dirty="0"/>
          </a:p>
        </p:txBody>
      </p:sp>
      <p:sp>
        <p:nvSpPr>
          <p:cNvPr id="15" name="Text 8"/>
          <p:cNvSpPr/>
          <p:nvPr/>
        </p:nvSpPr>
        <p:spPr>
          <a:xfrm>
            <a:off x="428625" y="1253728"/>
            <a:ext cx="4869163" cy="200025"/>
          </a:xfrm>
          <a:prstGeom prst="rect">
            <a:avLst/>
          </a:prstGeom>
          <a:noFill/>
          <a:ln/>
        </p:spPr>
        <p:txBody>
          <a:bodyPr wrap="none" lIns="0" tIns="0" rIns="0" bIns="25527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LEVEL 2: CORE PATTERNS (2D / GRID)</a:t>
            </a:r>
            <a:endParaRPr lang="en-US" sz="885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1536799"/>
            <a:ext cx="107156" cy="8572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92931" y="1510903"/>
            <a:ext cx="91082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Unique Paths I &amp; II</a:t>
            </a:r>
            <a:endParaRPr lang="en-US" sz="78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199" y="1536799"/>
            <a:ext cx="107156" cy="8572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077505" y="1510903"/>
            <a:ext cx="98048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Minimum Path Sum</a:t>
            </a:r>
            <a:endParaRPr lang="en-US" sz="78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625" y="1710035"/>
            <a:ext cx="107156" cy="8572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92931" y="1684139"/>
            <a:ext cx="65365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Coin Change</a:t>
            </a:r>
            <a:endParaRPr lang="en-US" sz="78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3199" y="1710035"/>
            <a:ext cx="107156" cy="85725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3077505" y="1684139"/>
            <a:ext cx="165556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Longest Common Subsequence</a:t>
            </a:r>
            <a:endParaRPr lang="en-US" sz="78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625" y="1883271"/>
            <a:ext cx="107156" cy="8572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92931" y="1857375"/>
            <a:ext cx="174486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Longest Increasing Subsequence</a:t>
            </a:r>
            <a:endParaRPr lang="en-US" sz="78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13199" y="1883271"/>
            <a:ext cx="107156" cy="85725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3077505" y="1857375"/>
            <a:ext cx="69473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Edit Distance</a:t>
            </a:r>
            <a:endParaRPr lang="en-US" sz="780" dirty="0"/>
          </a:p>
        </p:txBody>
      </p:sp>
      <p:sp>
        <p:nvSpPr>
          <p:cNvPr id="28" name="Text 15"/>
          <p:cNvSpPr/>
          <p:nvPr/>
        </p:nvSpPr>
        <p:spPr>
          <a:xfrm>
            <a:off x="428625" y="2052042"/>
            <a:ext cx="4869163" cy="200025"/>
          </a:xfrm>
          <a:prstGeom prst="rect">
            <a:avLst/>
          </a:prstGeom>
          <a:noFill/>
          <a:ln/>
        </p:spPr>
        <p:txBody>
          <a:bodyPr wrap="none" lIns="0" tIns="0" rIns="0" bIns="25527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LEVEL 3: CHALLENGE</a:t>
            </a:r>
            <a:endParaRPr lang="en-US" sz="885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8625" y="2335113"/>
            <a:ext cx="107156" cy="8572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92931" y="2309217"/>
            <a:ext cx="75188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Burst Balloons</a:t>
            </a:r>
            <a:endParaRPr lang="en-US" sz="780" dirty="0"/>
          </a:p>
        </p:txBody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3199" y="2335113"/>
            <a:ext cx="107156" cy="85725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3077505" y="2309217"/>
            <a:ext cx="151626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Regular Expression Matching</a:t>
            </a:r>
            <a:endParaRPr lang="en-US" sz="780" dirty="0"/>
          </a:p>
        </p:txBody>
      </p:sp>
      <p:pic>
        <p:nvPicPr>
          <p:cNvPr id="3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8625" y="2508349"/>
            <a:ext cx="107156" cy="85725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592931" y="2482453"/>
            <a:ext cx="129837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Palindrome Partitioning II</a:t>
            </a:r>
            <a:endParaRPr lang="en-US" sz="780" dirty="0"/>
          </a:p>
        </p:txBody>
      </p:sp>
      <p:pic>
        <p:nvPicPr>
          <p:cNvPr id="3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13199" y="2508349"/>
            <a:ext cx="107156" cy="85725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3077505" y="2482453"/>
            <a:ext cx="155198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Best Time to Buy/Sell Stock IV</a:t>
            </a:r>
            <a:endParaRPr lang="en-US" sz="780" dirty="0"/>
          </a:p>
        </p:txBody>
      </p:sp>
      <p:sp>
        <p:nvSpPr>
          <p:cNvPr id="37" name="Shape 20"/>
          <p:cNvSpPr/>
          <p:nvPr/>
        </p:nvSpPr>
        <p:spPr>
          <a:xfrm>
            <a:off x="5469238" y="628650"/>
            <a:ext cx="3246137" cy="228276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8" name="Shape 21"/>
          <p:cNvSpPr/>
          <p:nvPr/>
        </p:nvSpPr>
        <p:spPr>
          <a:xfrm>
            <a:off x="5469238" y="628650"/>
            <a:ext cx="7144" cy="2282763"/>
          </a:xfrm>
          <a:prstGeom prst="rect">
            <a:avLst/>
          </a:prstGeom>
          <a:solidFill>
            <a:srgbClr val="E0E0E0"/>
          </a:solidFill>
          <a:ln/>
        </p:spPr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83538" y="759916"/>
            <a:ext cx="107156" cy="121444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5747845" y="742950"/>
            <a:ext cx="3607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Books</a:t>
            </a:r>
            <a:endParaRPr lang="en-US" sz="834" dirty="0"/>
          </a:p>
        </p:txBody>
      </p:sp>
      <p:sp>
        <p:nvSpPr>
          <p:cNvPr id="41" name="Text 23"/>
          <p:cNvSpPr/>
          <p:nvPr/>
        </p:nvSpPr>
        <p:spPr>
          <a:xfrm>
            <a:off x="5583538" y="941189"/>
            <a:ext cx="12573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CLRS (Intro to Algorithms)</a:t>
            </a:r>
            <a:endParaRPr lang="en-US" sz="683" dirty="0"/>
          </a:p>
        </p:txBody>
      </p:sp>
      <p:sp>
        <p:nvSpPr>
          <p:cNvPr id="42" name="Text 24"/>
          <p:cNvSpPr/>
          <p:nvPr/>
        </p:nvSpPr>
        <p:spPr>
          <a:xfrm>
            <a:off x="5583538" y="1067991"/>
            <a:ext cx="163949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Chapter 15: Dynamic Programming</a:t>
            </a:r>
            <a:endParaRPr lang="en-US" sz="727" dirty="0"/>
          </a:p>
        </p:txBody>
      </p:sp>
      <p:sp>
        <p:nvSpPr>
          <p:cNvPr id="43" name="Text 25"/>
          <p:cNvSpPr/>
          <p:nvPr/>
        </p:nvSpPr>
        <p:spPr>
          <a:xfrm>
            <a:off x="5583538" y="1237655"/>
            <a:ext cx="9840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Grokking Algorithms</a:t>
            </a:r>
            <a:endParaRPr lang="en-US" sz="683" dirty="0"/>
          </a:p>
        </p:txBody>
      </p:sp>
      <p:sp>
        <p:nvSpPr>
          <p:cNvPr id="44" name="Text 26"/>
          <p:cNvSpPr/>
          <p:nvPr/>
        </p:nvSpPr>
        <p:spPr>
          <a:xfrm>
            <a:off x="5583538" y="1364456"/>
            <a:ext cx="15984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Chapter 9: Dynamic Programming</a:t>
            </a:r>
            <a:endParaRPr lang="en-US" sz="727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83538" y="1608237"/>
            <a:ext cx="121444" cy="121444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5762132" y="1591270"/>
            <a:ext cx="5661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Platforms</a:t>
            </a:r>
            <a:endParaRPr lang="en-US" sz="834" dirty="0"/>
          </a:p>
        </p:txBody>
      </p:sp>
      <p:sp>
        <p:nvSpPr>
          <p:cNvPr id="47" name="Text 28"/>
          <p:cNvSpPr/>
          <p:nvPr/>
        </p:nvSpPr>
        <p:spPr>
          <a:xfrm>
            <a:off x="5583538" y="1789509"/>
            <a:ext cx="301753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LeetCode (Tag: Dynamic Programming)</a:t>
            </a:r>
            <a:endParaRPr lang="en-US" sz="727" dirty="0"/>
          </a:p>
        </p:txBody>
      </p:sp>
      <p:sp>
        <p:nvSpPr>
          <p:cNvPr id="48" name="Text 29"/>
          <p:cNvSpPr/>
          <p:nvPr/>
        </p:nvSpPr>
        <p:spPr>
          <a:xfrm>
            <a:off x="5583538" y="1959173"/>
            <a:ext cx="301753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HackerRank (Algorithms / DP)</a:t>
            </a:r>
            <a:endParaRPr lang="en-US" sz="727" dirty="0"/>
          </a:p>
        </p:txBody>
      </p:sp>
      <p:sp>
        <p:nvSpPr>
          <p:cNvPr id="49" name="Text 30"/>
          <p:cNvSpPr/>
          <p:nvPr/>
        </p:nvSpPr>
        <p:spPr>
          <a:xfrm>
            <a:off x="5583538" y="2128838"/>
            <a:ext cx="301753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VisualAlgo.net</a:t>
            </a:r>
            <a:endParaRPr lang="en-US" sz="727" dirty="0"/>
          </a:p>
        </p:txBody>
      </p:sp>
      <p:sp>
        <p:nvSpPr>
          <p:cNvPr id="50" name="Shape 31"/>
          <p:cNvSpPr/>
          <p:nvPr/>
        </p:nvSpPr>
        <p:spPr>
          <a:xfrm>
            <a:off x="5583538" y="2355652"/>
            <a:ext cx="3017537" cy="441461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51" name="Shape 32"/>
          <p:cNvSpPr/>
          <p:nvPr/>
        </p:nvSpPr>
        <p:spPr>
          <a:xfrm>
            <a:off x="5583538" y="2355652"/>
            <a:ext cx="28575" cy="441461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2" name="Text 33"/>
          <p:cNvSpPr/>
          <p:nvPr/>
        </p:nvSpPr>
        <p:spPr>
          <a:xfrm>
            <a:off x="5669263" y="2441377"/>
            <a:ext cx="2846087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E651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 Tip: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E651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Don't just memorize solutions. Draw the recursion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E651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tree and the DP table for every problem you solve.</a:t>
            </a:r>
            <a:endParaRPr lang="en-US" sz="683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9830" y="1124248"/>
            <a:ext cx="3284339" cy="8751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4974" b="1" spc="-2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4974" dirty="0"/>
          </a:p>
        </p:txBody>
      </p:sp>
      <p:sp>
        <p:nvSpPr>
          <p:cNvPr id="4" name="Text 1"/>
          <p:cNvSpPr/>
          <p:nvPr/>
        </p:nvSpPr>
        <p:spPr>
          <a:xfrm>
            <a:off x="1184970" y="2142232"/>
            <a:ext cx="677406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24" dirty="0">
                <a:solidFill>
                  <a:srgbClr val="5555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Dynamic Programming: From Recursion to Optimization</a:t>
            </a:r>
            <a:endParaRPr lang="en-US" sz="1924" dirty="0"/>
          </a:p>
        </p:txBody>
      </p:sp>
      <p:sp>
        <p:nvSpPr>
          <p:cNvPr id="5" name="Shape 2"/>
          <p:cNvSpPr/>
          <p:nvPr/>
        </p:nvSpPr>
        <p:spPr>
          <a:xfrm>
            <a:off x="3370957" y="3385245"/>
            <a:ext cx="2402086" cy="634008"/>
          </a:xfrm>
          <a:prstGeom prst="rect">
            <a:avLst/>
          </a:prstGeom>
          <a:solidFill>
            <a:srgbClr val="000000">
              <a:alpha val="0"/>
            </a:srgbClr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370957" y="3385245"/>
            <a:ext cx="2402086" cy="634008"/>
          </a:xfrm>
          <a:prstGeom prst="rect">
            <a:avLst/>
          </a:prstGeom>
          <a:noFill/>
          <a:ln/>
        </p:spPr>
        <p:txBody>
          <a:bodyPr wrap="square" lIns="510286" tIns="170053" rIns="510286" bIns="170053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QUESTIONS?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3377208" y="4693444"/>
            <a:ext cx="238958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999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CS 301 — Algorithms &amp; Data Structures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2026-02-27T20:23:47Z</dcterms:created>
  <dcterms:modified xsi:type="dcterms:W3CDTF">2026-02-27T20:23:47Z</dcterms:modified>
</cp:coreProperties>
</file>